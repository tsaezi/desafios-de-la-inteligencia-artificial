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59" r:id="rId3"/>
    <p:sldId id="258" r:id="rId4"/>
    <p:sldId id="262" r:id="rId5"/>
    <p:sldId id="263" r:id="rId6"/>
    <p:sldId id="284" r:id="rId7"/>
    <p:sldId id="285" r:id="rId8"/>
    <p:sldId id="287" r:id="rId9"/>
    <p:sldId id="286" r:id="rId10"/>
    <p:sldId id="288" r:id="rId11"/>
    <p:sldId id="289" r:id="rId12"/>
    <p:sldId id="290" r:id="rId13"/>
    <p:sldId id="291" r:id="rId14"/>
    <p:sldId id="292" r:id="rId15"/>
    <p:sldId id="293" r:id="rId16"/>
    <p:sldId id="294" r:id="rId17"/>
    <p:sldId id="296" r:id="rId18"/>
    <p:sldId id="297" r:id="rId19"/>
    <p:sldId id="298" r:id="rId20"/>
    <p:sldId id="295" r:id="rId21"/>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4" y="84"/>
      </p:cViewPr>
      <p:guideLst/>
    </p:cSldViewPr>
  </p:slideViewPr>
  <p:notesTextViewPr>
    <p:cViewPr>
      <p:scale>
        <a:sx n="1" d="1"/>
        <a:sy n="1" d="1"/>
      </p:scale>
      <p:origin x="0" y="0"/>
    </p:cViewPr>
  </p:notesTextViewPr>
  <p:notesViewPr>
    <p:cSldViewPr snapToGrid="0">
      <p:cViewPr varScale="1">
        <p:scale>
          <a:sx n="55" d="100"/>
          <a:sy n="55" d="100"/>
        </p:scale>
        <p:origin x="273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1CEA98-BACF-499A-B8FD-DDF253C22A5A}" type="doc">
      <dgm:prSet loTypeId="urn:microsoft.com/office/officeart/2005/8/layout/process4" loCatId="process" qsTypeId="urn:microsoft.com/office/officeart/2005/8/quickstyle/simple2" qsCatId="simple" csTypeId="urn:microsoft.com/office/officeart/2005/8/colors/accent3_2" csCatId="accent3" phldr="1"/>
      <dgm:spPr/>
      <dgm:t>
        <a:bodyPr/>
        <a:lstStyle/>
        <a:p>
          <a:endParaRPr lang="en-US"/>
        </a:p>
      </dgm:t>
    </dgm:pt>
    <dgm:pt modelId="{B99A28A9-23E5-418C-84F6-0C9AABAF2AEB}">
      <dgm:prSet/>
      <dgm:spPr/>
      <dgm:t>
        <a:bodyPr/>
        <a:lstStyle/>
        <a:p>
          <a:r>
            <a:rPr lang="es-CL"/>
            <a:t>Inconscientemente los humanos efectuamos una serie de pasos, procedimientos o acciones que nos permiten alcanzar un resultado o resolver un problema.</a:t>
          </a:r>
          <a:endParaRPr lang="en-US"/>
        </a:p>
      </dgm:t>
    </dgm:pt>
    <dgm:pt modelId="{DD9DF10B-9E55-4281-9C77-E3F65DB3C379}" type="parTrans" cxnId="{84A41DC1-9D16-448E-BED9-BE7356C8BC62}">
      <dgm:prSet/>
      <dgm:spPr/>
      <dgm:t>
        <a:bodyPr/>
        <a:lstStyle/>
        <a:p>
          <a:endParaRPr lang="en-US"/>
        </a:p>
      </dgm:t>
    </dgm:pt>
    <dgm:pt modelId="{F2675107-9EA8-4185-BF9D-6EE5F713DD47}" type="sibTrans" cxnId="{84A41DC1-9D16-448E-BED9-BE7356C8BC62}">
      <dgm:prSet/>
      <dgm:spPr/>
      <dgm:t>
        <a:bodyPr/>
        <a:lstStyle/>
        <a:p>
          <a:endParaRPr lang="en-US"/>
        </a:p>
      </dgm:t>
    </dgm:pt>
    <dgm:pt modelId="{5E3FC7D1-1354-4E7E-9AE1-2C46156E6B3A}">
      <dgm:prSet/>
      <dgm:spPr/>
      <dgm:t>
        <a:bodyPr/>
        <a:lstStyle/>
        <a:p>
          <a:r>
            <a:rPr lang="es-CL"/>
            <a:t>Ejemplos:</a:t>
          </a:r>
          <a:endParaRPr lang="en-US"/>
        </a:p>
      </dgm:t>
    </dgm:pt>
    <dgm:pt modelId="{6B90CF09-30F5-43AC-A6AB-FC7D7B5A6D20}" type="parTrans" cxnId="{D62DBD18-AF23-4050-B4FE-CF18655B813A}">
      <dgm:prSet/>
      <dgm:spPr/>
      <dgm:t>
        <a:bodyPr/>
        <a:lstStyle/>
        <a:p>
          <a:endParaRPr lang="en-US"/>
        </a:p>
      </dgm:t>
    </dgm:pt>
    <dgm:pt modelId="{9AAEB9B0-825A-4374-BD3E-7032F76897B0}" type="sibTrans" cxnId="{D62DBD18-AF23-4050-B4FE-CF18655B813A}">
      <dgm:prSet/>
      <dgm:spPr/>
      <dgm:t>
        <a:bodyPr/>
        <a:lstStyle/>
        <a:p>
          <a:endParaRPr lang="en-US"/>
        </a:p>
      </dgm:t>
    </dgm:pt>
    <dgm:pt modelId="{BCFE0BA2-C63B-4C3F-9852-247D5A61E552}">
      <dgm:prSet/>
      <dgm:spPr/>
      <dgm:t>
        <a:bodyPr/>
        <a:lstStyle/>
        <a:p>
          <a:r>
            <a:rPr lang="es-CL"/>
            <a:t>Decidimos tomar un baño</a:t>
          </a:r>
          <a:endParaRPr lang="en-US"/>
        </a:p>
      </dgm:t>
    </dgm:pt>
    <dgm:pt modelId="{72F0B144-E925-4B25-A94A-6BC56BE2D216}" type="parTrans" cxnId="{23DC79DC-0887-481A-A6DA-D58F222941D0}">
      <dgm:prSet/>
      <dgm:spPr/>
      <dgm:t>
        <a:bodyPr/>
        <a:lstStyle/>
        <a:p>
          <a:endParaRPr lang="en-US"/>
        </a:p>
      </dgm:t>
    </dgm:pt>
    <dgm:pt modelId="{3BCE4806-6B93-4FB1-9E1D-81946256C367}" type="sibTrans" cxnId="{23DC79DC-0887-481A-A6DA-D58F222941D0}">
      <dgm:prSet/>
      <dgm:spPr/>
      <dgm:t>
        <a:bodyPr/>
        <a:lstStyle/>
        <a:p>
          <a:endParaRPr lang="en-US"/>
        </a:p>
      </dgm:t>
    </dgm:pt>
    <dgm:pt modelId="{A97A632B-92BD-4996-979D-724C4C1E89A8}">
      <dgm:prSet/>
      <dgm:spPr/>
      <dgm:t>
        <a:bodyPr/>
        <a:lstStyle/>
        <a:p>
          <a:r>
            <a:rPr lang="es-CL"/>
            <a:t>Tomar desayuno</a:t>
          </a:r>
          <a:endParaRPr lang="en-US"/>
        </a:p>
      </dgm:t>
    </dgm:pt>
    <dgm:pt modelId="{8393285A-A41A-4C7A-A568-AFD714CF79CB}" type="parTrans" cxnId="{C4A87AE4-A691-4B26-9EF8-D6F315B60702}">
      <dgm:prSet/>
      <dgm:spPr/>
      <dgm:t>
        <a:bodyPr/>
        <a:lstStyle/>
        <a:p>
          <a:endParaRPr lang="en-US"/>
        </a:p>
      </dgm:t>
    </dgm:pt>
    <dgm:pt modelId="{4F820E64-984F-4256-BEEB-A35332E1296F}" type="sibTrans" cxnId="{C4A87AE4-A691-4B26-9EF8-D6F315B60702}">
      <dgm:prSet/>
      <dgm:spPr/>
      <dgm:t>
        <a:bodyPr/>
        <a:lstStyle/>
        <a:p>
          <a:endParaRPr lang="en-US"/>
        </a:p>
      </dgm:t>
    </dgm:pt>
    <dgm:pt modelId="{DE53EB09-EC97-479D-8B6A-56FACCCA1442}" type="pres">
      <dgm:prSet presAssocID="{D71CEA98-BACF-499A-B8FD-DDF253C22A5A}" presName="Name0" presStyleCnt="0">
        <dgm:presLayoutVars>
          <dgm:dir/>
          <dgm:animLvl val="lvl"/>
          <dgm:resizeHandles val="exact"/>
        </dgm:presLayoutVars>
      </dgm:prSet>
      <dgm:spPr/>
    </dgm:pt>
    <dgm:pt modelId="{73280A3E-E22A-45B6-ADE1-FC3455E40DDB}" type="pres">
      <dgm:prSet presAssocID="{5E3FC7D1-1354-4E7E-9AE1-2C46156E6B3A}" presName="boxAndChildren" presStyleCnt="0"/>
      <dgm:spPr/>
    </dgm:pt>
    <dgm:pt modelId="{DFA226CD-8250-48DE-8AC2-597D83418CD3}" type="pres">
      <dgm:prSet presAssocID="{5E3FC7D1-1354-4E7E-9AE1-2C46156E6B3A}" presName="parentTextBox" presStyleLbl="node1" presStyleIdx="0" presStyleCnt="2"/>
      <dgm:spPr/>
    </dgm:pt>
    <dgm:pt modelId="{98AEB1AA-4159-4916-B707-54C742C7E2CD}" type="pres">
      <dgm:prSet presAssocID="{5E3FC7D1-1354-4E7E-9AE1-2C46156E6B3A}" presName="entireBox" presStyleLbl="node1" presStyleIdx="0" presStyleCnt="2"/>
      <dgm:spPr/>
    </dgm:pt>
    <dgm:pt modelId="{7200A101-2041-43D6-930C-B4D0C4F44C57}" type="pres">
      <dgm:prSet presAssocID="{5E3FC7D1-1354-4E7E-9AE1-2C46156E6B3A}" presName="descendantBox" presStyleCnt="0"/>
      <dgm:spPr/>
    </dgm:pt>
    <dgm:pt modelId="{FEB7BB8F-50B5-402F-B9E5-1A8CE4E72206}" type="pres">
      <dgm:prSet presAssocID="{BCFE0BA2-C63B-4C3F-9852-247D5A61E552}" presName="childTextBox" presStyleLbl="fgAccFollowNode1" presStyleIdx="0" presStyleCnt="2">
        <dgm:presLayoutVars>
          <dgm:bulletEnabled val="1"/>
        </dgm:presLayoutVars>
      </dgm:prSet>
      <dgm:spPr/>
    </dgm:pt>
    <dgm:pt modelId="{EABA09C0-BFE1-4C36-9629-2474D078752D}" type="pres">
      <dgm:prSet presAssocID="{A97A632B-92BD-4996-979D-724C4C1E89A8}" presName="childTextBox" presStyleLbl="fgAccFollowNode1" presStyleIdx="1" presStyleCnt="2">
        <dgm:presLayoutVars>
          <dgm:bulletEnabled val="1"/>
        </dgm:presLayoutVars>
      </dgm:prSet>
      <dgm:spPr/>
    </dgm:pt>
    <dgm:pt modelId="{3466D387-F730-49EC-9FF5-6F1CB29CDD1C}" type="pres">
      <dgm:prSet presAssocID="{F2675107-9EA8-4185-BF9D-6EE5F713DD47}" presName="sp" presStyleCnt="0"/>
      <dgm:spPr/>
    </dgm:pt>
    <dgm:pt modelId="{60A30032-439F-401D-BD86-B83AF28CF623}" type="pres">
      <dgm:prSet presAssocID="{B99A28A9-23E5-418C-84F6-0C9AABAF2AEB}" presName="arrowAndChildren" presStyleCnt="0"/>
      <dgm:spPr/>
    </dgm:pt>
    <dgm:pt modelId="{5370ACED-E32E-426C-BCDF-C76383252322}" type="pres">
      <dgm:prSet presAssocID="{B99A28A9-23E5-418C-84F6-0C9AABAF2AEB}" presName="parentTextArrow" presStyleLbl="node1" presStyleIdx="1" presStyleCnt="2"/>
      <dgm:spPr/>
    </dgm:pt>
  </dgm:ptLst>
  <dgm:cxnLst>
    <dgm:cxn modelId="{52947E00-F45F-42A2-8300-8788F42758AE}" type="presOf" srcId="{BCFE0BA2-C63B-4C3F-9852-247D5A61E552}" destId="{FEB7BB8F-50B5-402F-B9E5-1A8CE4E72206}" srcOrd="0" destOrd="0" presId="urn:microsoft.com/office/officeart/2005/8/layout/process4"/>
    <dgm:cxn modelId="{D62DBD18-AF23-4050-B4FE-CF18655B813A}" srcId="{D71CEA98-BACF-499A-B8FD-DDF253C22A5A}" destId="{5E3FC7D1-1354-4E7E-9AE1-2C46156E6B3A}" srcOrd="1" destOrd="0" parTransId="{6B90CF09-30F5-43AC-A6AB-FC7D7B5A6D20}" sibTransId="{9AAEB9B0-825A-4374-BD3E-7032F76897B0}"/>
    <dgm:cxn modelId="{52E86321-3D74-406C-80CA-F3DFF3C07921}" type="presOf" srcId="{5E3FC7D1-1354-4E7E-9AE1-2C46156E6B3A}" destId="{98AEB1AA-4159-4916-B707-54C742C7E2CD}" srcOrd="1" destOrd="0" presId="urn:microsoft.com/office/officeart/2005/8/layout/process4"/>
    <dgm:cxn modelId="{19F54D5A-507B-4747-BA0B-A4558563E106}" type="presOf" srcId="{B99A28A9-23E5-418C-84F6-0C9AABAF2AEB}" destId="{5370ACED-E32E-426C-BCDF-C76383252322}" srcOrd="0" destOrd="0" presId="urn:microsoft.com/office/officeart/2005/8/layout/process4"/>
    <dgm:cxn modelId="{91411CAA-3B8C-479E-8E89-A68F384CDFB9}" type="presOf" srcId="{A97A632B-92BD-4996-979D-724C4C1E89A8}" destId="{EABA09C0-BFE1-4C36-9629-2474D078752D}" srcOrd="0" destOrd="0" presId="urn:microsoft.com/office/officeart/2005/8/layout/process4"/>
    <dgm:cxn modelId="{C4006BB9-814F-4C6E-8055-F97D4C374AFD}" type="presOf" srcId="{D71CEA98-BACF-499A-B8FD-DDF253C22A5A}" destId="{DE53EB09-EC97-479D-8B6A-56FACCCA1442}" srcOrd="0" destOrd="0" presId="urn:microsoft.com/office/officeart/2005/8/layout/process4"/>
    <dgm:cxn modelId="{84A41DC1-9D16-448E-BED9-BE7356C8BC62}" srcId="{D71CEA98-BACF-499A-B8FD-DDF253C22A5A}" destId="{B99A28A9-23E5-418C-84F6-0C9AABAF2AEB}" srcOrd="0" destOrd="0" parTransId="{DD9DF10B-9E55-4281-9C77-E3F65DB3C379}" sibTransId="{F2675107-9EA8-4185-BF9D-6EE5F713DD47}"/>
    <dgm:cxn modelId="{23DC79DC-0887-481A-A6DA-D58F222941D0}" srcId="{5E3FC7D1-1354-4E7E-9AE1-2C46156E6B3A}" destId="{BCFE0BA2-C63B-4C3F-9852-247D5A61E552}" srcOrd="0" destOrd="0" parTransId="{72F0B144-E925-4B25-A94A-6BC56BE2D216}" sibTransId="{3BCE4806-6B93-4FB1-9E1D-81946256C367}"/>
    <dgm:cxn modelId="{C4A87AE4-A691-4B26-9EF8-D6F315B60702}" srcId="{5E3FC7D1-1354-4E7E-9AE1-2C46156E6B3A}" destId="{A97A632B-92BD-4996-979D-724C4C1E89A8}" srcOrd="1" destOrd="0" parTransId="{8393285A-A41A-4C7A-A568-AFD714CF79CB}" sibTransId="{4F820E64-984F-4256-BEEB-A35332E1296F}"/>
    <dgm:cxn modelId="{B0AF6EF3-620C-485A-81A9-2460CE7C3BBB}" type="presOf" srcId="{5E3FC7D1-1354-4E7E-9AE1-2C46156E6B3A}" destId="{DFA226CD-8250-48DE-8AC2-597D83418CD3}" srcOrd="0" destOrd="0" presId="urn:microsoft.com/office/officeart/2005/8/layout/process4"/>
    <dgm:cxn modelId="{C5B43127-E5C3-4939-9653-713C6DC92B74}" type="presParOf" srcId="{DE53EB09-EC97-479D-8B6A-56FACCCA1442}" destId="{73280A3E-E22A-45B6-ADE1-FC3455E40DDB}" srcOrd="0" destOrd="0" presId="urn:microsoft.com/office/officeart/2005/8/layout/process4"/>
    <dgm:cxn modelId="{495137DB-AC3B-4375-8799-B2C043EA6E2F}" type="presParOf" srcId="{73280A3E-E22A-45B6-ADE1-FC3455E40DDB}" destId="{DFA226CD-8250-48DE-8AC2-597D83418CD3}" srcOrd="0" destOrd="0" presId="urn:microsoft.com/office/officeart/2005/8/layout/process4"/>
    <dgm:cxn modelId="{6424E95C-E116-471F-B16D-4F8EA7269733}" type="presParOf" srcId="{73280A3E-E22A-45B6-ADE1-FC3455E40DDB}" destId="{98AEB1AA-4159-4916-B707-54C742C7E2CD}" srcOrd="1" destOrd="0" presId="urn:microsoft.com/office/officeart/2005/8/layout/process4"/>
    <dgm:cxn modelId="{5374C2EC-041F-4A84-85D2-BB7712B54735}" type="presParOf" srcId="{73280A3E-E22A-45B6-ADE1-FC3455E40DDB}" destId="{7200A101-2041-43D6-930C-B4D0C4F44C57}" srcOrd="2" destOrd="0" presId="urn:microsoft.com/office/officeart/2005/8/layout/process4"/>
    <dgm:cxn modelId="{FD29C123-B72E-490E-92CE-33841C74827E}" type="presParOf" srcId="{7200A101-2041-43D6-930C-B4D0C4F44C57}" destId="{FEB7BB8F-50B5-402F-B9E5-1A8CE4E72206}" srcOrd="0" destOrd="0" presId="urn:microsoft.com/office/officeart/2005/8/layout/process4"/>
    <dgm:cxn modelId="{46306A07-620B-479A-90A8-E7B184132EEF}" type="presParOf" srcId="{7200A101-2041-43D6-930C-B4D0C4F44C57}" destId="{EABA09C0-BFE1-4C36-9629-2474D078752D}" srcOrd="1" destOrd="0" presId="urn:microsoft.com/office/officeart/2005/8/layout/process4"/>
    <dgm:cxn modelId="{505CD087-5A76-4FA2-B1CA-71496D5B201A}" type="presParOf" srcId="{DE53EB09-EC97-479D-8B6A-56FACCCA1442}" destId="{3466D387-F730-49EC-9FF5-6F1CB29CDD1C}" srcOrd="1" destOrd="0" presId="urn:microsoft.com/office/officeart/2005/8/layout/process4"/>
    <dgm:cxn modelId="{42686780-66F9-4F47-8EA1-595F9933EDBF}" type="presParOf" srcId="{DE53EB09-EC97-479D-8B6A-56FACCCA1442}" destId="{60A30032-439F-401D-BD86-B83AF28CF623}" srcOrd="2" destOrd="0" presId="urn:microsoft.com/office/officeart/2005/8/layout/process4"/>
    <dgm:cxn modelId="{6960345A-DB7F-4E31-A6DB-D45202C411BF}" type="presParOf" srcId="{60A30032-439F-401D-BD86-B83AF28CF623}" destId="{5370ACED-E32E-426C-BCDF-C76383252322}" srcOrd="0"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7C2E30-6ACD-489B-B035-E5B1705CA8D1}"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B961712D-8297-4E1C-8C3A-5C89B6DEA0A8}">
      <dgm:prSet/>
      <dgm:spPr/>
      <dgm:t>
        <a:bodyPr/>
        <a:lstStyle/>
        <a:p>
          <a:r>
            <a:rPr lang="es-CL"/>
            <a:t>Muchas veces aplicamos el algoritmo de manera automática. Esto se produce cuando el problema que tenemos enfrente lo hemos resuelto con anterioridad un gran número de veces.</a:t>
          </a:r>
          <a:endParaRPr lang="en-US"/>
        </a:p>
      </dgm:t>
    </dgm:pt>
    <dgm:pt modelId="{12C0FADD-51C2-48DC-87E5-E5AFE4343B6D}" type="parTrans" cxnId="{89D2D498-3542-4382-9A80-A2C0AD6E105B}">
      <dgm:prSet/>
      <dgm:spPr/>
      <dgm:t>
        <a:bodyPr/>
        <a:lstStyle/>
        <a:p>
          <a:endParaRPr lang="en-US"/>
        </a:p>
      </dgm:t>
    </dgm:pt>
    <dgm:pt modelId="{E7FA1319-DD36-4F74-AEB8-9B3AAB4AAB3E}" type="sibTrans" cxnId="{89D2D498-3542-4382-9A80-A2C0AD6E105B}">
      <dgm:prSet/>
      <dgm:spPr/>
      <dgm:t>
        <a:bodyPr/>
        <a:lstStyle/>
        <a:p>
          <a:endParaRPr lang="en-US"/>
        </a:p>
      </dgm:t>
    </dgm:pt>
    <dgm:pt modelId="{FD09F6BE-661B-41D7-B228-09DDE9780B1E}">
      <dgm:prSet/>
      <dgm:spPr/>
      <dgm:t>
        <a:bodyPr/>
        <a:lstStyle/>
        <a:p>
          <a:r>
            <a:rPr lang="es-CL"/>
            <a:t>Ejemplo: Abrir una puerta. Lo hemos realizado tantas veces que difícilmente nos ponemos a enumerar los pasos para alcanzar este objetivo.</a:t>
          </a:r>
          <a:endParaRPr lang="en-US"/>
        </a:p>
      </dgm:t>
    </dgm:pt>
    <dgm:pt modelId="{7D7347F2-C9DC-4DF5-B518-073B0BC03FB9}" type="parTrans" cxnId="{687F019C-60FF-4439-9256-F8AA59C3AA3D}">
      <dgm:prSet/>
      <dgm:spPr/>
      <dgm:t>
        <a:bodyPr/>
        <a:lstStyle/>
        <a:p>
          <a:endParaRPr lang="en-US"/>
        </a:p>
      </dgm:t>
    </dgm:pt>
    <dgm:pt modelId="{E2E988E9-1B78-4E80-9F44-04512334B4F7}" type="sibTrans" cxnId="{687F019C-60FF-4439-9256-F8AA59C3AA3D}">
      <dgm:prSet/>
      <dgm:spPr/>
      <dgm:t>
        <a:bodyPr/>
        <a:lstStyle/>
        <a:p>
          <a:endParaRPr lang="en-US"/>
        </a:p>
      </dgm:t>
    </dgm:pt>
    <dgm:pt modelId="{1D207758-A953-4B15-8435-E7B13AE7DABC}" type="pres">
      <dgm:prSet presAssocID="{417C2E30-6ACD-489B-B035-E5B1705CA8D1}" presName="diagram" presStyleCnt="0">
        <dgm:presLayoutVars>
          <dgm:dir/>
          <dgm:resizeHandles val="exact"/>
        </dgm:presLayoutVars>
      </dgm:prSet>
      <dgm:spPr/>
    </dgm:pt>
    <dgm:pt modelId="{23D38E13-4CC7-4496-83BD-61E9F5FFCFED}" type="pres">
      <dgm:prSet presAssocID="{B961712D-8297-4E1C-8C3A-5C89B6DEA0A8}" presName="node" presStyleLbl="node1" presStyleIdx="0" presStyleCnt="2">
        <dgm:presLayoutVars>
          <dgm:bulletEnabled val="1"/>
        </dgm:presLayoutVars>
      </dgm:prSet>
      <dgm:spPr/>
    </dgm:pt>
    <dgm:pt modelId="{E11EF7CF-9A51-4D39-AF79-4125A2CDB50F}" type="pres">
      <dgm:prSet presAssocID="{E7FA1319-DD36-4F74-AEB8-9B3AAB4AAB3E}" presName="sibTrans" presStyleLbl="sibTrans2D1" presStyleIdx="0" presStyleCnt="1"/>
      <dgm:spPr/>
    </dgm:pt>
    <dgm:pt modelId="{16F2F6E9-A848-4372-8E85-BA9BF6F77E3E}" type="pres">
      <dgm:prSet presAssocID="{E7FA1319-DD36-4F74-AEB8-9B3AAB4AAB3E}" presName="connectorText" presStyleLbl="sibTrans2D1" presStyleIdx="0" presStyleCnt="1"/>
      <dgm:spPr/>
    </dgm:pt>
    <dgm:pt modelId="{213A4F71-2CA1-41A3-899B-E8FC0E09837D}" type="pres">
      <dgm:prSet presAssocID="{FD09F6BE-661B-41D7-B228-09DDE9780B1E}" presName="node" presStyleLbl="node1" presStyleIdx="1" presStyleCnt="2">
        <dgm:presLayoutVars>
          <dgm:bulletEnabled val="1"/>
        </dgm:presLayoutVars>
      </dgm:prSet>
      <dgm:spPr/>
    </dgm:pt>
  </dgm:ptLst>
  <dgm:cxnLst>
    <dgm:cxn modelId="{79C2F614-BD23-40FD-A580-59BE1178647F}" type="presOf" srcId="{B961712D-8297-4E1C-8C3A-5C89B6DEA0A8}" destId="{23D38E13-4CC7-4496-83BD-61E9F5FFCFED}" srcOrd="0" destOrd="0" presId="urn:microsoft.com/office/officeart/2005/8/layout/process5"/>
    <dgm:cxn modelId="{377F2F1C-931D-4B2E-8640-EB1263A30922}" type="presOf" srcId="{E7FA1319-DD36-4F74-AEB8-9B3AAB4AAB3E}" destId="{16F2F6E9-A848-4372-8E85-BA9BF6F77E3E}" srcOrd="1" destOrd="0" presId="urn:microsoft.com/office/officeart/2005/8/layout/process5"/>
    <dgm:cxn modelId="{8DA90D29-CCEE-4EDD-8E60-20B84B2CFA27}" type="presOf" srcId="{FD09F6BE-661B-41D7-B228-09DDE9780B1E}" destId="{213A4F71-2CA1-41A3-899B-E8FC0E09837D}" srcOrd="0" destOrd="0" presId="urn:microsoft.com/office/officeart/2005/8/layout/process5"/>
    <dgm:cxn modelId="{FB4BC62C-3991-44DA-AD82-8C19B8C7BD8E}" type="presOf" srcId="{417C2E30-6ACD-489B-B035-E5B1705CA8D1}" destId="{1D207758-A953-4B15-8435-E7B13AE7DABC}" srcOrd="0" destOrd="0" presId="urn:microsoft.com/office/officeart/2005/8/layout/process5"/>
    <dgm:cxn modelId="{89D2D498-3542-4382-9A80-A2C0AD6E105B}" srcId="{417C2E30-6ACD-489B-B035-E5B1705CA8D1}" destId="{B961712D-8297-4E1C-8C3A-5C89B6DEA0A8}" srcOrd="0" destOrd="0" parTransId="{12C0FADD-51C2-48DC-87E5-E5AFE4343B6D}" sibTransId="{E7FA1319-DD36-4F74-AEB8-9B3AAB4AAB3E}"/>
    <dgm:cxn modelId="{687F019C-60FF-4439-9256-F8AA59C3AA3D}" srcId="{417C2E30-6ACD-489B-B035-E5B1705CA8D1}" destId="{FD09F6BE-661B-41D7-B228-09DDE9780B1E}" srcOrd="1" destOrd="0" parTransId="{7D7347F2-C9DC-4DF5-B518-073B0BC03FB9}" sibTransId="{E2E988E9-1B78-4E80-9F44-04512334B4F7}"/>
    <dgm:cxn modelId="{4F8F13C5-25CE-47A1-A5F3-951D8B120361}" type="presOf" srcId="{E7FA1319-DD36-4F74-AEB8-9B3AAB4AAB3E}" destId="{E11EF7CF-9A51-4D39-AF79-4125A2CDB50F}" srcOrd="0" destOrd="0" presId="urn:microsoft.com/office/officeart/2005/8/layout/process5"/>
    <dgm:cxn modelId="{7B21C1F5-964B-4947-855A-02796984E95F}" type="presParOf" srcId="{1D207758-A953-4B15-8435-E7B13AE7DABC}" destId="{23D38E13-4CC7-4496-83BD-61E9F5FFCFED}" srcOrd="0" destOrd="0" presId="urn:microsoft.com/office/officeart/2005/8/layout/process5"/>
    <dgm:cxn modelId="{DF14FE4C-2BA1-4790-8833-77FAC66CCC93}" type="presParOf" srcId="{1D207758-A953-4B15-8435-E7B13AE7DABC}" destId="{E11EF7CF-9A51-4D39-AF79-4125A2CDB50F}" srcOrd="1" destOrd="0" presId="urn:microsoft.com/office/officeart/2005/8/layout/process5"/>
    <dgm:cxn modelId="{BB1A6459-5010-4DC0-9584-A47BCC3208B3}" type="presParOf" srcId="{E11EF7CF-9A51-4D39-AF79-4125A2CDB50F}" destId="{16F2F6E9-A848-4372-8E85-BA9BF6F77E3E}" srcOrd="0" destOrd="0" presId="urn:microsoft.com/office/officeart/2005/8/layout/process5"/>
    <dgm:cxn modelId="{BCA7019A-7262-4B23-900D-47A04775FB89}" type="presParOf" srcId="{1D207758-A953-4B15-8435-E7B13AE7DABC}" destId="{213A4F71-2CA1-41A3-899B-E8FC0E09837D}" srcOrd="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EB1AA-4159-4916-B707-54C742C7E2CD}">
      <dsp:nvSpPr>
        <dsp:cNvPr id="0" name=""/>
        <dsp:cNvSpPr/>
      </dsp:nvSpPr>
      <dsp:spPr>
        <a:xfrm>
          <a:off x="0" y="2080949"/>
          <a:ext cx="5500811" cy="136532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s-CL" sz="1900" kern="1200"/>
            <a:t>Ejemplos:</a:t>
          </a:r>
          <a:endParaRPr lang="en-US" sz="1900" kern="1200"/>
        </a:p>
      </dsp:txBody>
      <dsp:txXfrm>
        <a:off x="0" y="2080949"/>
        <a:ext cx="5500811" cy="737277"/>
      </dsp:txXfrm>
    </dsp:sp>
    <dsp:sp modelId="{FEB7BB8F-50B5-402F-B9E5-1A8CE4E72206}">
      <dsp:nvSpPr>
        <dsp:cNvPr id="0" name=""/>
        <dsp:cNvSpPr/>
      </dsp:nvSpPr>
      <dsp:spPr>
        <a:xfrm>
          <a:off x="0" y="2790919"/>
          <a:ext cx="2750405" cy="628050"/>
        </a:xfrm>
        <a:prstGeom prst="rect">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s-CL" sz="2000" kern="1200"/>
            <a:t>Decidimos tomar un baño</a:t>
          </a:r>
          <a:endParaRPr lang="en-US" sz="2000" kern="1200"/>
        </a:p>
      </dsp:txBody>
      <dsp:txXfrm>
        <a:off x="0" y="2790919"/>
        <a:ext cx="2750405" cy="628050"/>
      </dsp:txXfrm>
    </dsp:sp>
    <dsp:sp modelId="{EABA09C0-BFE1-4C36-9629-2474D078752D}">
      <dsp:nvSpPr>
        <dsp:cNvPr id="0" name=""/>
        <dsp:cNvSpPr/>
      </dsp:nvSpPr>
      <dsp:spPr>
        <a:xfrm>
          <a:off x="2750405" y="2790919"/>
          <a:ext cx="2750405" cy="628050"/>
        </a:xfrm>
        <a:prstGeom prst="rect">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s-CL" sz="2000" kern="1200"/>
            <a:t>Tomar desayuno</a:t>
          </a:r>
          <a:endParaRPr lang="en-US" sz="2000" kern="1200"/>
        </a:p>
      </dsp:txBody>
      <dsp:txXfrm>
        <a:off x="2750405" y="2790919"/>
        <a:ext cx="2750405" cy="628050"/>
      </dsp:txXfrm>
    </dsp:sp>
    <dsp:sp modelId="{5370ACED-E32E-426C-BCDF-C76383252322}">
      <dsp:nvSpPr>
        <dsp:cNvPr id="0" name=""/>
        <dsp:cNvSpPr/>
      </dsp:nvSpPr>
      <dsp:spPr>
        <a:xfrm rot="10800000">
          <a:off x="0" y="1554"/>
          <a:ext cx="5500811" cy="2099874"/>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s-CL" sz="1900" kern="1200"/>
            <a:t>Inconscientemente los humanos efectuamos una serie de pasos, procedimientos o acciones que nos permiten alcanzar un resultado o resolver un problema.</a:t>
          </a:r>
          <a:endParaRPr lang="en-US" sz="1900" kern="1200"/>
        </a:p>
      </dsp:txBody>
      <dsp:txXfrm rot="10800000">
        <a:off x="0" y="1554"/>
        <a:ext cx="5500811" cy="1364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D38E13-4CC7-4496-83BD-61E9F5FFCFED}">
      <dsp:nvSpPr>
        <dsp:cNvPr id="0" name=""/>
        <dsp:cNvSpPr/>
      </dsp:nvSpPr>
      <dsp:spPr>
        <a:xfrm>
          <a:off x="1617" y="405449"/>
          <a:ext cx="3449035" cy="20694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a:t>Muchas veces aplicamos el algoritmo de manera automática. Esto se produce cuando el problema que tenemos enfrente lo hemos resuelto con anterioridad un gran número de veces.</a:t>
          </a:r>
          <a:endParaRPr lang="en-US" sz="1800" kern="1200"/>
        </a:p>
      </dsp:txBody>
      <dsp:txXfrm>
        <a:off x="62228" y="466060"/>
        <a:ext cx="3327813" cy="1948199"/>
      </dsp:txXfrm>
    </dsp:sp>
    <dsp:sp modelId="{E11EF7CF-9A51-4D39-AF79-4125A2CDB50F}">
      <dsp:nvSpPr>
        <dsp:cNvPr id="0" name=""/>
        <dsp:cNvSpPr/>
      </dsp:nvSpPr>
      <dsp:spPr>
        <a:xfrm>
          <a:off x="3754168" y="1012479"/>
          <a:ext cx="731195" cy="8553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754168" y="1183551"/>
        <a:ext cx="511837" cy="513216"/>
      </dsp:txXfrm>
    </dsp:sp>
    <dsp:sp modelId="{213A4F71-2CA1-41A3-899B-E8FC0E09837D}">
      <dsp:nvSpPr>
        <dsp:cNvPr id="0" name=""/>
        <dsp:cNvSpPr/>
      </dsp:nvSpPr>
      <dsp:spPr>
        <a:xfrm>
          <a:off x="4830267" y="405449"/>
          <a:ext cx="3449035" cy="20694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a:t>Ejemplo: Abrir una puerta. Lo hemos realizado tantas veces que difícilmente nos ponemos a enumerar los pasos para alcanzar este objetivo.</a:t>
          </a:r>
          <a:endParaRPr lang="en-US" sz="1800" kern="1200"/>
        </a:p>
      </dsp:txBody>
      <dsp:txXfrm>
        <a:off x="4890878" y="466060"/>
        <a:ext cx="3327813" cy="194819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E295C87-E7C9-2F5D-CB80-976FEF10A2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0F310F09-9BDA-DD4D-0A77-D0E0CC131C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5D27C1-A5AD-4BE3-B0DA-5A8DFA6308C5}" type="datetimeFigureOut">
              <a:rPr lang="es-CL" smtClean="0"/>
              <a:t>11-03-2025</a:t>
            </a:fld>
            <a:endParaRPr lang="es-CL"/>
          </a:p>
        </p:txBody>
      </p:sp>
      <p:sp>
        <p:nvSpPr>
          <p:cNvPr id="4" name="Marcador de pie de página 3">
            <a:extLst>
              <a:ext uri="{FF2B5EF4-FFF2-40B4-BE49-F238E27FC236}">
                <a16:creationId xmlns:a16="http://schemas.microsoft.com/office/drawing/2014/main" id="{993EAFF0-3767-49FE-1B80-5F428747D0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9800602E-5F59-F1F5-D0E0-9DB2D48B5E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C68B2A-3DF5-4307-B323-BD16FCB3CDFF}" type="slidenum">
              <a:rPr lang="es-CL" smtClean="0"/>
              <a:t>‹Nº›</a:t>
            </a:fld>
            <a:endParaRPr lang="es-CL"/>
          </a:p>
        </p:txBody>
      </p:sp>
    </p:spTree>
    <p:extLst>
      <p:ext uri="{BB962C8B-B14F-4D97-AF65-F5344CB8AC3E}">
        <p14:creationId xmlns:p14="http://schemas.microsoft.com/office/powerpoint/2010/main" val="2849517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1E8A10-D727-4178-9F85-369A660D8665}" type="datetimeFigureOut">
              <a:rPr lang="es-CL" smtClean="0"/>
              <a:t>11-03-2025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BD47C-42A0-4864-8123-7994490E4958}" type="slidenum">
              <a:rPr lang="es-CL" smtClean="0"/>
              <a:t>‹Nº›</a:t>
            </a:fld>
            <a:endParaRPr lang="es-CL"/>
          </a:p>
        </p:txBody>
      </p:sp>
    </p:spTree>
    <p:extLst>
      <p:ext uri="{BB962C8B-B14F-4D97-AF65-F5344CB8AC3E}">
        <p14:creationId xmlns:p14="http://schemas.microsoft.com/office/powerpoint/2010/main" val="26348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carlospes.com/minidiccionario/programa.php"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es.wikipedia.org/wiki/Algoritmos_probabilistas" TargetMode="External"/><Relationship Id="rId3" Type="http://schemas.openxmlformats.org/officeDocument/2006/relationships/hyperlink" Target="http://es.wikipedia.org/wiki/Ciencias_de_la_computaci%C3%B3n" TargetMode="External"/><Relationship Id="rId7" Type="http://schemas.openxmlformats.org/officeDocument/2006/relationships/hyperlink" Target="http://es.wikipedia.org/wiki/Funci%C3%B3n_(matem%C3%A1ticas)"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es.wikipedia.org/wiki/Salida_(inform%C3%A1tica)" TargetMode="External"/><Relationship Id="rId5" Type="http://schemas.openxmlformats.org/officeDocument/2006/relationships/hyperlink" Target="http://es.wikipedia.org/wiki/Entrada" TargetMode="External"/><Relationship Id="rId4" Type="http://schemas.openxmlformats.org/officeDocument/2006/relationships/hyperlink" Target="http://es.wikipedia.org/wiki/Algoritmo"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carlospes.com/minidiccionario/algoritmo.php"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4</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5</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6</a:t>
            </a:fld>
            <a:endParaRPr lang="es-E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s-CL" sz="1200" dirty="0">
                <a:solidFill>
                  <a:schemeClr val="tx2">
                    <a:lumMod val="50000"/>
                  </a:schemeClr>
                </a:solidFill>
                <a:latin typeface="Verdana" pitchFamily="34" charset="0"/>
                <a:ea typeface="Verdana" pitchFamily="34" charset="0"/>
                <a:cs typeface="Verdana" pitchFamily="34" charset="0"/>
              </a:rPr>
              <a:t>Inconscientemente los humanos efectuamos tareas y actividades para alcanzar un resultado.</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s-CL" sz="1200" dirty="0">
                <a:solidFill>
                  <a:schemeClr val="tx2">
                    <a:lumMod val="50000"/>
                  </a:schemeClr>
                </a:solidFill>
                <a:latin typeface="Verdana" pitchFamily="34" charset="0"/>
                <a:ea typeface="Verdana" pitchFamily="34" charset="0"/>
                <a:cs typeface="Verdana" pitchFamily="34" charset="0"/>
              </a:rPr>
              <a:t>En</a:t>
            </a:r>
            <a:r>
              <a:rPr lang="es-CL" sz="1200" baseline="0" dirty="0">
                <a:solidFill>
                  <a:schemeClr val="tx2">
                    <a:lumMod val="50000"/>
                  </a:schemeClr>
                </a:solidFill>
                <a:latin typeface="Verdana" pitchFamily="34" charset="0"/>
                <a:ea typeface="Verdana" pitchFamily="34" charset="0"/>
                <a:cs typeface="Verdana" pitchFamily="34" charset="0"/>
              </a:rPr>
              <a:t> general, buscamos soluciones para algún que hacer diario.</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s-CL" sz="1200" baseline="0" dirty="0">
                <a:solidFill>
                  <a:schemeClr val="tx2">
                    <a:lumMod val="50000"/>
                  </a:schemeClr>
                </a:solidFill>
                <a:latin typeface="Verdana" pitchFamily="34" charset="0"/>
                <a:ea typeface="Verdana" pitchFamily="34" charset="0"/>
                <a:cs typeface="Verdana" pitchFamily="34" charset="0"/>
              </a:rPr>
              <a:t>Para ello utilizamos nuestra propia lógica de acuerdo a como resolvemos nuestros problemas.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s-CL" sz="1200" baseline="0" dirty="0">
                <a:solidFill>
                  <a:schemeClr val="tx2">
                    <a:lumMod val="50000"/>
                  </a:schemeClr>
                </a:solidFill>
                <a:latin typeface="Verdana" pitchFamily="34" charset="0"/>
                <a:ea typeface="Verdana" pitchFamily="34" charset="0"/>
                <a:cs typeface="Verdana" pitchFamily="34" charset="0"/>
              </a:rPr>
              <a:t>Ahora si nos detenemos a pensar como logramos hacer esto y que criterio ocupamos, nos damos cuenta que el que hacer de nosotros es un algoritmo que internalizamos y lo ocupamos constantemente.</a:t>
            </a:r>
            <a:endParaRPr lang="es-CL" sz="1200" dirty="0">
              <a:solidFill>
                <a:schemeClr val="tx2">
                  <a:lumMod val="50000"/>
                </a:schemeClr>
              </a:solidFill>
              <a:latin typeface="Verdana" pitchFamily="34" charset="0"/>
              <a:ea typeface="Verdana" pitchFamily="34" charset="0"/>
              <a:cs typeface="Verdan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CL" dirty="0"/>
          </a:p>
          <a:p>
            <a:pPr marL="0" marR="0" indent="0" algn="l" defTabSz="914400" rtl="0" eaLnBrk="1" fontAlgn="auto" latinLnBrk="0" hangingPunct="1">
              <a:lnSpc>
                <a:spcPct val="100000"/>
              </a:lnSpc>
              <a:spcBef>
                <a:spcPts val="0"/>
              </a:spcBef>
              <a:spcAft>
                <a:spcPts val="0"/>
              </a:spcAft>
              <a:buClrTx/>
              <a:buSzTx/>
              <a:buFontTx/>
              <a:buNone/>
              <a:tabLst/>
              <a:defRPr/>
            </a:pPr>
            <a:r>
              <a:rPr lang="es-CL" sz="1200" baseline="0" dirty="0">
                <a:solidFill>
                  <a:schemeClr val="tx2">
                    <a:lumMod val="50000"/>
                  </a:schemeClr>
                </a:solidFill>
                <a:latin typeface="Verdana" pitchFamily="34" charset="0"/>
                <a:ea typeface="Verdana" pitchFamily="34" charset="0"/>
                <a:cs typeface="Verdana" pitchFamily="34" charset="0"/>
              </a:rPr>
              <a:t>Como conclusión, cuando </a:t>
            </a:r>
            <a:r>
              <a:rPr lang="es-CL" sz="1200" dirty="0">
                <a:solidFill>
                  <a:schemeClr val="tx2">
                    <a:lumMod val="50000"/>
                  </a:schemeClr>
                </a:solidFill>
                <a:latin typeface="Verdana" pitchFamily="34" charset="0"/>
                <a:ea typeface="Verdana" pitchFamily="34" charset="0"/>
                <a:cs typeface="Verdana" pitchFamily="34" charset="0"/>
              </a:rPr>
              <a:t>seguimos una serie de pasos o acciones para alcanzar un resultado, estamos aplicando un algoritmo para resolver un problema.</a:t>
            </a:r>
          </a:p>
        </p:txBody>
      </p:sp>
      <p:sp>
        <p:nvSpPr>
          <p:cNvPr id="4" name="Slide Number Placeholder 3"/>
          <p:cNvSpPr>
            <a:spLocks noGrp="1"/>
          </p:cNvSpPr>
          <p:nvPr>
            <p:ph type="sldNum" sz="quarter" idx="10"/>
          </p:nvPr>
        </p:nvSpPr>
        <p:spPr/>
        <p:txBody>
          <a:bodyPr/>
          <a:lstStyle/>
          <a:p>
            <a:fld id="{3792D2CF-A01B-4515-8B40-3DC34258267A}" type="slidenum">
              <a:rPr lang="es-ES" smtClean="0"/>
              <a:pPr/>
              <a:t>7</a:t>
            </a:fld>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Muchas veces aplicamos un algoritmo de manera automática.</a:t>
            </a:r>
          </a:p>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Esto se produce cuando el problema que tenemos enfrente lo hemos resuelto con anterioridad un gran número de veces.</a:t>
            </a:r>
          </a:p>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Por Ejemplo: Al Abrir una puerta</a:t>
            </a:r>
          </a:p>
          <a:p>
            <a:pPr algn="just">
              <a:buFont typeface="Wingdings" pitchFamily="2" charset="2"/>
              <a:buNone/>
            </a:pPr>
            <a:r>
              <a:rPr lang="es-CL" sz="1200" baseline="0" dirty="0">
                <a:solidFill>
                  <a:schemeClr val="tx2">
                    <a:lumMod val="50000"/>
                  </a:schemeClr>
                </a:solidFill>
                <a:latin typeface="Verdana" pitchFamily="34" charset="0"/>
                <a:ea typeface="Verdana" pitchFamily="34" charset="0"/>
                <a:cs typeface="Verdana" pitchFamily="34" charset="0"/>
              </a:rPr>
              <a:t>Internalizamos un algoritmo inconscientemente.</a:t>
            </a:r>
          </a:p>
          <a:p>
            <a:pPr algn="just">
              <a:buFont typeface="Wingdings" pitchFamily="2" charset="2"/>
              <a:buNone/>
            </a:pPr>
            <a:r>
              <a:rPr lang="es-CL" sz="1200" baseline="0" dirty="0">
                <a:solidFill>
                  <a:schemeClr val="tx2">
                    <a:lumMod val="50000"/>
                  </a:schemeClr>
                </a:solidFill>
                <a:latin typeface="Verdana" pitchFamily="34" charset="0"/>
                <a:ea typeface="Verdana" pitchFamily="34" charset="0"/>
                <a:cs typeface="Verdana" pitchFamily="34" charset="0"/>
              </a:rPr>
              <a:t>Nuestros actos planificados hacen que un conjunto de pasos sean ocupados de manera natural.</a:t>
            </a:r>
          </a:p>
        </p:txBody>
      </p:sp>
      <p:sp>
        <p:nvSpPr>
          <p:cNvPr id="4" name="Slide Number Placeholder 3"/>
          <p:cNvSpPr>
            <a:spLocks noGrp="1"/>
          </p:cNvSpPr>
          <p:nvPr>
            <p:ph type="sldNum" sz="quarter" idx="10"/>
          </p:nvPr>
        </p:nvSpPr>
        <p:spPr/>
        <p:txBody>
          <a:bodyPr/>
          <a:lstStyle/>
          <a:p>
            <a:fld id="{3792D2CF-A01B-4515-8B40-3DC34258267A}" type="slidenum">
              <a:rPr lang="es-ES" smtClean="0"/>
              <a:pPr/>
              <a:t>8</a:t>
            </a:fld>
            <a:endParaRPr lang="es-E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Para</a:t>
            </a:r>
            <a:r>
              <a:rPr lang="es-ES" baseline="0" dirty="0"/>
              <a:t> generar un algoritmo y probarlo en PseInt, debemos tener en cuenta la forma general de un algoritmo.</a:t>
            </a:r>
          </a:p>
          <a:p>
            <a:r>
              <a:rPr lang="es-ES" dirty="0"/>
              <a:t>Todo algoritmo en</a:t>
            </a:r>
            <a:r>
              <a:rPr lang="es-ES" baseline="0" dirty="0"/>
              <a:t> pseudocódigo tiene la siguiente estructura general.</a:t>
            </a:r>
          </a:p>
          <a:p>
            <a:r>
              <a:rPr lang="es-ES" baseline="0" dirty="0"/>
              <a:t>Comienza con la palabra clave proceso seguida del nombre del programa, luego sigue una secuencia de instrucciones y finaliza con la palabra FinProceso. Una secuencia de instrucciones es una lista de una o más instrucciones, cada una termina en punto y coma.</a:t>
            </a:r>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9</a:t>
            </a:fld>
            <a:endParaRPr lang="es-ES" dirty="0"/>
          </a:p>
        </p:txBody>
      </p:sp>
    </p:spTree>
    <p:extLst>
      <p:ext uri="{BB962C8B-B14F-4D97-AF65-F5344CB8AC3E}">
        <p14:creationId xmlns:p14="http://schemas.microsoft.com/office/powerpoint/2010/main" val="3258624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Existe una gran cantidad de problemas que requieren de un análisis profundo y de un pensamiento flexible para una solución.</a:t>
            </a:r>
          </a:p>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No existen reglas específicas que nos permitan resolver un problema. </a:t>
            </a:r>
          </a:p>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Existen técnicas y herramientas metodológicas</a:t>
            </a:r>
            <a:r>
              <a:rPr lang="es-CL" sz="1200" baseline="0" dirty="0">
                <a:solidFill>
                  <a:schemeClr val="tx2">
                    <a:lumMod val="50000"/>
                  </a:schemeClr>
                </a:solidFill>
                <a:latin typeface="Verdana" pitchFamily="34" charset="0"/>
                <a:ea typeface="Verdana" pitchFamily="34" charset="0"/>
                <a:cs typeface="Verdana" pitchFamily="34" charset="0"/>
              </a:rPr>
              <a:t> </a:t>
            </a:r>
            <a:r>
              <a:rPr lang="es-CL" sz="1200" dirty="0">
                <a:solidFill>
                  <a:schemeClr val="tx2">
                    <a:lumMod val="50000"/>
                  </a:schemeClr>
                </a:solidFill>
                <a:latin typeface="Verdana" pitchFamily="34" charset="0"/>
                <a:ea typeface="Verdana" pitchFamily="34" charset="0"/>
                <a:cs typeface="Verdana" pitchFamily="34" charset="0"/>
              </a:rPr>
              <a:t>que permiten flexibilizar y estructurar el razonamiento.</a:t>
            </a:r>
          </a:p>
          <a:p>
            <a:pPr algn="just">
              <a:buFont typeface="Wingdings" pitchFamily="2" charset="2"/>
              <a:buNone/>
            </a:pPr>
            <a:r>
              <a:rPr lang="es-CL" sz="1200" dirty="0">
                <a:solidFill>
                  <a:schemeClr val="tx2">
                    <a:lumMod val="50000"/>
                  </a:schemeClr>
                </a:solidFill>
                <a:latin typeface="Verdana" pitchFamily="34" charset="0"/>
                <a:ea typeface="Verdana" pitchFamily="34" charset="0"/>
                <a:cs typeface="Verdana" pitchFamily="34" charset="0"/>
              </a:rPr>
              <a:t>Sin embargo,</a:t>
            </a:r>
            <a:r>
              <a:rPr lang="es-CL" sz="1200" baseline="0" dirty="0">
                <a:solidFill>
                  <a:schemeClr val="tx2">
                    <a:lumMod val="50000"/>
                  </a:schemeClr>
                </a:solidFill>
                <a:latin typeface="Verdana" pitchFamily="34" charset="0"/>
                <a:ea typeface="Verdana" pitchFamily="34" charset="0"/>
                <a:cs typeface="Verdana" pitchFamily="34" charset="0"/>
              </a:rPr>
              <a:t> pueden haber muchas formas de resolver un problema, algunas mejores que otras, </a:t>
            </a:r>
          </a:p>
          <a:p>
            <a:pPr algn="just">
              <a:buFont typeface="Wingdings" pitchFamily="2" charset="2"/>
              <a:buNone/>
            </a:pPr>
            <a:r>
              <a:rPr lang="es-CL" sz="1200" baseline="0" dirty="0">
                <a:solidFill>
                  <a:schemeClr val="tx2">
                    <a:lumMod val="50000"/>
                  </a:schemeClr>
                </a:solidFill>
                <a:latin typeface="Verdana" pitchFamily="34" charset="0"/>
                <a:ea typeface="Verdana" pitchFamily="34" charset="0"/>
                <a:cs typeface="Verdana" pitchFamily="34" charset="0"/>
              </a:rPr>
              <a:t>por esto entonces ¿cuál algoritmo es mejor?. </a:t>
            </a:r>
          </a:p>
          <a:p>
            <a:pPr algn="just">
              <a:buFont typeface="Wingdings" pitchFamily="2" charset="2"/>
              <a:buNone/>
            </a:pPr>
            <a:r>
              <a:rPr lang="es-CL" sz="1200" baseline="0" dirty="0">
                <a:solidFill>
                  <a:schemeClr val="tx2">
                    <a:lumMod val="50000"/>
                  </a:schemeClr>
                </a:solidFill>
                <a:latin typeface="Verdana" pitchFamily="34" charset="0"/>
                <a:ea typeface="Verdana" pitchFamily="34" charset="0"/>
                <a:cs typeface="Verdana" pitchFamily="34" charset="0"/>
              </a:rPr>
              <a:t>Si vemos la diferencia entre ambos algoritmos nos damos cuenta, que el algoritmo 2 agrega una condición más para poder cruzar,</a:t>
            </a:r>
          </a:p>
          <a:p>
            <a:pPr algn="just">
              <a:buFont typeface="Wingdings" pitchFamily="2" charset="2"/>
              <a:buNone/>
            </a:pPr>
            <a:r>
              <a:rPr lang="es-CL" sz="1200" baseline="0" dirty="0">
                <a:solidFill>
                  <a:schemeClr val="tx2">
                    <a:lumMod val="50000"/>
                  </a:schemeClr>
                </a:solidFill>
                <a:latin typeface="Verdana" pitchFamily="34" charset="0"/>
                <a:ea typeface="Verdana" pitchFamily="34" charset="0"/>
                <a:cs typeface="Verdana" pitchFamily="34" charset="0"/>
              </a:rPr>
              <a:t>pero tiene una precisión mayor por detallar mejor el caso.</a:t>
            </a:r>
          </a:p>
        </p:txBody>
      </p:sp>
      <p:sp>
        <p:nvSpPr>
          <p:cNvPr id="4" name="Slide Number Placeholder 3"/>
          <p:cNvSpPr>
            <a:spLocks noGrp="1"/>
          </p:cNvSpPr>
          <p:nvPr>
            <p:ph type="sldNum" sz="quarter" idx="10"/>
          </p:nvPr>
        </p:nvSpPr>
        <p:spPr/>
        <p:txBody>
          <a:bodyPr/>
          <a:lstStyle/>
          <a:p>
            <a:fld id="{3792D2CF-A01B-4515-8B40-3DC34258267A}" type="slidenum">
              <a:rPr lang="es-ES" smtClean="0"/>
              <a:pPr/>
              <a:t>10</a:t>
            </a:fld>
            <a:endParaRPr lang="es-E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None/>
            </a:pPr>
            <a:r>
              <a:rPr lang="es-CL" sz="1200" b="0" dirty="0">
                <a:solidFill>
                  <a:schemeClr val="tx2">
                    <a:lumMod val="50000"/>
                  </a:schemeClr>
                </a:solidFill>
                <a:latin typeface="Verdana" pitchFamily="34" charset="0"/>
                <a:ea typeface="Verdana" pitchFamily="34" charset="0"/>
                <a:cs typeface="Verdana" pitchFamily="34" charset="0"/>
              </a:rPr>
              <a:t>Entonces para describir de manera formal, </a:t>
            </a:r>
            <a:r>
              <a:rPr lang="es-CL" sz="1200" b="0" baseline="0" dirty="0">
                <a:solidFill>
                  <a:schemeClr val="tx2">
                    <a:lumMod val="50000"/>
                  </a:schemeClr>
                </a:solidFill>
                <a:latin typeface="Verdana" pitchFamily="34" charset="0"/>
                <a:ea typeface="Verdana" pitchFamily="34" charset="0"/>
                <a:cs typeface="Verdana" pitchFamily="34" charset="0"/>
              </a:rPr>
              <a:t>la estructura de un algoritmo estaría representada por:</a:t>
            </a:r>
          </a:p>
          <a:p>
            <a:pPr algn="just">
              <a:buNone/>
            </a:pPr>
            <a:endParaRPr lang="es-CL" sz="1200" b="0" dirty="0">
              <a:solidFill>
                <a:schemeClr val="tx2">
                  <a:lumMod val="50000"/>
                </a:schemeClr>
              </a:solidFill>
              <a:latin typeface="Verdana" pitchFamily="34" charset="0"/>
              <a:ea typeface="Verdana" pitchFamily="34" charset="0"/>
              <a:cs typeface="Verdana" pitchFamily="34" charset="0"/>
            </a:endParaRPr>
          </a:p>
          <a:p>
            <a:pPr algn="just">
              <a:buNone/>
            </a:pPr>
            <a:r>
              <a:rPr lang="es-CL" sz="1200" b="1" dirty="0">
                <a:solidFill>
                  <a:schemeClr val="tx2">
                    <a:lumMod val="50000"/>
                  </a:schemeClr>
                </a:solidFill>
                <a:latin typeface="Verdana" pitchFamily="34" charset="0"/>
                <a:ea typeface="Verdana" pitchFamily="34" charset="0"/>
                <a:cs typeface="Verdana" pitchFamily="34" charset="0"/>
              </a:rPr>
              <a:t>Datos de Entrada</a:t>
            </a:r>
            <a:r>
              <a:rPr lang="es-CL" sz="1200" dirty="0">
                <a:solidFill>
                  <a:schemeClr val="tx2">
                    <a:lumMod val="50000"/>
                  </a:schemeClr>
                </a:solidFill>
                <a:latin typeface="Verdana" pitchFamily="34" charset="0"/>
                <a:ea typeface="Verdana" pitchFamily="34" charset="0"/>
                <a:cs typeface="Verdana" pitchFamily="34" charset="0"/>
              </a:rPr>
              <a:t>: Representa la operación o acción que permite el ingreso de los datos del problema.</a:t>
            </a:r>
          </a:p>
          <a:p>
            <a:pPr algn="just">
              <a:buNone/>
            </a:pPr>
            <a:r>
              <a:rPr lang="es-CL" sz="1200" b="1" dirty="0">
                <a:solidFill>
                  <a:schemeClr val="tx2">
                    <a:lumMod val="50000"/>
                  </a:schemeClr>
                </a:solidFill>
                <a:latin typeface="Verdana" pitchFamily="34" charset="0"/>
                <a:ea typeface="Verdana" pitchFamily="34" charset="0"/>
                <a:cs typeface="Verdana" pitchFamily="34" charset="0"/>
              </a:rPr>
              <a:t>Procesamiento</a:t>
            </a:r>
            <a:r>
              <a:rPr lang="es-CL" sz="1200" dirty="0">
                <a:solidFill>
                  <a:schemeClr val="tx2">
                    <a:lumMod val="50000"/>
                  </a:schemeClr>
                </a:solidFill>
                <a:latin typeface="Verdana" pitchFamily="34" charset="0"/>
                <a:ea typeface="Verdana" pitchFamily="34" charset="0"/>
                <a:cs typeface="Verdana" pitchFamily="34" charset="0"/>
              </a:rPr>
              <a:t>: Representa la operación o el conjunto de operaciones secuenciales, cuyo objetivo es obtener la solución al problema.</a:t>
            </a:r>
          </a:p>
          <a:p>
            <a:pPr algn="just">
              <a:buNone/>
            </a:pPr>
            <a:r>
              <a:rPr lang="es-CL" sz="1200" b="1" dirty="0">
                <a:solidFill>
                  <a:schemeClr val="tx2">
                    <a:lumMod val="50000"/>
                  </a:schemeClr>
                </a:solidFill>
                <a:latin typeface="Verdana" pitchFamily="34" charset="0"/>
                <a:ea typeface="Verdana" pitchFamily="34" charset="0"/>
                <a:cs typeface="Verdana" pitchFamily="34" charset="0"/>
              </a:rPr>
              <a:t>Datos de Salida</a:t>
            </a:r>
            <a:r>
              <a:rPr lang="es-CL" sz="1200" dirty="0">
                <a:solidFill>
                  <a:schemeClr val="tx2">
                    <a:lumMod val="50000"/>
                  </a:schemeClr>
                </a:solidFill>
                <a:latin typeface="Verdana" pitchFamily="34" charset="0"/>
                <a:ea typeface="Verdana" pitchFamily="34" charset="0"/>
                <a:cs typeface="Verdana" pitchFamily="34" charset="0"/>
              </a:rPr>
              <a:t>: Representa la operación o el conjunto de operaciones que permiten comunicar al exterior el o los resultados esperados.</a:t>
            </a:r>
          </a:p>
          <a:p>
            <a:endParaRPr lang="es-CL" dirty="0"/>
          </a:p>
          <a:p>
            <a:r>
              <a:rPr lang="es-CL" dirty="0"/>
              <a:t>Un ejemplo es el</a:t>
            </a:r>
            <a:r>
              <a:rPr lang="es-CL" baseline="0" dirty="0"/>
              <a:t> algoritmo que convierte una medida de distancia en pies a metros.</a:t>
            </a:r>
          </a:p>
          <a:p>
            <a:r>
              <a:rPr lang="es-CL" baseline="0" dirty="0"/>
              <a:t>Primero se entrega como dato de entrada los pies a transformar,</a:t>
            </a:r>
          </a:p>
          <a:p>
            <a:r>
              <a:rPr lang="es-CL" baseline="0" dirty="0"/>
              <a:t>Luego, se procesa aritméticamente la conversión,</a:t>
            </a:r>
          </a:p>
          <a:p>
            <a:r>
              <a:rPr lang="es-CL" baseline="0" dirty="0"/>
              <a:t>para luego mostrar el resultado de la salida en metros.</a:t>
            </a:r>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11</a:t>
            </a:fld>
            <a:endParaRPr lang="es-E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just">
              <a:buNone/>
            </a:pPr>
            <a:r>
              <a:rPr lang="es-CL" sz="1200" b="1" dirty="0">
                <a:solidFill>
                  <a:srgbClr val="FFC000"/>
                </a:solidFill>
                <a:latin typeface="Verdana" pitchFamily="34" charset="0"/>
                <a:ea typeface="Verdana" pitchFamily="34" charset="0"/>
                <a:cs typeface="Verdana" pitchFamily="34" charset="0"/>
              </a:rPr>
              <a:t>Análisis del Problema</a:t>
            </a:r>
            <a:r>
              <a:rPr lang="es-CL" sz="1200" dirty="0">
                <a:solidFill>
                  <a:srgbClr val="FFC000"/>
                </a:solidFill>
                <a:latin typeface="Verdana" pitchFamily="34" charset="0"/>
                <a:ea typeface="Verdana" pitchFamily="34" charset="0"/>
                <a:cs typeface="Verdana" pitchFamily="34" charset="0"/>
              </a:rPr>
              <a:t> y </a:t>
            </a:r>
            <a:r>
              <a:rPr lang="es-CL" sz="1200" b="1" dirty="0">
                <a:solidFill>
                  <a:srgbClr val="FFC000"/>
                </a:solidFill>
                <a:latin typeface="Verdana" pitchFamily="34" charset="0"/>
                <a:ea typeface="Verdana" pitchFamily="34" charset="0"/>
                <a:cs typeface="Verdana" pitchFamily="34" charset="0"/>
              </a:rPr>
              <a:t>Diseño </a:t>
            </a:r>
            <a:r>
              <a:rPr lang="es-CL" sz="1200" b="1" dirty="0">
                <a:solidFill>
                  <a:schemeClr val="tx2">
                    <a:lumMod val="50000"/>
                  </a:schemeClr>
                </a:solidFill>
                <a:latin typeface="Verdana" pitchFamily="34" charset="0"/>
                <a:ea typeface="Verdana" pitchFamily="34" charset="0"/>
                <a:cs typeface="Verdana" pitchFamily="34" charset="0"/>
              </a:rPr>
              <a:t>del Algoritmo</a:t>
            </a:r>
            <a:r>
              <a:rPr lang="es-CL" sz="1200" dirty="0">
                <a:solidFill>
                  <a:schemeClr val="tx2">
                    <a:lumMod val="50000"/>
                  </a:schemeClr>
                </a:solidFill>
                <a:latin typeface="Verdana" pitchFamily="34" charset="0"/>
                <a:ea typeface="Verdana" pitchFamily="34" charset="0"/>
                <a:cs typeface="Verdana" pitchFamily="34" charset="0"/>
              </a:rPr>
              <a:t> conducen a un diseño detallado escrito en forma de algoritmo.</a:t>
            </a:r>
            <a:r>
              <a:rPr lang="es-CL" sz="1200" baseline="0" dirty="0">
                <a:solidFill>
                  <a:schemeClr val="tx2">
                    <a:lumMod val="50000"/>
                  </a:schemeClr>
                </a:solidFill>
                <a:latin typeface="Verdana" pitchFamily="34" charset="0"/>
                <a:ea typeface="Verdana" pitchFamily="34" charset="0"/>
                <a:cs typeface="Verdana" pitchFamily="34" charset="0"/>
              </a:rPr>
              <a:t> </a:t>
            </a:r>
            <a:r>
              <a:rPr lang="es-CL" sz="1200" dirty="0">
                <a:solidFill>
                  <a:schemeClr val="tx2">
                    <a:lumMod val="50000"/>
                  </a:schemeClr>
                </a:solidFill>
                <a:latin typeface="Verdana" pitchFamily="34" charset="0"/>
                <a:ea typeface="Verdana" pitchFamily="34" charset="0"/>
                <a:cs typeface="Verdana" pitchFamily="34" charset="0"/>
              </a:rPr>
              <a:t>El análisis requiere una clara definición de lo que debe hacer el programa y el resultado deseado. Para poder definir el problema es conveniente resolver las siguientes preguntas:</a:t>
            </a:r>
          </a:p>
          <a:p>
            <a:pPr algn="just">
              <a:buNone/>
            </a:pPr>
            <a:endParaRPr lang="es-CL" sz="1200" dirty="0">
              <a:solidFill>
                <a:schemeClr val="tx2">
                  <a:lumMod val="50000"/>
                </a:schemeClr>
              </a:solidFill>
              <a:latin typeface="Verdana" pitchFamily="34" charset="0"/>
              <a:ea typeface="Verdana" pitchFamily="34" charset="0"/>
              <a:cs typeface="Verdana" pitchFamily="34" charset="0"/>
            </a:endParaRPr>
          </a:p>
          <a:p>
            <a:pPr algn="just">
              <a:buNone/>
            </a:pPr>
            <a:r>
              <a:rPr lang="es-CL" sz="1200" dirty="0">
                <a:solidFill>
                  <a:schemeClr val="tx2">
                    <a:lumMod val="50000"/>
                  </a:schemeClr>
                </a:solidFill>
                <a:latin typeface="Verdana" pitchFamily="34" charset="0"/>
                <a:ea typeface="Verdana" pitchFamily="34" charset="0"/>
                <a:cs typeface="Verdana" pitchFamily="34" charset="0"/>
              </a:rPr>
              <a:t>¿qué entradas se requieren?</a:t>
            </a:r>
          </a:p>
          <a:p>
            <a:pPr algn="just">
              <a:buNone/>
            </a:pPr>
            <a:r>
              <a:rPr lang="es-CL" sz="1200" dirty="0">
                <a:solidFill>
                  <a:schemeClr val="tx2">
                    <a:lumMod val="50000"/>
                  </a:schemeClr>
                </a:solidFill>
                <a:latin typeface="Verdana" pitchFamily="34" charset="0"/>
                <a:ea typeface="Verdana" pitchFamily="34" charset="0"/>
                <a:cs typeface="Verdana" pitchFamily="34" charset="0"/>
              </a:rPr>
              <a:t>¿cuáles son las salidas esperadas?</a:t>
            </a:r>
          </a:p>
          <a:p>
            <a:pPr algn="just">
              <a:buNone/>
            </a:pPr>
            <a:r>
              <a:rPr lang="es-CL" sz="1200" dirty="0">
                <a:solidFill>
                  <a:schemeClr val="tx2">
                    <a:lumMod val="50000"/>
                  </a:schemeClr>
                </a:solidFill>
                <a:latin typeface="Verdana" pitchFamily="34" charset="0"/>
                <a:ea typeface="Verdana" pitchFamily="34" charset="0"/>
                <a:cs typeface="Verdana" pitchFamily="34" charset="0"/>
              </a:rPr>
              <a:t>¿qué método produce la salida deseada?</a:t>
            </a:r>
          </a:p>
          <a:p>
            <a:pPr algn="just">
              <a:buNone/>
            </a:pPr>
            <a:endParaRPr lang="es-CL" sz="1200" dirty="0">
              <a:solidFill>
                <a:schemeClr val="tx2">
                  <a:lumMod val="50000"/>
                </a:schemeClr>
              </a:solidFill>
              <a:latin typeface="Verdana" pitchFamily="34" charset="0"/>
              <a:ea typeface="Verdana" pitchFamily="34" charset="0"/>
              <a:cs typeface="Verdana" pitchFamily="34" charset="0"/>
            </a:endParaRPr>
          </a:p>
          <a:p>
            <a:pPr algn="just">
              <a:buNone/>
            </a:pPr>
            <a:r>
              <a:rPr lang="es-CL" sz="1200" dirty="0">
                <a:solidFill>
                  <a:schemeClr val="tx2">
                    <a:lumMod val="50000"/>
                  </a:schemeClr>
                </a:solidFill>
                <a:latin typeface="Verdana" pitchFamily="34" charset="0"/>
                <a:ea typeface="Verdana" pitchFamily="34" charset="0"/>
                <a:cs typeface="Verdana" pitchFamily="34" charset="0"/>
              </a:rPr>
              <a:t>En el diseño se determina cómo hace el programa la tarea solicitada. Es común aplicar técnicas en la cual el problema lo</a:t>
            </a:r>
            <a:r>
              <a:rPr lang="es-CL" sz="1200" baseline="0" dirty="0">
                <a:solidFill>
                  <a:schemeClr val="tx2">
                    <a:lumMod val="50000"/>
                  </a:schemeClr>
                </a:solidFill>
                <a:latin typeface="Verdana" pitchFamily="34" charset="0"/>
                <a:ea typeface="Verdana" pitchFamily="34" charset="0"/>
                <a:cs typeface="Verdana" pitchFamily="34" charset="0"/>
              </a:rPr>
              <a:t> vamos dividiendo en problemas más pequeños para aplicar el diseño del algoritmo</a:t>
            </a:r>
            <a:r>
              <a:rPr lang="es-CL" sz="1200" dirty="0">
                <a:solidFill>
                  <a:schemeClr val="tx2">
                    <a:lumMod val="50000"/>
                  </a:schemeClr>
                </a:solidFill>
                <a:latin typeface="Verdana" pitchFamily="34" charset="0"/>
                <a:ea typeface="Verdana" pitchFamily="34" charset="0"/>
                <a:cs typeface="Verdana" pitchFamily="34" charset="0"/>
              </a:rPr>
              <a:t> ("divide y vencerás").</a:t>
            </a:r>
          </a:p>
          <a:p>
            <a:pPr algn="just">
              <a:buNone/>
            </a:pPr>
            <a:endParaRPr lang="es-CL" sz="1200" dirty="0">
              <a:solidFill>
                <a:schemeClr val="tx2">
                  <a:lumMod val="50000"/>
                </a:schemeClr>
              </a:solidFill>
              <a:latin typeface="Verdana" pitchFamily="34" charset="0"/>
              <a:ea typeface="Verdana" pitchFamily="34" charset="0"/>
              <a:cs typeface="Verdana" pitchFamily="34" charset="0"/>
            </a:endParaRPr>
          </a:p>
          <a:p>
            <a:pPr algn="just">
              <a:buNone/>
            </a:pPr>
            <a:r>
              <a:rPr lang="es-CL" sz="1200" dirty="0">
                <a:solidFill>
                  <a:schemeClr val="tx2">
                    <a:lumMod val="50000"/>
                  </a:schemeClr>
                </a:solidFill>
                <a:latin typeface="Verdana" pitchFamily="34" charset="0"/>
                <a:ea typeface="Verdana" pitchFamily="34" charset="0"/>
                <a:cs typeface="Verdana" pitchFamily="34" charset="0"/>
              </a:rPr>
              <a:t>En la </a:t>
            </a:r>
            <a:r>
              <a:rPr lang="es-CL" sz="1200" b="1" dirty="0">
                <a:solidFill>
                  <a:srgbClr val="FFC000"/>
                </a:solidFill>
                <a:latin typeface="Verdana" pitchFamily="34" charset="0"/>
                <a:ea typeface="Verdana" pitchFamily="34" charset="0"/>
                <a:cs typeface="Verdana" pitchFamily="34" charset="0"/>
              </a:rPr>
              <a:t>Codificación</a:t>
            </a:r>
            <a:r>
              <a:rPr lang="es-CL" sz="1200" dirty="0">
                <a:solidFill>
                  <a:schemeClr val="tx2">
                    <a:lumMod val="50000"/>
                  </a:schemeClr>
                </a:solidFill>
                <a:latin typeface="Verdana" pitchFamily="34" charset="0"/>
                <a:ea typeface="Verdana" pitchFamily="34" charset="0"/>
                <a:cs typeface="Verdana" pitchFamily="34" charset="0"/>
              </a:rPr>
              <a:t> se implementa el algoritmo en un código escrito en un lenguaje de programación.</a:t>
            </a:r>
          </a:p>
          <a:p>
            <a:pPr algn="just">
              <a:buNone/>
            </a:pPr>
            <a:endParaRPr lang="es-CL" sz="1200" dirty="0">
              <a:solidFill>
                <a:schemeClr val="tx2">
                  <a:lumMod val="50000"/>
                </a:schemeClr>
              </a:solidFill>
              <a:latin typeface="Verdana" pitchFamily="34" charset="0"/>
              <a:ea typeface="Verdana" pitchFamily="34" charset="0"/>
              <a:cs typeface="Verdana" pitchFamily="34" charset="0"/>
            </a:endParaRPr>
          </a:p>
          <a:p>
            <a:pPr algn="just">
              <a:buNone/>
            </a:pPr>
            <a:r>
              <a:rPr lang="es-CL" sz="1200" dirty="0">
                <a:solidFill>
                  <a:schemeClr val="tx2">
                    <a:lumMod val="50000"/>
                  </a:schemeClr>
                </a:solidFill>
                <a:latin typeface="Verdana" pitchFamily="34" charset="0"/>
                <a:ea typeface="Verdana" pitchFamily="34" charset="0"/>
                <a:cs typeface="Verdana" pitchFamily="34" charset="0"/>
              </a:rPr>
              <a:t>La fase de </a:t>
            </a:r>
            <a:r>
              <a:rPr lang="es-CL" sz="1200" b="1" dirty="0">
                <a:solidFill>
                  <a:schemeClr val="tx2">
                    <a:lumMod val="50000"/>
                  </a:schemeClr>
                </a:solidFill>
                <a:latin typeface="Verdana" pitchFamily="34" charset="0"/>
                <a:ea typeface="Verdana" pitchFamily="34" charset="0"/>
                <a:cs typeface="Verdana" pitchFamily="34" charset="0"/>
              </a:rPr>
              <a:t>Compilación y Ejecución</a:t>
            </a:r>
            <a:r>
              <a:rPr lang="es-CL" sz="1200" dirty="0">
                <a:solidFill>
                  <a:schemeClr val="tx2">
                    <a:lumMod val="50000"/>
                  </a:schemeClr>
                </a:solidFill>
                <a:latin typeface="Verdana" pitchFamily="34" charset="0"/>
                <a:ea typeface="Verdana" pitchFamily="34" charset="0"/>
                <a:cs typeface="Verdana" pitchFamily="34" charset="0"/>
              </a:rPr>
              <a:t> traduce y ejecuta el programa.</a:t>
            </a:r>
          </a:p>
          <a:p>
            <a:pPr marL="0" marR="0" indent="0" algn="just" defTabSz="914400" rtl="0" eaLnBrk="1" fontAlgn="auto" latinLnBrk="0" hangingPunct="1">
              <a:lnSpc>
                <a:spcPct val="100000"/>
              </a:lnSpc>
              <a:spcBef>
                <a:spcPts val="0"/>
              </a:spcBef>
              <a:spcAft>
                <a:spcPts val="0"/>
              </a:spcAft>
              <a:buClrTx/>
              <a:buSzTx/>
              <a:buFontTx/>
              <a:buNone/>
              <a:tabLst/>
              <a:defRPr/>
            </a:pPr>
            <a:endParaRPr lang="es-CL" sz="1200" dirty="0">
              <a:solidFill>
                <a:schemeClr val="tx2">
                  <a:lumMod val="50000"/>
                </a:schemeClr>
              </a:solidFill>
              <a:latin typeface="Verdana" pitchFamily="34" charset="0"/>
              <a:ea typeface="Verdana" pitchFamily="34" charset="0"/>
              <a:cs typeface="Verdana"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s-CL" sz="1200" dirty="0">
                <a:solidFill>
                  <a:schemeClr val="tx2">
                    <a:lumMod val="50000"/>
                  </a:schemeClr>
                </a:solidFill>
                <a:latin typeface="Verdana" pitchFamily="34" charset="0"/>
                <a:ea typeface="Verdana" pitchFamily="34" charset="0"/>
                <a:cs typeface="Verdana" pitchFamily="34" charset="0"/>
              </a:rPr>
              <a:t>En las fases de </a:t>
            </a:r>
            <a:r>
              <a:rPr lang="es-CL" sz="1200" b="1" dirty="0">
                <a:solidFill>
                  <a:srgbClr val="FFC000"/>
                </a:solidFill>
                <a:latin typeface="Verdana" pitchFamily="34" charset="0"/>
                <a:ea typeface="Verdana" pitchFamily="34" charset="0"/>
                <a:cs typeface="Verdana" pitchFamily="34" charset="0"/>
              </a:rPr>
              <a:t>Verificación y Depuración</a:t>
            </a:r>
            <a:r>
              <a:rPr lang="es-CL" sz="1200" dirty="0">
                <a:solidFill>
                  <a:srgbClr val="FFC000"/>
                </a:solidFill>
                <a:latin typeface="Verdana" pitchFamily="34" charset="0"/>
                <a:ea typeface="Verdana" pitchFamily="34" charset="0"/>
                <a:cs typeface="Verdana" pitchFamily="34" charset="0"/>
              </a:rPr>
              <a:t> </a:t>
            </a:r>
            <a:r>
              <a:rPr lang="es-CL" sz="1200" dirty="0">
                <a:solidFill>
                  <a:schemeClr val="tx2">
                    <a:lumMod val="50000"/>
                  </a:schemeClr>
                </a:solidFill>
                <a:latin typeface="Verdana" pitchFamily="34" charset="0"/>
                <a:ea typeface="Verdana" pitchFamily="34" charset="0"/>
                <a:cs typeface="Verdana" pitchFamily="34" charset="0"/>
              </a:rPr>
              <a:t>el programador busca errores de las etapas anteriores y los elimina. Para realizar la verificación se deben probar una amplia gama de datos de test.</a:t>
            </a:r>
          </a:p>
          <a:p>
            <a:pPr marL="0" marR="0" indent="0" algn="just" defTabSz="914400" rtl="0" eaLnBrk="1" fontAlgn="auto" latinLnBrk="0" hangingPunct="1">
              <a:lnSpc>
                <a:spcPct val="100000"/>
              </a:lnSpc>
              <a:spcBef>
                <a:spcPts val="0"/>
              </a:spcBef>
              <a:spcAft>
                <a:spcPts val="0"/>
              </a:spcAft>
              <a:buClrTx/>
              <a:buSzTx/>
              <a:buFontTx/>
              <a:buNone/>
              <a:tabLst/>
              <a:defRPr/>
            </a:pPr>
            <a:endParaRPr lang="es-CL" sz="1200" dirty="0">
              <a:solidFill>
                <a:schemeClr val="tx2">
                  <a:lumMod val="50000"/>
                </a:schemeClr>
              </a:solidFill>
              <a:latin typeface="Verdana" pitchFamily="34" charset="0"/>
              <a:ea typeface="Verdana" pitchFamily="34" charset="0"/>
              <a:cs typeface="Verdana"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s-CL" sz="1200" dirty="0">
                <a:solidFill>
                  <a:schemeClr val="tx2">
                    <a:lumMod val="50000"/>
                  </a:schemeClr>
                </a:solidFill>
                <a:latin typeface="Verdana" pitchFamily="34" charset="0"/>
                <a:ea typeface="Verdana" pitchFamily="34" charset="0"/>
                <a:cs typeface="Verdana" pitchFamily="34" charset="0"/>
              </a:rPr>
              <a:t>Comprobará que mientras más tiempo se invierta en la fase de análisis y diseño  menos tiempo se perderá en la depuración del programa.</a:t>
            </a:r>
          </a:p>
          <a:p>
            <a:pPr marL="0" marR="0" indent="0" algn="just" defTabSz="914400" rtl="0" eaLnBrk="1" fontAlgn="auto" latinLnBrk="0" hangingPunct="1">
              <a:lnSpc>
                <a:spcPct val="100000"/>
              </a:lnSpc>
              <a:spcBef>
                <a:spcPts val="0"/>
              </a:spcBef>
              <a:spcAft>
                <a:spcPts val="0"/>
              </a:spcAft>
              <a:buClrTx/>
              <a:buSzTx/>
              <a:buFontTx/>
              <a:buNone/>
              <a:tabLst/>
              <a:defRPr/>
            </a:pPr>
            <a:endParaRPr lang="es-CL" sz="1200" dirty="0">
              <a:solidFill>
                <a:schemeClr val="tx2">
                  <a:lumMod val="50000"/>
                </a:schemeClr>
              </a:solidFill>
              <a:latin typeface="Verdana" pitchFamily="34" charset="0"/>
              <a:ea typeface="Verdana" pitchFamily="34" charset="0"/>
              <a:cs typeface="Verdana"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s-ES_tradnl" sz="1200" dirty="0">
                <a:solidFill>
                  <a:schemeClr val="tx2">
                    <a:lumMod val="50000"/>
                  </a:schemeClr>
                </a:solidFill>
                <a:latin typeface="Verdana" pitchFamily="34" charset="0"/>
                <a:ea typeface="Verdana" pitchFamily="34" charset="0"/>
                <a:cs typeface="Verdana" pitchFamily="34" charset="0"/>
              </a:rPr>
              <a:t>La </a:t>
            </a:r>
            <a:r>
              <a:rPr lang="es-ES_tradnl" sz="1200" b="1" dirty="0">
                <a:solidFill>
                  <a:srgbClr val="FFC000"/>
                </a:solidFill>
                <a:latin typeface="Verdana" pitchFamily="34" charset="0"/>
                <a:ea typeface="Verdana" pitchFamily="34" charset="0"/>
                <a:cs typeface="Verdana" pitchFamily="34" charset="0"/>
              </a:rPr>
              <a:t>Documentación</a:t>
            </a:r>
            <a:r>
              <a:rPr lang="es-ES_tradnl" sz="1200" dirty="0">
                <a:solidFill>
                  <a:schemeClr val="tx2">
                    <a:lumMod val="50000"/>
                  </a:schemeClr>
                </a:solidFill>
                <a:latin typeface="Verdana" pitchFamily="34" charset="0"/>
                <a:ea typeface="Verdana" pitchFamily="34" charset="0"/>
                <a:cs typeface="Verdana" pitchFamily="34" charset="0"/>
              </a:rPr>
              <a:t> consta de las descripciones de los pasos en la resolución del problema. Programas pobremente documentados son difíciles de leer, de depurar, de mantener y modificar.</a:t>
            </a:r>
          </a:p>
          <a:p>
            <a:pPr marL="0" marR="0" indent="0" algn="just" defTabSz="914400" rtl="0" eaLnBrk="1" fontAlgn="auto" latinLnBrk="0" hangingPunct="1">
              <a:lnSpc>
                <a:spcPct val="100000"/>
              </a:lnSpc>
              <a:spcBef>
                <a:spcPts val="0"/>
              </a:spcBef>
              <a:spcAft>
                <a:spcPts val="0"/>
              </a:spcAft>
              <a:buClrTx/>
              <a:buSzTx/>
              <a:buFontTx/>
              <a:buNone/>
              <a:tabLst/>
              <a:defRPr/>
            </a:pPr>
            <a:endParaRPr lang="es-ES_tradnl" sz="1200" dirty="0">
              <a:solidFill>
                <a:schemeClr val="tx2">
                  <a:lumMod val="50000"/>
                </a:schemeClr>
              </a:solidFill>
              <a:latin typeface="Verdana" pitchFamily="34" charset="0"/>
              <a:ea typeface="Verdana" pitchFamily="34" charset="0"/>
              <a:cs typeface="Verdana" pitchFamily="34" charset="0"/>
            </a:endParaRPr>
          </a:p>
          <a:p>
            <a:pPr algn="just">
              <a:buNone/>
            </a:pPr>
            <a:r>
              <a:rPr lang="es-ES_tradnl" sz="1200" dirty="0">
                <a:solidFill>
                  <a:schemeClr val="tx2">
                    <a:lumMod val="50000"/>
                  </a:schemeClr>
                </a:solidFill>
                <a:latin typeface="Verdana" pitchFamily="34" charset="0"/>
                <a:ea typeface="Verdana" pitchFamily="34" charset="0"/>
                <a:cs typeface="Verdana" pitchFamily="34" charset="0"/>
              </a:rPr>
              <a:t>La documentación puede ser interna y externa. La interna es la contenida en líneas de comentarios. La externa incluye análisis, diagramas de flujo, pseudocódigos y manuales de usuario.</a:t>
            </a:r>
          </a:p>
          <a:p>
            <a:pPr algn="just">
              <a:buNone/>
            </a:pPr>
            <a:endParaRPr lang="es-ES_tradnl" sz="1200" dirty="0">
              <a:solidFill>
                <a:schemeClr val="tx2">
                  <a:lumMod val="50000"/>
                </a:schemeClr>
              </a:solidFill>
              <a:latin typeface="Verdana" pitchFamily="34" charset="0"/>
              <a:ea typeface="Verdana" pitchFamily="34" charset="0"/>
              <a:cs typeface="Verdana" pitchFamily="34" charset="0"/>
            </a:endParaRPr>
          </a:p>
          <a:p>
            <a:pPr algn="just">
              <a:buNone/>
            </a:pPr>
            <a:r>
              <a:rPr lang="es-ES_tradnl" sz="1200" dirty="0">
                <a:solidFill>
                  <a:schemeClr val="tx2">
                    <a:lumMod val="50000"/>
                  </a:schemeClr>
                </a:solidFill>
                <a:latin typeface="Verdana" pitchFamily="34" charset="0"/>
                <a:ea typeface="Verdana" pitchFamily="34" charset="0"/>
                <a:cs typeface="Verdana" pitchFamily="34" charset="0"/>
              </a:rPr>
              <a:t>La documentación es vital cuando se desea corregir posibles errores futuros o bien cambiar el programa. Tales cambios se denominan </a:t>
            </a:r>
            <a:r>
              <a:rPr lang="es-ES_tradnl" sz="1200" b="1" dirty="0">
                <a:solidFill>
                  <a:srgbClr val="FFC000"/>
                </a:solidFill>
                <a:latin typeface="Verdana" pitchFamily="34" charset="0"/>
                <a:ea typeface="Verdana" pitchFamily="34" charset="0"/>
                <a:cs typeface="Verdana" pitchFamily="34" charset="0"/>
              </a:rPr>
              <a:t>Mantención</a:t>
            </a:r>
            <a:r>
              <a:rPr lang="es-ES_tradnl" sz="1200" dirty="0">
                <a:solidFill>
                  <a:schemeClr val="tx2">
                    <a:lumMod val="50000"/>
                  </a:schemeClr>
                </a:solidFill>
                <a:latin typeface="Verdana" pitchFamily="34" charset="0"/>
                <a:ea typeface="Verdana" pitchFamily="34" charset="0"/>
                <a:cs typeface="Verdana" pitchFamily="34" charset="0"/>
              </a:rPr>
              <a:t> del programa. Después de cada cambio la documentación debe ser actualizada.</a:t>
            </a:r>
            <a:endParaRPr lang="es-CL" sz="1200" dirty="0">
              <a:solidFill>
                <a:schemeClr val="tx2">
                  <a:lumMod val="50000"/>
                </a:schemeClr>
              </a:solidFill>
              <a:latin typeface="Verdana" pitchFamily="34" charset="0"/>
              <a:ea typeface="Verdana" pitchFamily="34" charset="0"/>
              <a:cs typeface="Verdana" pitchFamily="34" charset="0"/>
            </a:endParaRPr>
          </a:p>
        </p:txBody>
      </p:sp>
      <p:sp>
        <p:nvSpPr>
          <p:cNvPr id="4" name="Slide Number Placeholder 3"/>
          <p:cNvSpPr>
            <a:spLocks noGrp="1"/>
          </p:cNvSpPr>
          <p:nvPr>
            <p:ph type="sldNum" sz="quarter" idx="10"/>
          </p:nvPr>
        </p:nvSpPr>
        <p:spPr/>
        <p:txBody>
          <a:bodyPr/>
          <a:lstStyle/>
          <a:p>
            <a:fld id="{3792D2CF-A01B-4515-8B40-3DC34258267A}" type="slidenum">
              <a:rPr lang="es-ES" smtClean="0"/>
              <a:pPr/>
              <a:t>12</a:t>
            </a:fld>
            <a:endParaRPr lang="es-E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CL" sz="1200" b="0" i="0" kern="1200" dirty="0">
                <a:solidFill>
                  <a:schemeClr val="tx1"/>
                </a:solidFill>
                <a:latin typeface="+mn-lt"/>
                <a:ea typeface="+mn-ea"/>
                <a:cs typeface="+mn-cs"/>
              </a:rPr>
              <a:t>Todas las acciones de un algoritmo deben estar bien definidas, esto es, ninguna acción puede ser ambigua, sino que cada una de ellas sólo se debe poder interpretar de una única manera. Dicho de otra forma, si el </a:t>
            </a:r>
            <a:r>
              <a:rPr lang="es-CL" sz="1200" b="0" i="0" u="none" strike="noStrike" kern="1200" dirty="0">
                <a:solidFill>
                  <a:schemeClr val="tx1"/>
                </a:solidFill>
                <a:latin typeface="+mn-lt"/>
                <a:ea typeface="+mn-ea"/>
                <a:cs typeface="+mn-cs"/>
                <a:hlinkClick r:id="rId3"/>
              </a:rPr>
              <a:t>programa</a:t>
            </a:r>
            <a:r>
              <a:rPr lang="es-CL" sz="1200" b="0" i="0" kern="1200" dirty="0">
                <a:solidFill>
                  <a:schemeClr val="tx1"/>
                </a:solidFill>
                <a:latin typeface="+mn-lt"/>
                <a:ea typeface="+mn-ea"/>
                <a:cs typeface="+mn-cs"/>
              </a:rPr>
              <a:t> que resulta de un algoritmo se ejecuta varias veces con los mismos datos de entrada, en todos los casos se obtendrán los mismos datos de salida.</a:t>
            </a:r>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13</a:t>
            </a:fld>
            <a:endParaRPr lang="es-E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CL" sz="1200" b="0" i="0" kern="1200" dirty="0">
                <a:solidFill>
                  <a:schemeClr val="tx1"/>
                </a:solidFill>
                <a:latin typeface="+mn-lt"/>
                <a:ea typeface="+mn-ea"/>
                <a:cs typeface="+mn-cs"/>
              </a:rPr>
              <a:t>En </a:t>
            </a:r>
            <a:r>
              <a:rPr lang="es-CL" sz="1200" b="0" i="0" u="none" strike="noStrike" kern="1200" dirty="0">
                <a:solidFill>
                  <a:schemeClr val="tx1"/>
                </a:solidFill>
                <a:latin typeface="+mn-lt"/>
                <a:ea typeface="+mn-ea"/>
                <a:cs typeface="+mn-cs"/>
                <a:hlinkClick r:id="rId3" tooltip="Ciencias de la computación"/>
              </a:rPr>
              <a:t>ciencias de la computación</a:t>
            </a:r>
            <a:r>
              <a:rPr lang="es-CL" sz="1200" b="0" i="0" kern="1200" dirty="0">
                <a:solidFill>
                  <a:schemeClr val="tx1"/>
                </a:solidFill>
                <a:latin typeface="+mn-lt"/>
                <a:ea typeface="+mn-ea"/>
                <a:cs typeface="+mn-cs"/>
              </a:rPr>
              <a:t>, un </a:t>
            </a:r>
            <a:r>
              <a:rPr lang="es-CL" sz="1200" b="1" i="0" kern="1200" dirty="0">
                <a:solidFill>
                  <a:schemeClr val="tx1"/>
                </a:solidFill>
                <a:latin typeface="+mn-lt"/>
                <a:ea typeface="+mn-ea"/>
                <a:cs typeface="+mn-cs"/>
              </a:rPr>
              <a:t>algoritmo determinista</a:t>
            </a:r>
            <a:r>
              <a:rPr lang="es-CL" sz="1200" b="0" i="0" kern="1200" dirty="0">
                <a:solidFill>
                  <a:schemeClr val="tx1"/>
                </a:solidFill>
                <a:latin typeface="+mn-lt"/>
                <a:ea typeface="+mn-ea"/>
                <a:cs typeface="+mn-cs"/>
              </a:rPr>
              <a:t> es un </a:t>
            </a:r>
            <a:r>
              <a:rPr lang="es-CL" sz="1200" b="0" i="0" u="none" strike="noStrike" kern="1200" dirty="0">
                <a:solidFill>
                  <a:schemeClr val="tx1"/>
                </a:solidFill>
                <a:latin typeface="+mn-lt"/>
                <a:ea typeface="+mn-ea"/>
                <a:cs typeface="+mn-cs"/>
                <a:hlinkClick r:id="rId4" tooltip="Algoritmo"/>
              </a:rPr>
              <a:t>algoritmo</a:t>
            </a:r>
            <a:r>
              <a:rPr lang="es-CL" sz="1200" b="0" i="0" kern="1200" dirty="0">
                <a:solidFill>
                  <a:schemeClr val="tx1"/>
                </a:solidFill>
                <a:latin typeface="+mn-lt"/>
                <a:ea typeface="+mn-ea"/>
                <a:cs typeface="+mn-cs"/>
              </a:rPr>
              <a:t> que, en términos informales, es completamente predictivo si se conocen sus </a:t>
            </a:r>
            <a:r>
              <a:rPr lang="es-CL" sz="1200" b="0" i="0" u="none" strike="noStrike" kern="1200" dirty="0">
                <a:solidFill>
                  <a:schemeClr val="tx1"/>
                </a:solidFill>
                <a:latin typeface="+mn-lt"/>
                <a:ea typeface="+mn-ea"/>
                <a:cs typeface="+mn-cs"/>
                <a:hlinkClick r:id="rId5" tooltip="Entrada"/>
              </a:rPr>
              <a:t>entradas</a:t>
            </a:r>
            <a:r>
              <a:rPr lang="es-CL" sz="1200" b="0" i="0" kern="1200" dirty="0">
                <a:solidFill>
                  <a:schemeClr val="tx1"/>
                </a:solidFill>
                <a:latin typeface="+mn-lt"/>
                <a:ea typeface="+mn-ea"/>
                <a:cs typeface="+mn-cs"/>
              </a:rPr>
              <a:t>. Dicho de otra forma, si se conocen las entradas del algoritmo siempre producirá la misma </a:t>
            </a:r>
            <a:r>
              <a:rPr lang="es-CL" sz="1200" b="0" i="0" u="none" strike="noStrike" kern="1200" dirty="0">
                <a:solidFill>
                  <a:schemeClr val="tx1"/>
                </a:solidFill>
                <a:latin typeface="+mn-lt"/>
                <a:ea typeface="+mn-ea"/>
                <a:cs typeface="+mn-cs"/>
                <a:hlinkClick r:id="rId6" tooltip="Salida (informática)"/>
              </a:rPr>
              <a:t>salida</a:t>
            </a:r>
            <a:r>
              <a:rPr lang="es-CL" sz="1200" b="0" i="0" u="none" strike="noStrike" kern="1200" dirty="0">
                <a:solidFill>
                  <a:schemeClr val="tx1"/>
                </a:solidFill>
                <a:latin typeface="+mn-lt"/>
                <a:ea typeface="+mn-ea"/>
                <a:cs typeface="+mn-cs"/>
              </a:rPr>
              <a:t>.</a:t>
            </a:r>
            <a:r>
              <a:rPr lang="es-CL" sz="1200" b="0" i="0" u="none" strike="noStrike" kern="1200" baseline="0" dirty="0">
                <a:solidFill>
                  <a:schemeClr val="tx1"/>
                </a:solidFill>
                <a:latin typeface="+mn-lt"/>
                <a:ea typeface="+mn-ea"/>
                <a:cs typeface="+mn-cs"/>
              </a:rPr>
              <a:t> </a:t>
            </a:r>
            <a:r>
              <a:rPr lang="es-CL" sz="1200" b="0" i="0" kern="1200" dirty="0">
                <a:solidFill>
                  <a:schemeClr val="tx1"/>
                </a:solidFill>
                <a:latin typeface="+mn-lt"/>
                <a:ea typeface="+mn-ea"/>
                <a:cs typeface="+mn-cs"/>
              </a:rPr>
              <a:t>Este tipo de algoritmos ha sido el más estudiado durante la historia y por lo tanto resulta ser el tipo más familiar de los algoritmos, así como el más práctico ya que puede ejecutarse en las máquinas eficientemente.</a:t>
            </a:r>
          </a:p>
          <a:p>
            <a:endParaRPr lang="es-CL" sz="1200" b="0" i="0" kern="1200" dirty="0">
              <a:solidFill>
                <a:schemeClr val="tx1"/>
              </a:solidFill>
              <a:latin typeface="+mn-lt"/>
              <a:ea typeface="+mn-ea"/>
              <a:cs typeface="+mn-cs"/>
            </a:endParaRPr>
          </a:p>
          <a:p>
            <a:r>
              <a:rPr lang="es-CL" sz="1200" b="0" i="0" kern="1200" dirty="0">
                <a:solidFill>
                  <a:schemeClr val="tx1"/>
                </a:solidFill>
                <a:latin typeface="+mn-lt"/>
                <a:ea typeface="+mn-ea"/>
                <a:cs typeface="+mn-cs"/>
              </a:rPr>
              <a:t>Un modelo simple de algoritmo determinista es la </a:t>
            </a:r>
            <a:r>
              <a:rPr lang="es-CL" sz="1200" b="0" i="0" u="none" strike="noStrike" kern="1200" dirty="0">
                <a:solidFill>
                  <a:schemeClr val="tx1"/>
                </a:solidFill>
                <a:latin typeface="+mn-lt"/>
                <a:ea typeface="+mn-ea"/>
                <a:cs typeface="+mn-cs"/>
                <a:hlinkClick r:id="rId7" tooltip="Función (matemáticas)"/>
              </a:rPr>
              <a:t>función matemática</a:t>
            </a:r>
            <a:r>
              <a:rPr lang="es-CL" sz="1200" b="0" i="0" kern="1200" dirty="0">
                <a:solidFill>
                  <a:schemeClr val="tx1"/>
                </a:solidFill>
                <a:latin typeface="+mn-lt"/>
                <a:ea typeface="+mn-ea"/>
                <a:cs typeface="+mn-cs"/>
              </a:rPr>
              <a:t>, pues esta extrae siempre la misma salida para una entrada dada. No obstante un algoritmo describe explícitamente cómo la salida se obtiene de la entrada, mientras que las funciones definen implícitamente su salida.</a:t>
            </a:r>
          </a:p>
          <a:p>
            <a:endParaRPr lang="es-CL" sz="1200" b="0" i="0" kern="1200" dirty="0">
              <a:solidFill>
                <a:schemeClr val="tx1"/>
              </a:solidFill>
              <a:latin typeface="+mn-lt"/>
              <a:ea typeface="+mn-ea"/>
              <a:cs typeface="+mn-cs"/>
            </a:endParaRPr>
          </a:p>
          <a:p>
            <a:r>
              <a:rPr lang="es-CL" sz="1200" b="0" i="0" kern="1200" dirty="0">
                <a:solidFill>
                  <a:schemeClr val="tx1"/>
                </a:solidFill>
                <a:latin typeface="+mn-lt"/>
                <a:ea typeface="+mn-ea"/>
                <a:cs typeface="+mn-cs"/>
              </a:rPr>
              <a:t>Para algunos problemas es muy difícil implementar un algoritmo determinista. Por ejemplo, existen eficientes y simples </a:t>
            </a:r>
            <a:r>
              <a:rPr lang="es-CL" sz="1200" b="0" i="0" u="none" strike="noStrike" kern="1200" dirty="0">
                <a:solidFill>
                  <a:schemeClr val="tx1"/>
                </a:solidFill>
                <a:latin typeface="+mn-lt"/>
                <a:ea typeface="+mn-ea"/>
                <a:cs typeface="+mn-cs"/>
                <a:hlinkClick r:id="rId8" tooltip="Algoritmos probabilistas"/>
              </a:rPr>
              <a:t>algoritmos probabilistas</a:t>
            </a:r>
            <a:r>
              <a:rPr lang="es-CL" sz="1200" b="0" i="0" kern="1200" dirty="0">
                <a:solidFill>
                  <a:schemeClr val="tx1"/>
                </a:solidFill>
                <a:latin typeface="+mn-lt"/>
                <a:ea typeface="+mn-ea"/>
                <a:cs typeface="+mn-cs"/>
              </a:rPr>
              <a:t> que permiten solucionar cierto tipo de problemas con</a:t>
            </a:r>
            <a:r>
              <a:rPr lang="es-CL" sz="1200" b="0" i="0" kern="1200" baseline="0" dirty="0">
                <a:solidFill>
                  <a:schemeClr val="tx1"/>
                </a:solidFill>
                <a:latin typeface="+mn-lt"/>
                <a:ea typeface="+mn-ea"/>
                <a:cs typeface="+mn-cs"/>
              </a:rPr>
              <a:t> eficiencia, pero con una posibilidad pequeña de equivocarse. Por ejemplo, los algoritmos que utilizan los antivirus para decidir si un archivo es o no un virus, son algoritmos heurísticos no deterministas.</a:t>
            </a:r>
          </a:p>
          <a:p>
            <a:endParaRPr lang="es-CL"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92D2CF-A01B-4515-8B40-3DC34258267A}" type="slidenum">
              <a:rPr lang="es-ES" smtClean="0"/>
              <a:pPr/>
              <a:t>14</a:t>
            </a:fld>
            <a:endParaRPr lang="es-E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CL" sz="1200" b="0" i="0" kern="1200" dirty="0">
                <a:solidFill>
                  <a:schemeClr val="tx1"/>
                </a:solidFill>
                <a:latin typeface="+mn-lt"/>
                <a:ea typeface="+mn-ea"/>
                <a:cs typeface="+mn-cs"/>
              </a:rPr>
              <a:t>Respecto a las cualidades deseables de todo </a:t>
            </a:r>
            <a:r>
              <a:rPr lang="es-CL" sz="1200" b="0" i="0" u="none" strike="noStrike" kern="1200" dirty="0">
                <a:solidFill>
                  <a:schemeClr val="tx1"/>
                </a:solidFill>
                <a:latin typeface="+mn-lt"/>
                <a:ea typeface="+mn-ea"/>
                <a:cs typeface="+mn-cs"/>
                <a:hlinkClick r:id="rId3"/>
              </a:rPr>
              <a:t>algoritmo</a:t>
            </a:r>
            <a:r>
              <a:rPr lang="es-CL" sz="1200" b="0" i="0" kern="1200" dirty="0">
                <a:solidFill>
                  <a:schemeClr val="tx1"/>
                </a:solidFill>
                <a:latin typeface="+mn-lt"/>
                <a:ea typeface="+mn-ea"/>
                <a:cs typeface="+mn-cs"/>
              </a:rPr>
              <a:t> bien diseñado, la </a:t>
            </a:r>
            <a:r>
              <a:rPr lang="es-CL" sz="1200" b="1" i="0" kern="1200" dirty="0">
                <a:solidFill>
                  <a:schemeClr val="tx1"/>
                </a:solidFill>
                <a:latin typeface="+mn-lt"/>
                <a:ea typeface="+mn-ea"/>
                <a:cs typeface="+mn-cs"/>
              </a:rPr>
              <a:t>finitud</a:t>
            </a:r>
            <a:r>
              <a:rPr lang="es-CL" sz="1200" b="0" i="0" kern="1200" dirty="0">
                <a:solidFill>
                  <a:schemeClr val="tx1"/>
                </a:solidFill>
                <a:latin typeface="+mn-lt"/>
                <a:ea typeface="+mn-ea"/>
                <a:cs typeface="+mn-cs"/>
              </a:rPr>
              <a:t> hace referencia a que un algoritmo siempre tiene que finalizar tras un número finito de acciones.</a:t>
            </a:r>
          </a:p>
        </p:txBody>
      </p:sp>
      <p:sp>
        <p:nvSpPr>
          <p:cNvPr id="4" name="Slide Number Placeholder 3"/>
          <p:cNvSpPr>
            <a:spLocks noGrp="1"/>
          </p:cNvSpPr>
          <p:nvPr>
            <p:ph type="sldNum" sz="quarter" idx="10"/>
          </p:nvPr>
        </p:nvSpPr>
        <p:spPr/>
        <p:txBody>
          <a:bodyPr/>
          <a:lstStyle/>
          <a:p>
            <a:fld id="{3792D2CF-A01B-4515-8B40-3DC34258267A}" type="slidenum">
              <a:rPr lang="es-ES" smtClean="0"/>
              <a:pPr/>
              <a:t>15</a:t>
            </a:fld>
            <a:endParaRPr lang="es-E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None/>
            </a:pPr>
            <a:r>
              <a:rPr lang="es-CL" sz="1200" b="1" dirty="0">
                <a:solidFill>
                  <a:srgbClr val="FFC000"/>
                </a:solidFill>
                <a:latin typeface="Verdana" pitchFamily="34" charset="0"/>
                <a:ea typeface="Verdana" pitchFamily="34" charset="0"/>
                <a:cs typeface="Verdana" pitchFamily="34" charset="0"/>
              </a:rPr>
              <a:t>Directos</a:t>
            </a:r>
            <a:r>
              <a:rPr lang="es-CL" sz="1200" dirty="0">
                <a:solidFill>
                  <a:schemeClr val="tx2">
                    <a:lumMod val="50000"/>
                  </a:schemeClr>
                </a:solidFill>
                <a:latin typeface="Verdana" pitchFamily="34" charset="0"/>
                <a:ea typeface="Verdana" pitchFamily="34" charset="0"/>
                <a:cs typeface="Verdana" pitchFamily="34" charset="0"/>
              </a:rPr>
              <a:t>: Son aquellos que permiten encontrar la solución al problema de manera instantánea o directa, en un número determinado de pasos.</a:t>
            </a:r>
          </a:p>
          <a:p>
            <a:pPr algn="just">
              <a:buNone/>
            </a:pPr>
            <a:r>
              <a:rPr lang="es-CL" sz="1200" dirty="0">
                <a:solidFill>
                  <a:schemeClr val="tx2">
                    <a:lumMod val="50000"/>
                  </a:schemeClr>
                </a:solidFill>
                <a:latin typeface="Verdana" pitchFamily="34" charset="0"/>
                <a:ea typeface="Verdana" pitchFamily="34" charset="0"/>
                <a:cs typeface="Verdana" pitchFamily="34" charset="0"/>
              </a:rPr>
              <a:t>		Ejemplo: 2³ = 2 * 2 * 2 = 8</a:t>
            </a:r>
          </a:p>
          <a:p>
            <a:pPr algn="just">
              <a:buNone/>
            </a:pPr>
            <a:endParaRPr lang="es-CL" sz="1200" dirty="0">
              <a:solidFill>
                <a:schemeClr val="tx2">
                  <a:lumMod val="50000"/>
                </a:schemeClr>
              </a:solidFill>
              <a:latin typeface="Verdana" pitchFamily="34" charset="0"/>
              <a:ea typeface="Verdana" pitchFamily="34" charset="0"/>
              <a:cs typeface="Verdana" pitchFamily="34" charset="0"/>
            </a:endParaRPr>
          </a:p>
          <a:p>
            <a:pPr algn="just">
              <a:buNone/>
            </a:pPr>
            <a:r>
              <a:rPr lang="es-CL" sz="1200" b="1" dirty="0">
                <a:solidFill>
                  <a:srgbClr val="FFC000"/>
                </a:solidFill>
                <a:latin typeface="Verdana" pitchFamily="34" charset="0"/>
                <a:ea typeface="Verdana" pitchFamily="34" charset="0"/>
                <a:cs typeface="Verdana" pitchFamily="34" charset="0"/>
              </a:rPr>
              <a:t>Indirectos</a:t>
            </a:r>
            <a:r>
              <a:rPr lang="es-CL" sz="1200" dirty="0">
                <a:solidFill>
                  <a:schemeClr val="tx2">
                    <a:lumMod val="50000"/>
                  </a:schemeClr>
                </a:solidFill>
                <a:latin typeface="Verdana" pitchFamily="34" charset="0"/>
                <a:ea typeface="Verdana" pitchFamily="34" charset="0"/>
                <a:cs typeface="Verdana" pitchFamily="34" charset="0"/>
              </a:rPr>
              <a:t>: Son aquellos donde se desconoce el número de pasos para lograr la solución de un problema.</a:t>
            </a:r>
          </a:p>
          <a:p>
            <a:endParaRPr lang="es-ES" dirty="0"/>
          </a:p>
          <a:p>
            <a:pPr>
              <a:buNone/>
            </a:pPr>
            <a:r>
              <a:rPr lang="es-CL" sz="1200" dirty="0">
                <a:solidFill>
                  <a:schemeClr val="tx2">
                    <a:lumMod val="50000"/>
                  </a:schemeClr>
                </a:solidFill>
                <a:latin typeface="Verdana" pitchFamily="34" charset="0"/>
                <a:ea typeface="Verdana" pitchFamily="34" charset="0"/>
                <a:cs typeface="Verdana" pitchFamily="34" charset="0"/>
              </a:rPr>
              <a:t>Estos a su vez, se clasifican en:</a:t>
            </a:r>
          </a:p>
          <a:p>
            <a:pPr algn="just">
              <a:buNone/>
            </a:pPr>
            <a:r>
              <a:rPr lang="es-CL" sz="1200" b="1" i="1" dirty="0">
                <a:solidFill>
                  <a:srgbClr val="FFC000"/>
                </a:solidFill>
                <a:latin typeface="Verdana" pitchFamily="34" charset="0"/>
                <a:ea typeface="Verdana" pitchFamily="34" charset="0"/>
                <a:cs typeface="Verdana" pitchFamily="34" charset="0"/>
              </a:rPr>
              <a:t>Finito</a:t>
            </a:r>
            <a:r>
              <a:rPr lang="es-CL" sz="1200" dirty="0">
                <a:solidFill>
                  <a:schemeClr val="tx2">
                    <a:lumMod val="50000"/>
                  </a:schemeClr>
                </a:solidFill>
                <a:latin typeface="Verdana" pitchFamily="34" charset="0"/>
                <a:ea typeface="Verdana" pitchFamily="34" charset="0"/>
                <a:cs typeface="Verdana" pitchFamily="34" charset="0"/>
              </a:rPr>
              <a:t>: El número de pasos a realizar son conocidos así como la factibilidad de solución al problema planteado, o sea, que va a ver una respuesta al proceso. Ejemplo: Medir distancia A B (es factible que algún día pueda saber la distancia entre A y B).</a:t>
            </a:r>
          </a:p>
          <a:p>
            <a:pPr algn="just">
              <a:buNone/>
            </a:pPr>
            <a:r>
              <a:rPr lang="es-ES_tradnl" sz="1200" dirty="0">
                <a:solidFill>
                  <a:schemeClr val="tx2">
                    <a:lumMod val="50000"/>
                  </a:schemeClr>
                </a:solidFill>
                <a:latin typeface="Verdana" pitchFamily="34" charset="0"/>
                <a:ea typeface="Verdana" pitchFamily="34" charset="0"/>
                <a:cs typeface="Verdana" pitchFamily="34" charset="0"/>
              </a:rPr>
              <a:t>	</a:t>
            </a:r>
            <a:endParaRPr lang="es-CL" sz="1200" dirty="0">
              <a:solidFill>
                <a:schemeClr val="tx2">
                  <a:lumMod val="50000"/>
                </a:schemeClr>
              </a:solidFill>
              <a:latin typeface="Verdana" pitchFamily="34" charset="0"/>
              <a:ea typeface="Verdana" pitchFamily="34" charset="0"/>
              <a:cs typeface="Verdana" pitchFamily="34" charset="0"/>
            </a:endParaRPr>
          </a:p>
          <a:p>
            <a:pPr>
              <a:buNone/>
            </a:pPr>
            <a:r>
              <a:rPr lang="es-CL" sz="1200" b="1" i="1" dirty="0">
                <a:solidFill>
                  <a:srgbClr val="FFC000"/>
                </a:solidFill>
                <a:latin typeface="Verdana" pitchFamily="34" charset="0"/>
                <a:ea typeface="Verdana" pitchFamily="34" charset="0"/>
                <a:cs typeface="Verdana" pitchFamily="34" charset="0"/>
              </a:rPr>
              <a:t>Infinito</a:t>
            </a:r>
            <a:r>
              <a:rPr lang="es-CL" sz="1200" dirty="0">
                <a:solidFill>
                  <a:schemeClr val="tx2">
                    <a:lumMod val="50000"/>
                  </a:schemeClr>
                </a:solidFill>
                <a:latin typeface="Verdana" pitchFamily="34" charset="0"/>
                <a:ea typeface="Verdana" pitchFamily="34" charset="0"/>
                <a:cs typeface="Verdana" pitchFamily="34" charset="0"/>
              </a:rPr>
              <a:t>: Se desconoce el número de pasos a realizar, así como la imposibilidad de encontrar la solución al problema planteado.</a:t>
            </a:r>
          </a:p>
          <a:p>
            <a:pPr algn="just">
              <a:buNone/>
            </a:pPr>
            <a:r>
              <a:rPr lang="es-CL" sz="1200" dirty="0">
                <a:solidFill>
                  <a:schemeClr val="tx2">
                    <a:lumMod val="50000"/>
                  </a:schemeClr>
                </a:solidFill>
                <a:latin typeface="Verdana" pitchFamily="34" charset="0"/>
                <a:ea typeface="Verdana" pitchFamily="34" charset="0"/>
                <a:cs typeface="Verdana" pitchFamily="34" charset="0"/>
              </a:rPr>
              <a:t>Cuando realmente es imposible lograr la solución, por más vueltas que le demos al problema.</a:t>
            </a:r>
          </a:p>
          <a:p>
            <a:pPr>
              <a:buNone/>
            </a:pPr>
            <a:r>
              <a:rPr lang="es-CL" sz="1200" dirty="0">
                <a:solidFill>
                  <a:schemeClr val="tx2">
                    <a:lumMod val="50000"/>
                  </a:schemeClr>
                </a:solidFill>
                <a:latin typeface="Verdana" pitchFamily="34" charset="0"/>
                <a:ea typeface="Verdana" pitchFamily="34" charset="0"/>
                <a:cs typeface="Verdana" pitchFamily="34" charset="0"/>
              </a:rPr>
              <a:t>Ejemplo: </a:t>
            </a:r>
            <a:r>
              <a:rPr lang="es-CL" sz="1200" u="sng" dirty="0">
                <a:solidFill>
                  <a:schemeClr val="tx2">
                    <a:lumMod val="50000"/>
                  </a:schemeClr>
                </a:solidFill>
                <a:latin typeface="Verdana" pitchFamily="34" charset="0"/>
                <a:ea typeface="Verdana" pitchFamily="34" charset="0"/>
                <a:cs typeface="Verdana" pitchFamily="34" charset="0"/>
              </a:rPr>
              <a:t>20</a:t>
            </a:r>
            <a:r>
              <a:rPr lang="es-CL" sz="1200" dirty="0">
                <a:solidFill>
                  <a:schemeClr val="tx2">
                    <a:lumMod val="50000"/>
                  </a:schemeClr>
                </a:solidFill>
                <a:latin typeface="Verdana" pitchFamily="34" charset="0"/>
                <a:ea typeface="Verdana" pitchFamily="34" charset="0"/>
                <a:cs typeface="Verdana" pitchFamily="34" charset="0"/>
              </a:rPr>
              <a:t> ; </a:t>
            </a:r>
            <a:r>
              <a:rPr lang="es-CL" sz="1200" u="sng" dirty="0">
                <a:solidFill>
                  <a:schemeClr val="tx2">
                    <a:lumMod val="50000"/>
                  </a:schemeClr>
                </a:solidFill>
                <a:latin typeface="Verdana" pitchFamily="34" charset="0"/>
                <a:ea typeface="Verdana" pitchFamily="34" charset="0"/>
                <a:cs typeface="Verdana" pitchFamily="34" charset="0"/>
              </a:rPr>
              <a:t>+"</a:t>
            </a:r>
            <a:r>
              <a:rPr lang="es-CL" sz="1200" dirty="0">
                <a:solidFill>
                  <a:schemeClr val="tx2">
                    <a:lumMod val="50000"/>
                  </a:schemeClr>
                </a:solidFill>
                <a:latin typeface="Verdana" pitchFamily="34" charset="0"/>
                <a:ea typeface="Verdana" pitchFamily="34" charset="0"/>
                <a:cs typeface="Verdana" pitchFamily="34" charset="0"/>
              </a:rPr>
              <a:t> ; -2 3 -" </a:t>
            </a:r>
          </a:p>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16</a:t>
            </a:fld>
            <a:endParaRPr lang="es-E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17</a:t>
            </a:fld>
            <a:endParaRPr lang="es-E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L" baseline="0" dirty="0"/>
          </a:p>
        </p:txBody>
      </p:sp>
      <p:sp>
        <p:nvSpPr>
          <p:cNvPr id="4" name="3 Marcador de número de diapositiva"/>
          <p:cNvSpPr>
            <a:spLocks noGrp="1"/>
          </p:cNvSpPr>
          <p:nvPr>
            <p:ph type="sldNum" sz="quarter" idx="10"/>
          </p:nvPr>
        </p:nvSpPr>
        <p:spPr/>
        <p:txBody>
          <a:bodyPr/>
          <a:lstStyle/>
          <a:p>
            <a:fld id="{3792D2CF-A01B-4515-8B40-3DC34258267A}" type="slidenum">
              <a:rPr lang="es-CL" smtClean="0"/>
              <a:pPr/>
              <a:t>20</a:t>
            </a:fld>
            <a:endParaRPr lang="es-CL"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34A58-7118-6775-3A4E-5C2D28A0E59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7B311DE-94C9-F3FA-775A-551658502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5E27089-8567-C504-A023-F079AA079C51}"/>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499EB7FB-FF84-A608-0E49-BB2FD11483D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A7778B7-768F-4913-FBBA-BA370AEECA58}"/>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708501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C990C-7E58-7A8B-54DF-69ED94E2EC7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F0313AB-ADAE-0B6B-8B60-DA4395437E6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FC5E0E8-1FE5-2852-EE4F-DE6C3438BC67}"/>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C77A4A64-2EA9-28E3-2B23-DD5D0CF7DE3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8604E8-B245-95AD-5EED-EBB32D25FA66}"/>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07470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CEC80-021A-AC44-3438-0F21DB96263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9BA45A6-FF18-B6A2-B5C4-ED2F5BFE91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85F8DD4-540D-9018-872B-7E459A91DBC9}"/>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178D647C-51D9-B4B7-38DA-73015C0BDB2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9F5DE53-57AA-5B9B-1EF2-C0BF348EF13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390684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BD62E3-26AB-D36B-3A83-8C7E23F527A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0B8362E-7A09-AA55-0254-C69833D34DC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CACE6FE3-3C64-E72A-7F44-08FFE4CC390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86482E6-F35B-8EB9-2ED8-37329AD62F1B}"/>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C994F689-6794-4E11-00E6-CC22611C55AC}"/>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FF9F050-B1F8-B3B7-0A1A-0B29424371C1}"/>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692314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5472E4-006C-375E-0B18-45348130B06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AEC51E9-828F-E351-2D6A-1CD4782A7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A428A40-14C9-E200-B5BD-2334206845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96630129-456E-6949-614B-B331694705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05C0D87-ACE0-827D-9D9A-0591C1EF40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2E8FB0F0-4309-2B03-D7A6-38F036411342}"/>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8" name="Marcador de pie de página 7">
            <a:extLst>
              <a:ext uri="{FF2B5EF4-FFF2-40B4-BE49-F238E27FC236}">
                <a16:creationId xmlns:a16="http://schemas.microsoft.com/office/drawing/2014/main" id="{427C96AD-A272-BCA0-060F-B378B8AE676E}"/>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4F388B39-0FC0-A255-E49C-7843AEE30045}"/>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46730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948D1F-FE64-E174-9E5B-272A4F74A1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203488B8-DFCB-8258-6E38-6ABC004243DA}"/>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4" name="Marcador de pie de página 3">
            <a:extLst>
              <a:ext uri="{FF2B5EF4-FFF2-40B4-BE49-F238E27FC236}">
                <a16:creationId xmlns:a16="http://schemas.microsoft.com/office/drawing/2014/main" id="{0BEA4386-B372-4842-BBF3-7BCEB93407D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F571E515-2E3E-A213-2193-8F028DB3FA5B}"/>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424101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698B507-22C1-77F3-1BEE-8FBE37B0AEB6}"/>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3" name="Marcador de pie de página 2">
            <a:extLst>
              <a:ext uri="{FF2B5EF4-FFF2-40B4-BE49-F238E27FC236}">
                <a16:creationId xmlns:a16="http://schemas.microsoft.com/office/drawing/2014/main" id="{D573EA01-DFAF-5118-3AC7-E1A812A9DC83}"/>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F3B360B9-63EF-FD2E-27D2-31BBAFC6AFE7}"/>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451068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92BC58-1B71-52C9-D0C3-1BAA2E1A44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E2E5219F-2C41-6667-9591-32B836D09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49ADB86-F016-E554-DC92-3CC541A01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92122E2-92AE-5A6A-71E3-9F23A2AC03ED}"/>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EACD53F3-AC53-7C1D-26BD-E281FC77234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20C2D3D-281D-1F9F-C676-1B274385520F}"/>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1651273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618E98-60F1-CC38-E130-55CC6A59EE2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D6A92DB1-C153-DC3A-FE05-EB5A99C72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14ECC43C-C01A-2FBF-D75B-ABF12AF06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7678BC-5D02-0338-B53B-C9CD26EEB9F0}"/>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0DE75F06-C350-D139-F1FB-E5768ADE602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5909B2C-2372-EC01-1F04-5747110B817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386070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A26F2-7677-4DC7-C1CA-96FFAEFD002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5964FD1-B53D-49EA-56EE-F8CA9647262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FF09158-F381-CF85-DDA1-E26A164DB347}"/>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BEE2337B-3ACE-28F8-EB59-54A73F6BF86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5BA52D-BAE6-3DF0-9EA6-A236BFCD265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1791513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A0E977-BB0D-54B7-D1D0-71A2E09FB3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1743499-DB8A-61E0-0AC6-1326313E47C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AC7CBE1-0598-5370-E961-DA25B859ABC9}"/>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9F0A1D84-1FC2-A0DD-6194-334E17903DC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55205D-F8EE-6866-F7C7-D99A2A6C0C48}"/>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537250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y contenido">
    <p:spTree>
      <p:nvGrpSpPr>
        <p:cNvPr id="1" name=""/>
        <p:cNvGrpSpPr/>
        <p:nvPr/>
      </p:nvGrpSpPr>
      <p:grpSpPr>
        <a:xfrm>
          <a:off x="0" y="0"/>
          <a:ext cx="0" cy="0"/>
          <a:chOff x="0" y="0"/>
          <a:chExt cx="0" cy="0"/>
        </a:xfrm>
      </p:grpSpPr>
      <p:sp>
        <p:nvSpPr>
          <p:cNvPr id="3" name="Shape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Shape 3"/>
          <p:cNvSpPr>
            <a:spLocks noGrp="1"/>
          </p:cNvSpPr>
          <p:nvPr>
            <p:ph type="dt" sz="half" idx="10"/>
          </p:nvPr>
        </p:nvSpPr>
        <p:spPr/>
        <p:txBody>
          <a:bodyPr/>
          <a:lstStyle/>
          <a:p>
            <a:fld id="{41BF2EB3-0EDA-4ED9-9536-B32CA2814CB2}" type="datetimeFigureOut">
              <a:rPr lang="es-CL" smtClean="0"/>
              <a:pPr/>
              <a:t>11-03-2025</a:t>
            </a:fld>
            <a:endParaRPr lang="es-CL" dirty="0"/>
          </a:p>
        </p:txBody>
      </p:sp>
      <p:sp>
        <p:nvSpPr>
          <p:cNvPr id="5" name="Shape 4"/>
          <p:cNvSpPr>
            <a:spLocks noGrp="1"/>
          </p:cNvSpPr>
          <p:nvPr>
            <p:ph type="ftr" sz="quarter" idx="11"/>
          </p:nvPr>
        </p:nvSpPr>
        <p:spPr/>
        <p:txBody>
          <a:bodyPr/>
          <a:lstStyle/>
          <a:p>
            <a:endParaRPr lang="es-CL" dirty="0"/>
          </a:p>
        </p:txBody>
      </p:sp>
      <p:sp>
        <p:nvSpPr>
          <p:cNvPr id="6" name="Shape 5"/>
          <p:cNvSpPr>
            <a:spLocks noGrp="1"/>
          </p:cNvSpPr>
          <p:nvPr>
            <p:ph type="sldNum" sz="quarter" idx="12"/>
          </p:nvPr>
        </p:nvSpPr>
        <p:spPr/>
        <p:txBody>
          <a:bodyPr/>
          <a:lstStyle/>
          <a:p>
            <a:fld id="{04CB81E1-065B-41FA-A93E-2D40791BFEEB}" type="slidenum">
              <a:rPr lang="es-CL" smtClean="0"/>
              <a:pPr/>
              <a:t>‹Nº›</a:t>
            </a:fld>
            <a:endParaRPr lang="es-CL" dirty="0"/>
          </a:p>
        </p:txBody>
      </p:sp>
      <p:sp>
        <p:nvSpPr>
          <p:cNvPr id="7" name="Rectangle 6"/>
          <p:cNvSpPr>
            <a:spLocks noGrp="1"/>
          </p:cNvSpPr>
          <p:nvPr>
            <p:ph type="title"/>
          </p:nvPr>
        </p:nvSpPr>
        <p:spPr/>
        <p:txBody>
          <a:bodyPr/>
          <a:lstStyle/>
          <a:p>
            <a:r>
              <a:rPr lang="es-ES"/>
              <a:t>Haga clic para modificar el estilo de título del patrón</a:t>
            </a:r>
          </a:p>
        </p:txBody>
      </p:sp>
    </p:spTree>
    <p:extLst>
      <p:ext uri="{BB962C8B-B14F-4D97-AF65-F5344CB8AC3E}">
        <p14:creationId xmlns:p14="http://schemas.microsoft.com/office/powerpoint/2010/main" val="550612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9DCA9B-CBAD-8B8B-DF58-ADDAF60BA8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0AE67BF-B24E-3BF3-4867-0017D7892D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6244CFC5-2869-5BBF-D5C6-F45E671851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17C7A9D6-68D9-94E9-3F79-F3544E200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B747B5C2-FE86-C9D8-7D1E-658F73195A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16B985-AEBA-44BA-A4E0-F0B7D9062369}" type="slidenum">
              <a:rPr lang="es-CL" smtClean="0"/>
              <a:t>‹Nº›</a:t>
            </a:fld>
            <a:endParaRPr lang="es-CL"/>
          </a:p>
        </p:txBody>
      </p:sp>
    </p:spTree>
    <p:extLst>
      <p:ext uri="{BB962C8B-B14F-4D97-AF65-F5344CB8AC3E}">
        <p14:creationId xmlns:p14="http://schemas.microsoft.com/office/powerpoint/2010/main" val="3191727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jpe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jpe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pseint.sourceforge.ne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1C0CDF87-1BAB-BB67-ED9A-27A1B570C61E}"/>
              </a:ext>
            </a:extLst>
          </p:cNvPr>
          <p:cNvSpPr>
            <a:spLocks noGrp="1"/>
          </p:cNvSpPr>
          <p:nvPr>
            <p:ph type="subTitle" idx="1"/>
          </p:nvPr>
        </p:nvSpPr>
        <p:spPr>
          <a:xfrm>
            <a:off x="1524000" y="3602038"/>
            <a:ext cx="9144000" cy="1553856"/>
          </a:xfrm>
        </p:spPr>
        <p:txBody>
          <a:bodyPr>
            <a:normAutofit/>
          </a:bodyPr>
          <a:lstStyle/>
          <a:p>
            <a:r>
              <a:rPr lang="es-CL" sz="3600" b="1" noProof="0" dirty="0">
                <a:latin typeface="Candara"/>
                <a:cs typeface="Candara"/>
              </a:rPr>
              <a:t>Desafío IA</a:t>
            </a:r>
          </a:p>
        </p:txBody>
      </p:sp>
      <p:pic>
        <p:nvPicPr>
          <p:cNvPr id="5" name="Imagen 4">
            <a:extLst>
              <a:ext uri="{FF2B5EF4-FFF2-40B4-BE49-F238E27FC236}">
                <a16:creationId xmlns:a16="http://schemas.microsoft.com/office/drawing/2014/main" id="{ADE751EE-16EE-18E1-6CB1-144C4CBFA47D}"/>
              </a:ext>
            </a:extLst>
          </p:cNvPr>
          <p:cNvPicPr>
            <a:picLocks noChangeAspect="1"/>
          </p:cNvPicPr>
          <p:nvPr/>
        </p:nvPicPr>
        <p:blipFill>
          <a:blip r:embed="rId2"/>
          <a:stretch>
            <a:fillRect/>
          </a:stretch>
        </p:blipFill>
        <p:spPr>
          <a:xfrm>
            <a:off x="3849687" y="1427162"/>
            <a:ext cx="4086225" cy="1828800"/>
          </a:xfrm>
          <a:prstGeom prst="rect">
            <a:avLst/>
          </a:prstGeom>
        </p:spPr>
      </p:pic>
    </p:spTree>
    <p:extLst>
      <p:ext uri="{BB962C8B-B14F-4D97-AF65-F5344CB8AC3E}">
        <p14:creationId xmlns:p14="http://schemas.microsoft.com/office/powerpoint/2010/main" val="336404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7" name="Oval 16">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5 Marcador de texto"/>
          <p:cNvSpPr>
            <a:spLocks noGrp="1"/>
          </p:cNvSpPr>
          <p:nvPr>
            <p:ph type="body" idx="1"/>
          </p:nvPr>
        </p:nvSpPr>
        <p:spPr>
          <a:xfrm>
            <a:off x="3028695" y="1934212"/>
            <a:ext cx="5784229" cy="2301895"/>
          </a:xfrm>
          <a:prstGeom prst="rect">
            <a:avLst/>
          </a:prstGeom>
        </p:spPr>
        <p:txBody>
          <a:bodyPr vert="horz" lIns="91440" tIns="45720" rIns="91440" bIns="45720" rtlCol="0">
            <a:noAutofit/>
          </a:bodyPr>
          <a:lstStyle/>
          <a:p>
            <a:pPr algn="ctr"/>
            <a:endParaRPr lang="en-US" sz="2800" b="1" kern="1200" dirty="0">
              <a:solidFill>
                <a:schemeClr val="bg1"/>
              </a:solidFill>
              <a:latin typeface="+mn-lt"/>
              <a:ea typeface="+mn-ea"/>
              <a:cs typeface="+mn-cs"/>
            </a:endParaRPr>
          </a:p>
          <a:p>
            <a:pPr algn="ctr"/>
            <a:r>
              <a:rPr lang="en-US" sz="2800" b="1" kern="1200" dirty="0">
                <a:solidFill>
                  <a:schemeClr val="bg1"/>
                </a:solidFill>
                <a:latin typeface="+mn-lt"/>
                <a:ea typeface="+mn-ea"/>
                <a:cs typeface="+mn-cs"/>
              </a:rPr>
              <a:t>Unidad de </a:t>
            </a:r>
            <a:r>
              <a:rPr lang="en-US" sz="2800" b="1" kern="1200" dirty="0" err="1">
                <a:solidFill>
                  <a:schemeClr val="bg1"/>
                </a:solidFill>
                <a:latin typeface="+mn-lt"/>
                <a:ea typeface="+mn-ea"/>
                <a:cs typeface="+mn-cs"/>
              </a:rPr>
              <a:t>Aprendizaje</a:t>
            </a:r>
            <a:r>
              <a:rPr lang="en-US" sz="2800" b="1" kern="1200" dirty="0">
                <a:solidFill>
                  <a:schemeClr val="bg1"/>
                </a:solidFill>
                <a:latin typeface="+mn-lt"/>
                <a:ea typeface="+mn-ea"/>
                <a:cs typeface="+mn-cs"/>
              </a:rPr>
              <a:t> N°1</a:t>
            </a:r>
          </a:p>
          <a:p>
            <a:pPr algn="ctr"/>
            <a:r>
              <a:rPr lang="en-US" sz="2800" kern="1200" dirty="0" err="1">
                <a:solidFill>
                  <a:schemeClr val="bg1"/>
                </a:solidFill>
                <a:latin typeface="+mn-lt"/>
                <a:ea typeface="+mn-ea"/>
                <a:cs typeface="+mn-cs"/>
              </a:rPr>
              <a:t>Elementos</a:t>
            </a:r>
            <a:r>
              <a:rPr lang="en-US" sz="2800" b="1" kern="1200" dirty="0">
                <a:solidFill>
                  <a:schemeClr val="bg1"/>
                </a:solidFill>
                <a:latin typeface="+mn-lt"/>
                <a:ea typeface="+mn-ea"/>
                <a:cs typeface="+mn-cs"/>
              </a:rPr>
              <a:t> </a:t>
            </a:r>
            <a:r>
              <a:rPr lang="en-US" sz="2800" kern="1200" dirty="0" err="1">
                <a:solidFill>
                  <a:schemeClr val="bg1"/>
                </a:solidFill>
                <a:latin typeface="+mn-lt"/>
                <a:ea typeface="+mn-ea"/>
                <a:cs typeface="+mn-cs"/>
              </a:rPr>
              <a:t>constitutivos</a:t>
            </a:r>
            <a:r>
              <a:rPr lang="en-US" sz="2800" b="1" kern="1200" dirty="0">
                <a:solidFill>
                  <a:schemeClr val="bg1"/>
                </a:solidFill>
                <a:latin typeface="+mn-lt"/>
                <a:ea typeface="+mn-ea"/>
                <a:cs typeface="+mn-cs"/>
              </a:rPr>
              <a:t> </a:t>
            </a:r>
            <a:r>
              <a:rPr lang="en-US" sz="2800" kern="1200" dirty="0">
                <a:solidFill>
                  <a:schemeClr val="bg1"/>
                </a:solidFill>
                <a:latin typeface="+mn-lt"/>
                <a:ea typeface="+mn-ea"/>
                <a:cs typeface="+mn-cs"/>
              </a:rPr>
              <a:t>de un </a:t>
            </a:r>
            <a:r>
              <a:rPr lang="en-US" sz="2800" kern="1200" dirty="0" err="1">
                <a:solidFill>
                  <a:schemeClr val="bg1"/>
                </a:solidFill>
                <a:latin typeface="+mn-lt"/>
                <a:ea typeface="+mn-ea"/>
                <a:cs typeface="+mn-cs"/>
              </a:rPr>
              <a:t>programa</a:t>
            </a:r>
            <a:endParaRPr lang="en-US" sz="2800" kern="1200" dirty="0">
              <a:solidFill>
                <a:schemeClr val="bg1"/>
              </a:solidFill>
              <a:latin typeface="+mn-lt"/>
              <a:ea typeface="+mn-ea"/>
              <a:cs typeface="+mn-cs"/>
            </a:endParaRPr>
          </a:p>
        </p:txBody>
      </p:sp>
      <p:sp>
        <p:nvSpPr>
          <p:cNvPr id="19"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1"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3"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4" name="Freeform: Shape 23">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7" name="Oval 26">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9" name="Oval 28">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1"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32" name="Freeform: Shape 31">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2 Título"/>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effectLst>
                  <a:outerShdw blurRad="38100" dist="38100" dir="2700000" algn="tl">
                    <a:srgbClr val="000000">
                      <a:alpha val="43137"/>
                    </a:srgbClr>
                  </a:outerShdw>
                </a:effectLst>
              </a:rPr>
              <a:t>Objetivos</a:t>
            </a:r>
          </a:p>
        </p:txBody>
      </p:sp>
      <p:sp>
        <p:nvSpPr>
          <p:cNvPr id="3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Rectángulo redondeado"/>
          <p:cNvSpPr/>
          <p:nvPr/>
        </p:nvSpPr>
        <p:spPr>
          <a:xfrm>
            <a:off x="572493" y="2071316"/>
            <a:ext cx="6713552" cy="4119172"/>
          </a:xfrm>
          <a:prstGeom prst="roundRect">
            <a:avLst>
              <a:gd name="adj" fmla="val 6000"/>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chorCtr="0">
            <a:normAutofit/>
          </a:bodyPr>
          <a:lstStyle/>
          <a:p>
            <a:pPr indent="-228600">
              <a:lnSpc>
                <a:spcPct val="90000"/>
              </a:lnSpc>
              <a:spcAft>
                <a:spcPts val="600"/>
              </a:spcAft>
              <a:buFont typeface="Arial" panose="020B0604020202020204" pitchFamily="34" charset="0"/>
              <a:buChar char="•"/>
            </a:pPr>
            <a:r>
              <a:rPr lang="en-US" sz="2000">
                <a:solidFill>
                  <a:schemeClr val="tx1"/>
                </a:solidFill>
              </a:rPr>
              <a:t> Describir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Describir los módulos de un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Describir las fases para la construcción de un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Describir las características de los algoritmos</a:t>
            </a:r>
          </a:p>
          <a:p>
            <a:pPr indent="-228600">
              <a:lnSpc>
                <a:spcPct val="90000"/>
              </a:lnSpc>
              <a:spcAft>
                <a:spcPts val="600"/>
              </a:spcAft>
              <a:buFont typeface="Arial" panose="020B0604020202020204" pitchFamily="34" charset="0"/>
              <a:buChar char="•"/>
            </a:pPr>
            <a:r>
              <a:rPr lang="en-US" sz="2000">
                <a:solidFill>
                  <a:schemeClr val="tx1"/>
                </a:solidFill>
              </a:rPr>
              <a:t> </a:t>
            </a:r>
          </a:p>
          <a:p>
            <a:pPr indent="-228600">
              <a:lnSpc>
                <a:spcPct val="90000"/>
              </a:lnSpc>
              <a:spcAft>
                <a:spcPts val="600"/>
              </a:spcAft>
              <a:buFont typeface="Arial" panose="020B0604020202020204" pitchFamily="34" charset="0"/>
              <a:buChar char="•"/>
            </a:pPr>
            <a:r>
              <a:rPr lang="en-US" sz="2000">
                <a:solidFill>
                  <a:schemeClr val="tx1"/>
                </a:solidFill>
              </a:rPr>
              <a:t> Clasificar los algoritmos</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Instalar PSeInt</a:t>
            </a:r>
          </a:p>
          <a:p>
            <a:pPr indent="-228600">
              <a:lnSpc>
                <a:spcPct val="90000"/>
              </a:lnSpc>
              <a:spcAft>
                <a:spcPts val="600"/>
              </a:spcAft>
              <a:buFont typeface="Arial" panose="020B0604020202020204" pitchFamily="34" charset="0"/>
              <a:buChar char="•"/>
            </a:pPr>
            <a:endParaRPr lang="en-US" sz="2000">
              <a:solidFill>
                <a:schemeClr val="tx1"/>
              </a:solidFill>
            </a:endParaRPr>
          </a:p>
        </p:txBody>
      </p:sp>
      <p:pic>
        <p:nvPicPr>
          <p:cNvPr id="4" name="Picture 2" descr="http://miriamrochadiaz.files.wordpress.com/2013/01/trabajo-en-equipo2.jpg"/>
          <p:cNvPicPr>
            <a:picLocks noChangeAspect="1" noChangeArrowheads="1"/>
          </p:cNvPicPr>
          <p:nvPr/>
        </p:nvPicPr>
        <p:blipFill>
          <a:blip r:embed="rId2" cstate="email">
            <a:extLst>
              <a:ext uri="{28A0092B-C50C-407E-A947-70E740481C1C}">
                <a14:useLocalDpi xmlns:a14="http://schemas.microsoft.com/office/drawing/2010/main"/>
              </a:ext>
            </a:extLst>
          </a:blip>
          <a:srcRect l="3795" r="3" b="3"/>
          <a:stretch/>
        </p:blipFill>
        <p:spPr bwMode="auto">
          <a:xfrm>
            <a:off x="7675658" y="2093976"/>
            <a:ext cx="3941064" cy="409651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5 Rectángulo"/>
          <p:cNvSpPr/>
          <p:nvPr/>
        </p:nvSpPr>
        <p:spPr>
          <a:xfrm>
            <a:off x="876693" y="741391"/>
            <a:ext cx="5500810" cy="161620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kern="1200">
                <a:solidFill>
                  <a:schemeClr val="tx1"/>
                </a:solidFill>
                <a:latin typeface="+mj-lt"/>
                <a:ea typeface="+mj-ea"/>
                <a:cs typeface="+mj-cs"/>
              </a:rPr>
              <a:t>Problemas y Algoritmos</a:t>
            </a:r>
          </a:p>
        </p:txBody>
      </p:sp>
      <p:pic>
        <p:nvPicPr>
          <p:cNvPr id="2052" name="Picture 4" descr="http://t2.gstatic.com/images?q=tbn:ANd9GcTfQxiu_puZft-1E4bjC3XUlreqRD7NWrRHqMz5De3cVs4VQWN3NQ"/>
          <p:cNvPicPr>
            <a:picLocks noChangeAspect="1" noChangeArrowheads="1"/>
          </p:cNvPicPr>
          <p:nvPr/>
        </p:nvPicPr>
        <p:blipFill>
          <a:blip r:embed="rId3" cstate="email">
            <a:extLst>
              <a:ext uri="{28A0092B-C50C-407E-A947-70E740481C1C}">
                <a14:useLocalDpi xmlns:a14="http://schemas.microsoft.com/office/drawing/2010/main"/>
              </a:ext>
            </a:extLst>
          </a:blip>
          <a:srcRect t="10360" r="-1" b="14011"/>
          <a:stretch/>
        </p:blipFill>
        <p:spPr bwMode="auto">
          <a:xfrm>
            <a:off x="7406072" y="-15447"/>
            <a:ext cx="4666226" cy="3447832"/>
          </a:xfrm>
          <a:prstGeom prst="rect">
            <a:avLst/>
          </a:prstGeom>
          <a:noFill/>
        </p:spPr>
      </p:pic>
      <p:pic>
        <p:nvPicPr>
          <p:cNvPr id="2050" name="Picture 2" descr="http://t0.gstatic.com/images?q=tbn:ANd9GcRS998R_fvwu1J2YaV9VMtFoIBOS4BxXDvElpiIuC2nvtoEtJjV1w"/>
          <p:cNvPicPr>
            <a:picLocks noChangeAspect="1" noChangeArrowheads="1"/>
          </p:cNvPicPr>
          <p:nvPr/>
        </p:nvPicPr>
        <p:blipFill>
          <a:blip r:embed="rId4" cstate="email">
            <a:extLst>
              <a:ext uri="{28A0092B-C50C-407E-A947-70E740481C1C}">
                <a14:useLocalDpi xmlns:a14="http://schemas.microsoft.com/office/drawing/2010/main"/>
              </a:ext>
            </a:extLst>
          </a:blip>
          <a:srcRect r="2" b="5275"/>
          <a:stretch/>
        </p:blipFill>
        <p:spPr bwMode="auto">
          <a:xfrm>
            <a:off x="7406072" y="3429000"/>
            <a:ext cx="4668846" cy="3429000"/>
          </a:xfrm>
          <a:prstGeom prst="rect">
            <a:avLst/>
          </a:prstGeom>
          <a:noFill/>
        </p:spPr>
      </p:pic>
      <p:grpSp>
        <p:nvGrpSpPr>
          <p:cNvPr id="2063" name="Group 2058">
            <a:extLst>
              <a:ext uri="{FF2B5EF4-FFF2-40B4-BE49-F238E27FC236}">
                <a16:creationId xmlns:a16="http://schemas.microsoft.com/office/drawing/2014/main" id="{9E2F459E-8EB3-985C-3049-33F6B920D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2064" name="Rectangle 2059">
              <a:extLst>
                <a:ext uri="{FF2B5EF4-FFF2-40B4-BE49-F238E27FC236}">
                  <a16:creationId xmlns:a16="http://schemas.microsoft.com/office/drawing/2014/main" id="{A71AB682-1CAC-7672-C637-B014B86EB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0">
              <a:extLst>
                <a:ext uri="{FF2B5EF4-FFF2-40B4-BE49-F238E27FC236}">
                  <a16:creationId xmlns:a16="http://schemas.microsoft.com/office/drawing/2014/main" id="{D193956D-B33D-633F-BDBE-3353AA946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54" name="6 Marcador de contenido">
            <a:extLst>
              <a:ext uri="{FF2B5EF4-FFF2-40B4-BE49-F238E27FC236}">
                <a16:creationId xmlns:a16="http://schemas.microsoft.com/office/drawing/2014/main" id="{08BE9A41-E370-E999-9451-6E28AE684649}"/>
              </a:ext>
            </a:extLst>
          </p:cNvPr>
          <p:cNvGraphicFramePr>
            <a:graphicFrameLocks noGrp="1"/>
          </p:cNvGraphicFramePr>
          <p:nvPr>
            <p:ph idx="1"/>
            <p:extLst>
              <p:ext uri="{D42A27DB-BD31-4B8C-83A1-F6EECF244321}">
                <p14:modId xmlns:p14="http://schemas.microsoft.com/office/powerpoint/2010/main" val="3694544094"/>
              </p:ext>
            </p:extLst>
          </p:nvPr>
        </p:nvGraphicFramePr>
        <p:xfrm>
          <a:off x="876692" y="2533476"/>
          <a:ext cx="5500811" cy="34478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Grp="1"/>
          </p:cNvSpPr>
          <p:nvPr>
            <p:ph idx="1"/>
          </p:nvPr>
        </p:nvSpPr>
        <p:spPr bwMode="auto">
          <a:xfrm>
            <a:off x="638837" y="376891"/>
            <a:ext cx="4737083" cy="1023933"/>
          </a:xfrm>
          <a:prstGeom prst="rect">
            <a:avLst/>
          </a:prstGeom>
        </p:spPr>
        <p:txBody>
          <a:bodyPr vert="horz" rtlCol="0">
            <a:noAutofit/>
          </a:bodyPr>
          <a:lstStyle/>
          <a:p>
            <a:pPr>
              <a:defRPr/>
            </a:pPr>
            <a:r>
              <a:rPr lang="es-CL" sz="1800" b="1" dirty="0">
                <a:solidFill>
                  <a:schemeClr val="bg1"/>
                </a:solidFill>
                <a:effectLst>
                  <a:outerShdw blurRad="38100" dist="38100" dir="2700000" algn="tl">
                    <a:srgbClr val="000000">
                      <a:alpha val="43137"/>
                    </a:srgbClr>
                  </a:outerShdw>
                </a:effectLst>
                <a:latin typeface="Verdana" pitchFamily="34" charset="0"/>
                <a:ea typeface="Verdana" pitchFamily="34" charset="0"/>
                <a:cs typeface="Verdana" pitchFamily="34" charset="0"/>
              </a:rPr>
              <a:t>	</a:t>
            </a:r>
          </a:p>
          <a:p>
            <a:pPr>
              <a:buNone/>
              <a:defRPr/>
            </a:pPr>
            <a:r>
              <a:rPr lang="es-CL" dirty="0">
                <a:solidFill>
                  <a:schemeClr val="tx2">
                    <a:lumMod val="50000"/>
                  </a:schemeClr>
                </a:solidFill>
              </a:rPr>
              <a:t>¿Qué es un Algoritmo?</a:t>
            </a:r>
            <a:endParaRPr lang="es-ES_tradnl" dirty="0">
              <a:solidFill>
                <a:schemeClr val="tx2">
                  <a:lumMod val="50000"/>
                </a:schemeClr>
              </a:solidFill>
            </a:endParaRPr>
          </a:p>
          <a:p>
            <a:pPr algn="just">
              <a:buNone/>
              <a:defRPr/>
            </a:pPr>
            <a:endParaRPr lang="es-ES_tradnl" sz="1800" b="1" dirty="0">
              <a:solidFill>
                <a:schemeClr val="bg1"/>
              </a:solidFill>
              <a:effectLst>
                <a:outerShdw blurRad="38100" dist="38100" dir="2700000" algn="tl">
                  <a:srgbClr val="000000">
                    <a:alpha val="43137"/>
                  </a:srgbClr>
                </a:outerShdw>
              </a:effectLst>
              <a:latin typeface="Verdana" pitchFamily="34" charset="0"/>
              <a:ea typeface="Verdana" pitchFamily="34" charset="0"/>
              <a:cs typeface="Verdana" pitchFamily="34" charset="0"/>
            </a:endParaRPr>
          </a:p>
          <a:p>
            <a:pPr algn="just">
              <a:buNone/>
              <a:defRPr/>
            </a:pPr>
            <a:endParaRPr lang="es-ES_tradnl" sz="1800" b="1" dirty="0">
              <a:solidFill>
                <a:schemeClr val="bg1"/>
              </a:solidFill>
              <a:effectLst>
                <a:outerShdw blurRad="38100" dist="38100" dir="2700000" algn="tl">
                  <a:srgbClr val="000000">
                    <a:alpha val="43137"/>
                  </a:srgbClr>
                </a:outerShdw>
              </a:effectLst>
              <a:latin typeface="Verdana" pitchFamily="34" charset="0"/>
              <a:ea typeface="Verdana" pitchFamily="34" charset="0"/>
              <a:cs typeface="Verdana" pitchFamily="34" charset="0"/>
            </a:endParaRPr>
          </a:p>
          <a:p>
            <a:pPr algn="just">
              <a:buNone/>
              <a:defRPr/>
            </a:pPr>
            <a:endParaRPr lang="es-ES_tradnl" sz="1800" b="1" dirty="0">
              <a:effectLst>
                <a:outerShdw blurRad="38100" dist="38100" dir="2700000" algn="tl">
                  <a:srgbClr val="000000">
                    <a:alpha val="43137"/>
                  </a:srgbClr>
                </a:outerShdw>
              </a:effectLst>
              <a:latin typeface="Verdana" pitchFamily="34" charset="0"/>
              <a:ea typeface="Verdana" pitchFamily="34" charset="0"/>
              <a:cs typeface="Verdana" pitchFamily="34" charset="0"/>
            </a:endParaRPr>
          </a:p>
          <a:p>
            <a:pPr algn="just">
              <a:buNone/>
              <a:defRPr/>
            </a:pPr>
            <a:endParaRPr lang="es-ES_tradnl" sz="1800" b="1" dirty="0">
              <a:solidFill>
                <a:schemeClr val="bg1"/>
              </a:solidFill>
              <a:effectLst>
                <a:outerShdw blurRad="38100" dist="38100" dir="2700000" algn="tl">
                  <a:srgbClr val="000000">
                    <a:alpha val="43137"/>
                  </a:srgbClr>
                </a:outerShdw>
              </a:effectLst>
              <a:latin typeface="Verdana" pitchFamily="34" charset="0"/>
              <a:ea typeface="Verdana" pitchFamily="34" charset="0"/>
              <a:cs typeface="Verdana" pitchFamily="34" charset="0"/>
            </a:endParaRPr>
          </a:p>
        </p:txBody>
      </p:sp>
      <p:pic>
        <p:nvPicPr>
          <p:cNvPr id="9" name="Picture 2" descr="http://tranquilacion.files.wordpress.com/2011/01/pregunta1.jpg?w=640"/>
          <p:cNvPicPr>
            <a:picLocks noChangeAspect="1" noChangeArrowheads="1"/>
          </p:cNvPicPr>
          <p:nvPr/>
        </p:nvPicPr>
        <p:blipFill>
          <a:blip r:embed="rId3" cstate="print"/>
          <a:srcRect/>
          <a:stretch>
            <a:fillRect/>
          </a:stretch>
        </p:blipFill>
        <p:spPr bwMode="auto">
          <a:xfrm>
            <a:off x="2475065" y="1722953"/>
            <a:ext cx="4104456" cy="410445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6 Marcador de contenido">
            <a:extLst>
              <a:ext uri="{FF2B5EF4-FFF2-40B4-BE49-F238E27FC236}">
                <a16:creationId xmlns:a16="http://schemas.microsoft.com/office/drawing/2014/main" id="{ABEC267D-9CB0-B5B8-5437-DE9C818A6938}"/>
              </a:ext>
            </a:extLst>
          </p:cNvPr>
          <p:cNvGraphicFramePr>
            <a:graphicFrameLocks noGrp="1"/>
          </p:cNvGraphicFramePr>
          <p:nvPr>
            <p:ph idx="1"/>
            <p:extLst>
              <p:ext uri="{D42A27DB-BD31-4B8C-83A1-F6EECF244321}">
                <p14:modId xmlns:p14="http://schemas.microsoft.com/office/powerpoint/2010/main" val="3943050032"/>
              </p:ext>
            </p:extLst>
          </p:nvPr>
        </p:nvGraphicFramePr>
        <p:xfrm>
          <a:off x="1991544" y="3861048"/>
          <a:ext cx="8280920" cy="2880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1"/>
          <p:cNvPicPr>
            <a:picLocks noChangeAspect="1" noChangeArrowheads="1"/>
          </p:cNvPicPr>
          <p:nvPr/>
        </p:nvPicPr>
        <p:blipFill>
          <a:blip r:embed="rId8" cstate="print"/>
          <a:srcRect/>
          <a:stretch>
            <a:fillRect/>
          </a:stretch>
        </p:blipFill>
        <p:spPr bwMode="auto">
          <a:xfrm>
            <a:off x="2063552" y="981224"/>
            <a:ext cx="635000" cy="863600"/>
          </a:xfrm>
          <a:prstGeom prst="rect">
            <a:avLst/>
          </a:prstGeom>
          <a:noFill/>
          <a:ln w="9525">
            <a:noFill/>
            <a:miter lim="800000"/>
            <a:headEnd/>
            <a:tailEnd/>
          </a:ln>
          <a:effectLst/>
        </p:spPr>
      </p:pic>
      <p:sp>
        <p:nvSpPr>
          <p:cNvPr id="11" name="10 CuadroTexto"/>
          <p:cNvSpPr txBox="1"/>
          <p:nvPr/>
        </p:nvSpPr>
        <p:spPr>
          <a:xfrm>
            <a:off x="2849371" y="1195539"/>
            <a:ext cx="1471237" cy="461665"/>
          </a:xfrm>
          <a:prstGeom prst="rect">
            <a:avLst/>
          </a:prstGeom>
          <a:noFill/>
        </p:spPr>
        <p:txBody>
          <a:bodyPr wrap="none" rtlCol="0">
            <a:spAutoFit/>
          </a:bodyPr>
          <a:lstStyle/>
          <a:p>
            <a:r>
              <a:rPr lang="es-CL" sz="2400" dirty="0">
                <a:solidFill>
                  <a:schemeClr val="tx2">
                    <a:lumMod val="50000"/>
                  </a:schemeClr>
                </a:solidFill>
              </a:rPr>
              <a:t>Algoritmo</a:t>
            </a:r>
          </a:p>
        </p:txBody>
      </p:sp>
      <p:sp>
        <p:nvSpPr>
          <p:cNvPr id="12" name="11 Rectángulo redondeado"/>
          <p:cNvSpPr/>
          <p:nvPr/>
        </p:nvSpPr>
        <p:spPr>
          <a:xfrm>
            <a:off x="2524100" y="1844824"/>
            <a:ext cx="7358114" cy="2000264"/>
          </a:xfrm>
          <a:prstGeom prst="round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sp>
        <p:nvSpPr>
          <p:cNvPr id="13" name="12 CuadroTexto"/>
          <p:cNvSpPr txBox="1"/>
          <p:nvPr/>
        </p:nvSpPr>
        <p:spPr>
          <a:xfrm>
            <a:off x="2881290" y="2416328"/>
            <a:ext cx="6786610" cy="707886"/>
          </a:xfrm>
          <a:prstGeom prst="rect">
            <a:avLst/>
          </a:prstGeom>
          <a:noFill/>
        </p:spPr>
        <p:txBody>
          <a:bodyPr wrap="square" rtlCol="0">
            <a:spAutoFit/>
          </a:bodyPr>
          <a:lstStyle/>
          <a:p>
            <a:pPr algn="ctr"/>
            <a:r>
              <a:rPr lang="es-CL" sz="2000" dirty="0">
                <a:solidFill>
                  <a:schemeClr val="tx2">
                    <a:lumMod val="50000"/>
                  </a:schemeClr>
                </a:solidFill>
              </a:rPr>
              <a:t>Conjunto de </a:t>
            </a:r>
            <a:r>
              <a:rPr lang="es-CL" sz="2000" b="1" dirty="0">
                <a:solidFill>
                  <a:schemeClr val="tx2">
                    <a:lumMod val="50000"/>
                  </a:schemeClr>
                </a:solidFill>
              </a:rPr>
              <a:t>pasos, procedimientos o acciones </a:t>
            </a:r>
            <a:r>
              <a:rPr lang="es-CL" sz="2000" dirty="0">
                <a:solidFill>
                  <a:schemeClr val="tx2">
                    <a:lumMod val="50000"/>
                  </a:schemeClr>
                </a:solidFill>
              </a:rPr>
              <a:t>que nos permiten alcanzar un resultado o </a:t>
            </a:r>
            <a:r>
              <a:rPr lang="es-CL" sz="2000" b="1" dirty="0">
                <a:solidFill>
                  <a:schemeClr val="tx2">
                    <a:lumMod val="50000"/>
                  </a:schemeClr>
                </a:solidFill>
              </a:rPr>
              <a:t>resolver un problema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5" name="Rectangle 3277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CuadroTexto"/>
          <p:cNvSpPr txBox="1"/>
          <p:nvPr/>
        </p:nvSpPr>
        <p:spPr>
          <a:xfrm>
            <a:off x="572493" y="238539"/>
            <a:ext cx="11018520" cy="143441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a:latin typeface="+mj-lt"/>
                <a:ea typeface="+mj-ea"/>
                <a:cs typeface="+mj-cs"/>
              </a:rPr>
              <a:t>Algoritmo para tomar una ducha</a:t>
            </a:r>
          </a:p>
        </p:txBody>
      </p:sp>
      <p:sp>
        <p:nvSpPr>
          <p:cNvPr id="3277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8 CuadroTexto"/>
          <p:cNvSpPr txBox="1"/>
          <p:nvPr/>
        </p:nvSpPr>
        <p:spPr>
          <a:xfrm>
            <a:off x="572493" y="2071316"/>
            <a:ext cx="6713552" cy="4119172"/>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1700"/>
              <a:t>Abrir agua caliente</a:t>
            </a:r>
          </a:p>
          <a:p>
            <a:pPr marL="342900" indent="-228600">
              <a:lnSpc>
                <a:spcPct val="90000"/>
              </a:lnSpc>
              <a:spcAft>
                <a:spcPts val="600"/>
              </a:spcAft>
              <a:buFont typeface="Arial" panose="020B0604020202020204" pitchFamily="34" charset="0"/>
              <a:buChar char="•"/>
            </a:pPr>
            <a:r>
              <a:rPr lang="en-US" sz="1700"/>
              <a:t>Probar la temperatura con la mano</a:t>
            </a:r>
          </a:p>
          <a:p>
            <a:pPr marL="342900" indent="-228600">
              <a:lnSpc>
                <a:spcPct val="90000"/>
              </a:lnSpc>
              <a:spcAft>
                <a:spcPts val="600"/>
              </a:spcAft>
              <a:buFont typeface="Arial" panose="020B0604020202020204" pitchFamily="34" charset="0"/>
              <a:buChar char="•"/>
            </a:pPr>
            <a:r>
              <a:rPr lang="en-US" sz="1700"/>
              <a:t>Si el agua está muy caliente entonces</a:t>
            </a:r>
          </a:p>
          <a:p>
            <a:pPr marL="800100" lvl="1" indent="-228600">
              <a:lnSpc>
                <a:spcPct val="90000"/>
              </a:lnSpc>
              <a:spcAft>
                <a:spcPts val="600"/>
              </a:spcAft>
              <a:buFont typeface="Arial" panose="020B0604020202020204" pitchFamily="34" charset="0"/>
              <a:buChar char="•"/>
            </a:pPr>
            <a:r>
              <a:rPr lang="en-US" sz="1700"/>
              <a:t>Abrir el agua helada</a:t>
            </a:r>
          </a:p>
          <a:p>
            <a:pPr marL="800100" lvl="1" indent="-228600">
              <a:lnSpc>
                <a:spcPct val="90000"/>
              </a:lnSpc>
              <a:spcAft>
                <a:spcPts val="600"/>
              </a:spcAft>
              <a:buFont typeface="Arial" panose="020B0604020202020204" pitchFamily="34" charset="0"/>
              <a:buChar char="•"/>
            </a:pPr>
            <a:r>
              <a:rPr lang="en-US" sz="1700"/>
              <a:t>Se vuelve a ver si el agua está caliente (punto 3)</a:t>
            </a:r>
          </a:p>
          <a:p>
            <a:pPr marL="342900" indent="-228600">
              <a:lnSpc>
                <a:spcPct val="90000"/>
              </a:lnSpc>
              <a:spcAft>
                <a:spcPts val="600"/>
              </a:spcAft>
              <a:buFont typeface="Arial" panose="020B0604020202020204" pitchFamily="34" charset="0"/>
              <a:buChar char="•"/>
            </a:pPr>
            <a:r>
              <a:rPr lang="en-US" sz="1700"/>
              <a:t>Si el agua está muy fría</a:t>
            </a:r>
          </a:p>
          <a:p>
            <a:pPr marL="800100" lvl="1" indent="-228600">
              <a:lnSpc>
                <a:spcPct val="90000"/>
              </a:lnSpc>
              <a:spcAft>
                <a:spcPts val="600"/>
              </a:spcAft>
              <a:buFont typeface="Arial" panose="020B0604020202020204" pitchFamily="34" charset="0"/>
              <a:buChar char="•"/>
            </a:pPr>
            <a:r>
              <a:rPr lang="en-US" sz="1700"/>
              <a:t>Cerrar el agua fría</a:t>
            </a:r>
          </a:p>
          <a:p>
            <a:pPr marL="800100" lvl="1" indent="-228600">
              <a:lnSpc>
                <a:spcPct val="90000"/>
              </a:lnSpc>
              <a:spcAft>
                <a:spcPts val="600"/>
              </a:spcAft>
              <a:buFont typeface="Arial" panose="020B0604020202020204" pitchFamily="34" charset="0"/>
              <a:buChar char="•"/>
            </a:pPr>
            <a:r>
              <a:rPr lang="en-US" sz="1700"/>
              <a:t>Se vuelve a ver si el agua está fría (punto 4)</a:t>
            </a:r>
          </a:p>
          <a:p>
            <a:pPr marL="342900" indent="-228600">
              <a:lnSpc>
                <a:spcPct val="90000"/>
              </a:lnSpc>
              <a:spcAft>
                <a:spcPts val="600"/>
              </a:spcAft>
              <a:buFont typeface="Arial" panose="020B0604020202020204" pitchFamily="34" charset="0"/>
              <a:buChar char="•"/>
            </a:pPr>
            <a:r>
              <a:rPr lang="en-US" sz="1700"/>
              <a:t>Si el agua tiene una temperatura agradable</a:t>
            </a:r>
          </a:p>
          <a:p>
            <a:pPr marL="800100" lvl="1" indent="-228600">
              <a:lnSpc>
                <a:spcPct val="90000"/>
              </a:lnSpc>
              <a:spcAft>
                <a:spcPts val="600"/>
              </a:spcAft>
              <a:buFont typeface="Arial" panose="020B0604020202020204" pitchFamily="34" charset="0"/>
              <a:buChar char="•"/>
            </a:pPr>
            <a:r>
              <a:rPr lang="en-US" sz="1700"/>
              <a:t>Ingresar a la ducha</a:t>
            </a:r>
          </a:p>
          <a:p>
            <a:pPr marL="342900" indent="-228600">
              <a:lnSpc>
                <a:spcPct val="90000"/>
              </a:lnSpc>
              <a:spcAft>
                <a:spcPts val="600"/>
              </a:spcAft>
              <a:buFont typeface="Arial" panose="020B0604020202020204" pitchFamily="34" charset="0"/>
              <a:buChar char="•"/>
            </a:pPr>
            <a:r>
              <a:rPr lang="en-US" sz="1700"/>
              <a:t>Caso contrario, se vuelve a comprobar todo de nuevo (punto 2)</a:t>
            </a:r>
          </a:p>
          <a:p>
            <a:pPr marL="342900" indent="-228600">
              <a:lnSpc>
                <a:spcPct val="90000"/>
              </a:lnSpc>
              <a:spcAft>
                <a:spcPts val="600"/>
              </a:spcAft>
              <a:buFont typeface="Arial" panose="020B0604020202020204" pitchFamily="34" charset="0"/>
              <a:buChar char="•"/>
            </a:pPr>
            <a:r>
              <a:rPr lang="en-US" sz="1700"/>
              <a:t>FIN</a:t>
            </a:r>
          </a:p>
          <a:p>
            <a:pPr marL="342900" indent="-228600">
              <a:lnSpc>
                <a:spcPct val="90000"/>
              </a:lnSpc>
              <a:spcAft>
                <a:spcPts val="600"/>
              </a:spcAft>
              <a:buFont typeface="Arial" panose="020B0604020202020204" pitchFamily="34" charset="0"/>
              <a:buChar char="•"/>
            </a:pPr>
            <a:endParaRPr lang="en-US" sz="1700"/>
          </a:p>
        </p:txBody>
      </p:sp>
      <p:pic>
        <p:nvPicPr>
          <p:cNvPr id="32770" name="Picture 2" descr="http://t2.gstatic.com/images?q=tbn:ANd9GcRRWSUbswnET91eD6_daJJCdJkKLPkp_D6Yp-Cdn9ntW9B9Ei8X"/>
          <p:cNvPicPr>
            <a:picLocks noChangeAspect="1" noChangeArrowheads="1"/>
          </p:cNvPicPr>
          <p:nvPr/>
        </p:nvPicPr>
        <p:blipFill>
          <a:blip r:embed="rId3" cstate="print"/>
          <a:srcRect l="21251" r="1" b="1"/>
          <a:stretch/>
        </p:blipFill>
        <p:spPr bwMode="auto">
          <a:xfrm>
            <a:off x="7675658" y="2093976"/>
            <a:ext cx="3941064" cy="4096512"/>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maderassintes.com/images/images_extra/Puerta%20mod.%20SOFIA%20haya.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239008" y="1571612"/>
            <a:ext cx="1880144" cy="4286256"/>
          </a:xfrm>
          <a:prstGeom prst="rect">
            <a:avLst/>
          </a:prstGeom>
          <a:noFill/>
        </p:spPr>
      </p:pic>
      <p:sp>
        <p:nvSpPr>
          <p:cNvPr id="5" name="4 CuadroTexto"/>
          <p:cNvSpPr txBox="1"/>
          <p:nvPr/>
        </p:nvSpPr>
        <p:spPr>
          <a:xfrm>
            <a:off x="2095472" y="1857364"/>
            <a:ext cx="4286280" cy="3416320"/>
          </a:xfrm>
          <a:prstGeom prst="rect">
            <a:avLst/>
          </a:prstGeom>
          <a:noFill/>
        </p:spPr>
        <p:txBody>
          <a:bodyPr wrap="square" rtlCol="0">
            <a:spAutoFit/>
          </a:bodyPr>
          <a:lstStyle/>
          <a:p>
            <a:pPr marL="342900" indent="-342900">
              <a:buAutoNum type="arabicPeriod"/>
            </a:pPr>
            <a:r>
              <a:rPr lang="es-CL" dirty="0"/>
              <a:t>Verificar si la puerta está abierta.</a:t>
            </a:r>
          </a:p>
          <a:p>
            <a:pPr marL="800100" lvl="1" indent="-342900">
              <a:buAutoNum type="arabicPeriod"/>
            </a:pPr>
            <a:r>
              <a:rPr lang="es-CL" dirty="0"/>
              <a:t>Si no está abierta:</a:t>
            </a:r>
          </a:p>
          <a:p>
            <a:pPr marL="1257300" lvl="2" indent="-342900">
              <a:buAutoNum type="arabicPeriod"/>
            </a:pPr>
            <a:r>
              <a:rPr lang="es-CL" dirty="0"/>
              <a:t>Pararse al frente</a:t>
            </a:r>
          </a:p>
          <a:p>
            <a:pPr marL="1257300" lvl="2" indent="-342900">
              <a:buAutoNum type="arabicPeriod"/>
            </a:pPr>
            <a:r>
              <a:rPr lang="es-CL" dirty="0"/>
              <a:t>Girar la manilla</a:t>
            </a:r>
          </a:p>
          <a:p>
            <a:pPr marL="1257300" lvl="2" indent="-342900">
              <a:buAutoNum type="arabicPeriod"/>
            </a:pPr>
            <a:r>
              <a:rPr lang="es-CL" dirty="0"/>
              <a:t>Si la puerta tiene llave</a:t>
            </a:r>
          </a:p>
          <a:p>
            <a:pPr marL="1714500" lvl="3" indent="-342900">
              <a:buAutoNum type="arabicPeriod"/>
            </a:pPr>
            <a:r>
              <a:rPr lang="es-CL" dirty="0"/>
              <a:t>Buscar la llave</a:t>
            </a:r>
          </a:p>
          <a:p>
            <a:pPr marL="1714500" lvl="3" indent="-342900">
              <a:buAutoNum type="arabicPeriod"/>
            </a:pPr>
            <a:r>
              <a:rPr lang="es-CL" dirty="0"/>
              <a:t>Colocar la llave</a:t>
            </a:r>
          </a:p>
          <a:p>
            <a:pPr marL="1714500" lvl="3" indent="-342900">
              <a:buAutoNum type="arabicPeriod"/>
            </a:pPr>
            <a:r>
              <a:rPr lang="es-CL" dirty="0"/>
              <a:t>Volver al paso 2</a:t>
            </a:r>
          </a:p>
          <a:p>
            <a:pPr marL="800100" lvl="1" indent="-342900">
              <a:buAutoNum type="arabicPeriod"/>
            </a:pPr>
            <a:r>
              <a:rPr lang="es-CL" dirty="0"/>
              <a:t>Si está abierta</a:t>
            </a:r>
          </a:p>
          <a:p>
            <a:pPr marL="1257300" lvl="2" indent="-342900">
              <a:buAutoNum type="arabicPeriod"/>
            </a:pPr>
            <a:r>
              <a:rPr lang="es-CL" dirty="0"/>
              <a:t>Entrar</a:t>
            </a:r>
          </a:p>
          <a:p>
            <a:pPr marL="800100" lvl="1" indent="-342900">
              <a:buAutoNum type="arabicPeriod"/>
            </a:pPr>
            <a:r>
              <a:rPr lang="es-CL" dirty="0"/>
              <a:t>Fin</a:t>
            </a:r>
          </a:p>
          <a:p>
            <a:pPr marL="342900" indent="-342900">
              <a:buAutoNum type="arabicPeriod"/>
            </a:pPr>
            <a:endParaRPr lang="es-CL" dirty="0"/>
          </a:p>
        </p:txBody>
      </p:sp>
      <p:sp>
        <p:nvSpPr>
          <p:cNvPr id="8" name="7 CuadroTexto"/>
          <p:cNvSpPr txBox="1"/>
          <p:nvPr/>
        </p:nvSpPr>
        <p:spPr>
          <a:xfrm>
            <a:off x="2024035" y="1357298"/>
            <a:ext cx="3443187" cy="369332"/>
          </a:xfrm>
          <a:prstGeom prst="rect">
            <a:avLst/>
          </a:prstGeom>
          <a:noFill/>
        </p:spPr>
        <p:txBody>
          <a:bodyPr wrap="none" rtlCol="0">
            <a:spAutoFit/>
          </a:bodyPr>
          <a:lstStyle/>
          <a:p>
            <a:r>
              <a:rPr lang="es-CL" b="1" dirty="0"/>
              <a:t>Algoritmo para abrir una puerta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410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Freeform: Shape 411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1 Título"/>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Forma General de un Algoritmo</a:t>
            </a:r>
          </a:p>
        </p:txBody>
      </p:sp>
      <p:pic>
        <p:nvPicPr>
          <p:cNvPr id="4098" name="Picture 2"/>
          <p:cNvPicPr>
            <a:picLocks noChangeAspect="1" noChangeArrowheads="1"/>
          </p:cNvPicPr>
          <p:nvPr/>
        </p:nvPicPr>
        <p:blipFill>
          <a:blip r:embed="rId3" cstate="print"/>
          <a:stretch>
            <a:fillRect/>
          </a:stretch>
        </p:blipFill>
        <p:spPr bwMode="auto">
          <a:xfrm>
            <a:off x="4502428" y="2047076"/>
            <a:ext cx="7225748" cy="2763847"/>
          </a:xfrm>
          <a:prstGeom prst="rect">
            <a:avLst/>
          </a:prstGeom>
          <a:noFill/>
        </p:spPr>
      </p:pic>
    </p:spTree>
    <p:extLst>
      <p:ext uri="{BB962C8B-B14F-4D97-AF65-F5344CB8AC3E}">
        <p14:creationId xmlns:p14="http://schemas.microsoft.com/office/powerpoint/2010/main" val="66181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095472" y="2119963"/>
            <a:ext cx="4286280" cy="2585323"/>
          </a:xfrm>
          <a:prstGeom prst="rect">
            <a:avLst/>
          </a:prstGeom>
          <a:noFill/>
        </p:spPr>
        <p:txBody>
          <a:bodyPr wrap="square" rtlCol="0">
            <a:spAutoFit/>
          </a:bodyPr>
          <a:lstStyle/>
          <a:p>
            <a:pPr marL="342900" indent="-342900">
              <a:buAutoNum type="arabicPeriod"/>
            </a:pPr>
            <a:r>
              <a:rPr lang="es-CL" dirty="0"/>
              <a:t>Me detengo en la esquina</a:t>
            </a:r>
          </a:p>
          <a:p>
            <a:pPr marL="342900" indent="-342900">
              <a:buAutoNum type="arabicPeriod"/>
            </a:pPr>
            <a:r>
              <a:rPr lang="es-CL" dirty="0"/>
              <a:t>Miro al semáforo</a:t>
            </a:r>
          </a:p>
          <a:p>
            <a:pPr marL="342900" indent="-342900">
              <a:buAutoNum type="arabicPeriod"/>
            </a:pPr>
            <a:r>
              <a:rPr lang="es-CL" dirty="0"/>
              <a:t>SI (semáforo en verde)</a:t>
            </a:r>
          </a:p>
          <a:p>
            <a:pPr marL="800100" lvl="1" indent="-342900">
              <a:buAutoNum type="arabicPeriod"/>
            </a:pPr>
            <a:r>
              <a:rPr lang="es-CL" dirty="0"/>
              <a:t>Cruzo</a:t>
            </a:r>
          </a:p>
          <a:p>
            <a:pPr marL="342900" indent="-342900">
              <a:buAutoNum type="arabicPeriod"/>
            </a:pPr>
            <a:r>
              <a:rPr lang="es-CL" dirty="0"/>
              <a:t>Caso contrario</a:t>
            </a:r>
          </a:p>
          <a:p>
            <a:pPr marL="800100" lvl="1" indent="-342900">
              <a:buAutoNum type="arabicPeriod"/>
            </a:pPr>
            <a:r>
              <a:rPr lang="es-CL" dirty="0"/>
              <a:t>Me detengo</a:t>
            </a:r>
          </a:p>
          <a:p>
            <a:pPr marL="800100" lvl="1" indent="-342900">
              <a:buAutoNum type="arabicPeriod"/>
            </a:pPr>
            <a:r>
              <a:rPr lang="es-CL" dirty="0"/>
              <a:t>Vuelvo al paso 2</a:t>
            </a:r>
          </a:p>
          <a:p>
            <a:pPr marL="342900" indent="-342900">
              <a:buAutoNum type="arabicPeriod"/>
            </a:pPr>
            <a:r>
              <a:rPr lang="es-CL" dirty="0"/>
              <a:t>FIN</a:t>
            </a:r>
          </a:p>
          <a:p>
            <a:pPr marL="342900" indent="-342900">
              <a:buAutoNum type="arabicPeriod"/>
            </a:pPr>
            <a:endParaRPr lang="es-CL" dirty="0"/>
          </a:p>
        </p:txBody>
      </p:sp>
      <p:sp>
        <p:nvSpPr>
          <p:cNvPr id="5" name="4 CuadroTexto"/>
          <p:cNvSpPr txBox="1"/>
          <p:nvPr/>
        </p:nvSpPr>
        <p:spPr>
          <a:xfrm>
            <a:off x="2024035" y="1556792"/>
            <a:ext cx="3411575" cy="369332"/>
          </a:xfrm>
          <a:prstGeom prst="rect">
            <a:avLst/>
          </a:prstGeom>
          <a:noFill/>
        </p:spPr>
        <p:txBody>
          <a:bodyPr wrap="none" rtlCol="0">
            <a:spAutoFit/>
          </a:bodyPr>
          <a:lstStyle/>
          <a:p>
            <a:r>
              <a:rPr lang="es-CL" b="1" dirty="0"/>
              <a:t>Algoritmo 1 para cruzar la calle</a:t>
            </a:r>
          </a:p>
        </p:txBody>
      </p:sp>
      <p:sp>
        <p:nvSpPr>
          <p:cNvPr id="8" name="7 CuadroTexto"/>
          <p:cNvSpPr txBox="1"/>
          <p:nvPr/>
        </p:nvSpPr>
        <p:spPr>
          <a:xfrm>
            <a:off x="6096000" y="2048525"/>
            <a:ext cx="4286280" cy="2585323"/>
          </a:xfrm>
          <a:prstGeom prst="rect">
            <a:avLst/>
          </a:prstGeom>
          <a:noFill/>
        </p:spPr>
        <p:txBody>
          <a:bodyPr wrap="square" rtlCol="0">
            <a:spAutoFit/>
          </a:bodyPr>
          <a:lstStyle/>
          <a:p>
            <a:pPr marL="342900" indent="-342900">
              <a:buAutoNum type="arabicPeriod"/>
            </a:pPr>
            <a:r>
              <a:rPr lang="es-CL" dirty="0"/>
              <a:t>Me detengo en la esquina</a:t>
            </a:r>
          </a:p>
          <a:p>
            <a:pPr marL="342900" indent="-342900">
              <a:buAutoNum type="arabicPeriod"/>
            </a:pPr>
            <a:r>
              <a:rPr lang="es-CL" dirty="0"/>
              <a:t>Miro al semáforo</a:t>
            </a:r>
          </a:p>
          <a:p>
            <a:pPr marL="342900" indent="-342900">
              <a:buAutoNum type="arabicPeriod"/>
            </a:pPr>
            <a:r>
              <a:rPr lang="es-CL" dirty="0"/>
              <a:t>SI (semáforo en verde)</a:t>
            </a:r>
            <a:r>
              <a:rPr lang="es-CL" b="1" dirty="0">
                <a:solidFill>
                  <a:schemeClr val="tx2">
                    <a:lumMod val="50000"/>
                  </a:schemeClr>
                </a:solidFill>
              </a:rPr>
              <a:t> y (no vienen autos)</a:t>
            </a:r>
          </a:p>
          <a:p>
            <a:pPr marL="800100" lvl="1" indent="-342900">
              <a:buAutoNum type="arabicPeriod"/>
            </a:pPr>
            <a:r>
              <a:rPr lang="es-CL" dirty="0"/>
              <a:t>Cruzo</a:t>
            </a:r>
          </a:p>
          <a:p>
            <a:pPr marL="342900" indent="-342900">
              <a:buAutoNum type="arabicPeriod"/>
            </a:pPr>
            <a:r>
              <a:rPr lang="es-CL" dirty="0"/>
              <a:t>Caso contrario</a:t>
            </a:r>
          </a:p>
          <a:p>
            <a:pPr marL="800100" lvl="1" indent="-342900">
              <a:buAutoNum type="arabicPeriod"/>
            </a:pPr>
            <a:r>
              <a:rPr lang="es-CL" dirty="0"/>
              <a:t>Me detengo</a:t>
            </a:r>
          </a:p>
          <a:p>
            <a:pPr marL="800100" lvl="1" indent="-342900">
              <a:buAutoNum type="arabicPeriod"/>
            </a:pPr>
            <a:r>
              <a:rPr lang="es-CL" dirty="0"/>
              <a:t>Vuelvo al paso 2</a:t>
            </a:r>
          </a:p>
          <a:p>
            <a:pPr marL="342900" indent="-342900">
              <a:buAutoNum type="arabicPeriod"/>
            </a:pPr>
            <a:r>
              <a:rPr lang="es-CL" dirty="0"/>
              <a:t>FIN</a:t>
            </a:r>
          </a:p>
        </p:txBody>
      </p:sp>
      <p:sp>
        <p:nvSpPr>
          <p:cNvPr id="9" name="8 CuadroTexto"/>
          <p:cNvSpPr txBox="1"/>
          <p:nvPr/>
        </p:nvSpPr>
        <p:spPr>
          <a:xfrm>
            <a:off x="6024563" y="1548458"/>
            <a:ext cx="3411575" cy="369332"/>
          </a:xfrm>
          <a:prstGeom prst="rect">
            <a:avLst/>
          </a:prstGeom>
          <a:noFill/>
        </p:spPr>
        <p:txBody>
          <a:bodyPr wrap="none" rtlCol="0">
            <a:spAutoFit/>
          </a:bodyPr>
          <a:lstStyle/>
          <a:p>
            <a:r>
              <a:rPr lang="es-CL" b="1" dirty="0"/>
              <a:t>Algoritmo 2 para cruzar la calle</a:t>
            </a:r>
          </a:p>
        </p:txBody>
      </p:sp>
      <p:sp>
        <p:nvSpPr>
          <p:cNvPr id="10" name="9 CuadroTexto"/>
          <p:cNvSpPr txBox="1"/>
          <p:nvPr/>
        </p:nvSpPr>
        <p:spPr>
          <a:xfrm>
            <a:off x="2873049" y="5167655"/>
            <a:ext cx="5125121" cy="523220"/>
          </a:xfrm>
          <a:prstGeom prst="rect">
            <a:avLst/>
          </a:prstGeom>
          <a:noFill/>
        </p:spPr>
        <p:txBody>
          <a:bodyPr wrap="none" rtlCol="0">
            <a:spAutoFit/>
          </a:bodyPr>
          <a:lstStyle/>
          <a:p>
            <a:r>
              <a:rPr lang="es-CL" sz="2800" dirty="0">
                <a:solidFill>
                  <a:schemeClr val="tx2">
                    <a:lumMod val="50000"/>
                  </a:schemeClr>
                </a:solidFill>
                <a:ea typeface="ＭＳ Ｐゴシック" charset="-128"/>
              </a:rPr>
              <a:t>¿Qué algoritmo es más preciso?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Módulos de un Algoritmo</a:t>
            </a:r>
          </a:p>
        </p:txBody>
      </p:sp>
      <p:sp>
        <p:nvSpPr>
          <p:cNvPr id="10" name="9 CuadroTexto"/>
          <p:cNvSpPr txBox="1"/>
          <p:nvPr/>
        </p:nvSpPr>
        <p:spPr>
          <a:xfrm>
            <a:off x="1881159" y="1929606"/>
            <a:ext cx="5866093" cy="923330"/>
          </a:xfrm>
          <a:prstGeom prst="rect">
            <a:avLst/>
          </a:prstGeom>
          <a:noFill/>
        </p:spPr>
        <p:txBody>
          <a:bodyPr wrap="none" rtlCol="0">
            <a:spAutoFit/>
          </a:bodyPr>
          <a:lstStyle/>
          <a:p>
            <a:r>
              <a:rPr lang="es-CL" b="1" dirty="0"/>
              <a:t>Ejemplo: Algoritmo para convertir medida Pie a Metros</a:t>
            </a:r>
          </a:p>
          <a:p>
            <a:r>
              <a:rPr lang="es-CL" dirty="0"/>
              <a:t>	1 pie = 0,3048 metros</a:t>
            </a:r>
          </a:p>
          <a:p>
            <a:endParaRPr lang="es-CL" b="1" dirty="0"/>
          </a:p>
        </p:txBody>
      </p:sp>
      <p:sp>
        <p:nvSpPr>
          <p:cNvPr id="12" name="11 CuadroTexto"/>
          <p:cNvSpPr txBox="1"/>
          <p:nvPr/>
        </p:nvSpPr>
        <p:spPr>
          <a:xfrm>
            <a:off x="7596199" y="4143380"/>
            <a:ext cx="1497589" cy="369332"/>
          </a:xfrm>
          <a:prstGeom prst="rect">
            <a:avLst/>
          </a:prstGeom>
          <a:noFill/>
        </p:spPr>
        <p:txBody>
          <a:bodyPr wrap="none" rtlCol="0">
            <a:spAutoFit/>
          </a:bodyPr>
          <a:lstStyle/>
          <a:p>
            <a:r>
              <a:rPr lang="es-CL" dirty="0"/>
              <a:t>3,048 metros</a:t>
            </a:r>
          </a:p>
        </p:txBody>
      </p:sp>
      <p:sp>
        <p:nvSpPr>
          <p:cNvPr id="13" name="12 CuadroTexto"/>
          <p:cNvSpPr txBox="1"/>
          <p:nvPr/>
        </p:nvSpPr>
        <p:spPr>
          <a:xfrm>
            <a:off x="5381620" y="4143380"/>
            <a:ext cx="1220206" cy="369332"/>
          </a:xfrm>
          <a:prstGeom prst="rect">
            <a:avLst/>
          </a:prstGeom>
          <a:noFill/>
        </p:spPr>
        <p:txBody>
          <a:bodyPr wrap="none" rtlCol="0">
            <a:spAutoFit/>
          </a:bodyPr>
          <a:lstStyle/>
          <a:p>
            <a:r>
              <a:rPr lang="es-CL" dirty="0"/>
              <a:t>10*0,3048</a:t>
            </a:r>
          </a:p>
        </p:txBody>
      </p:sp>
      <p:sp>
        <p:nvSpPr>
          <p:cNvPr id="14" name="13 CuadroTexto"/>
          <p:cNvSpPr txBox="1"/>
          <p:nvPr/>
        </p:nvSpPr>
        <p:spPr>
          <a:xfrm>
            <a:off x="3238481" y="4143380"/>
            <a:ext cx="896399" cy="369332"/>
          </a:xfrm>
          <a:prstGeom prst="rect">
            <a:avLst/>
          </a:prstGeom>
          <a:noFill/>
        </p:spPr>
        <p:txBody>
          <a:bodyPr wrap="none" rtlCol="0">
            <a:spAutoFit/>
          </a:bodyPr>
          <a:lstStyle/>
          <a:p>
            <a:r>
              <a:rPr lang="es-CL" dirty="0"/>
              <a:t>10 pies</a:t>
            </a:r>
          </a:p>
        </p:txBody>
      </p:sp>
      <p:sp>
        <p:nvSpPr>
          <p:cNvPr id="11" name="10 CuadroTexto"/>
          <p:cNvSpPr txBox="1"/>
          <p:nvPr/>
        </p:nvSpPr>
        <p:spPr>
          <a:xfrm>
            <a:off x="7596199" y="4714884"/>
            <a:ext cx="1497589" cy="369332"/>
          </a:xfrm>
          <a:prstGeom prst="rect">
            <a:avLst/>
          </a:prstGeom>
          <a:noFill/>
        </p:spPr>
        <p:txBody>
          <a:bodyPr wrap="none" rtlCol="0">
            <a:spAutoFit/>
          </a:bodyPr>
          <a:lstStyle/>
          <a:p>
            <a:r>
              <a:rPr lang="es-CL" dirty="0"/>
              <a:t>304,8 metros</a:t>
            </a:r>
          </a:p>
        </p:txBody>
      </p:sp>
      <p:sp>
        <p:nvSpPr>
          <p:cNvPr id="15" name="14 CuadroTexto"/>
          <p:cNvSpPr txBox="1"/>
          <p:nvPr/>
        </p:nvSpPr>
        <p:spPr>
          <a:xfrm>
            <a:off x="5381620" y="4714884"/>
            <a:ext cx="1532792" cy="369332"/>
          </a:xfrm>
          <a:prstGeom prst="rect">
            <a:avLst/>
          </a:prstGeom>
          <a:noFill/>
        </p:spPr>
        <p:txBody>
          <a:bodyPr wrap="none" rtlCol="0">
            <a:spAutoFit/>
          </a:bodyPr>
          <a:lstStyle/>
          <a:p>
            <a:r>
              <a:rPr lang="es-CL" dirty="0"/>
              <a:t>1.000*0,3048</a:t>
            </a:r>
          </a:p>
        </p:txBody>
      </p:sp>
      <p:sp>
        <p:nvSpPr>
          <p:cNvPr id="16" name="15 CuadroTexto"/>
          <p:cNvSpPr txBox="1"/>
          <p:nvPr/>
        </p:nvSpPr>
        <p:spPr>
          <a:xfrm>
            <a:off x="3238481" y="4714884"/>
            <a:ext cx="1208985" cy="369332"/>
          </a:xfrm>
          <a:prstGeom prst="rect">
            <a:avLst/>
          </a:prstGeom>
          <a:noFill/>
        </p:spPr>
        <p:txBody>
          <a:bodyPr wrap="none" rtlCol="0">
            <a:spAutoFit/>
          </a:bodyPr>
          <a:lstStyle/>
          <a:p>
            <a:r>
              <a:rPr lang="es-CL" dirty="0"/>
              <a:t>1.000 pies</a:t>
            </a:r>
          </a:p>
        </p:txBody>
      </p:sp>
      <p:sp>
        <p:nvSpPr>
          <p:cNvPr id="17" name="16 CuadroTexto"/>
          <p:cNvSpPr txBox="1"/>
          <p:nvPr/>
        </p:nvSpPr>
        <p:spPr>
          <a:xfrm>
            <a:off x="7596199" y="5286388"/>
            <a:ext cx="1497589" cy="369332"/>
          </a:xfrm>
          <a:prstGeom prst="rect">
            <a:avLst/>
          </a:prstGeom>
          <a:noFill/>
        </p:spPr>
        <p:txBody>
          <a:bodyPr wrap="none" rtlCol="0">
            <a:spAutoFit/>
          </a:bodyPr>
          <a:lstStyle/>
          <a:p>
            <a:r>
              <a:rPr lang="es-CL" dirty="0"/>
              <a:t>3.048 metros</a:t>
            </a:r>
          </a:p>
        </p:txBody>
      </p:sp>
      <p:sp>
        <p:nvSpPr>
          <p:cNvPr id="18" name="17 CuadroTexto"/>
          <p:cNvSpPr txBox="1"/>
          <p:nvPr/>
        </p:nvSpPr>
        <p:spPr>
          <a:xfrm>
            <a:off x="5381621" y="5286388"/>
            <a:ext cx="1656223" cy="369332"/>
          </a:xfrm>
          <a:prstGeom prst="rect">
            <a:avLst/>
          </a:prstGeom>
          <a:noFill/>
        </p:spPr>
        <p:txBody>
          <a:bodyPr wrap="none" rtlCol="0">
            <a:spAutoFit/>
          </a:bodyPr>
          <a:lstStyle/>
          <a:p>
            <a:r>
              <a:rPr lang="es-CL" dirty="0"/>
              <a:t>10.000*0,3048</a:t>
            </a:r>
          </a:p>
        </p:txBody>
      </p:sp>
      <p:sp>
        <p:nvSpPr>
          <p:cNvPr id="19" name="18 CuadroTexto"/>
          <p:cNvSpPr txBox="1"/>
          <p:nvPr/>
        </p:nvSpPr>
        <p:spPr>
          <a:xfrm>
            <a:off x="3238480" y="5286388"/>
            <a:ext cx="1332416" cy="369332"/>
          </a:xfrm>
          <a:prstGeom prst="rect">
            <a:avLst/>
          </a:prstGeom>
          <a:noFill/>
        </p:spPr>
        <p:txBody>
          <a:bodyPr wrap="none" rtlCol="0">
            <a:spAutoFit/>
          </a:bodyPr>
          <a:lstStyle/>
          <a:p>
            <a:r>
              <a:rPr lang="es-CL" dirty="0"/>
              <a:t>10.000 pies</a:t>
            </a:r>
          </a:p>
        </p:txBody>
      </p:sp>
      <p:sp>
        <p:nvSpPr>
          <p:cNvPr id="20" name="19 Rectángulo"/>
          <p:cNvSpPr/>
          <p:nvPr/>
        </p:nvSpPr>
        <p:spPr>
          <a:xfrm>
            <a:off x="5238744" y="2928934"/>
            <a:ext cx="1692530" cy="1000132"/>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Procesamiento</a:t>
            </a:r>
          </a:p>
        </p:txBody>
      </p:sp>
      <p:sp>
        <p:nvSpPr>
          <p:cNvPr id="21" name="20 Flecha derecha"/>
          <p:cNvSpPr/>
          <p:nvPr/>
        </p:nvSpPr>
        <p:spPr>
          <a:xfrm>
            <a:off x="3238480" y="2857497"/>
            <a:ext cx="1571636" cy="1122597"/>
          </a:xfrm>
          <a:prstGeom prst="rightArrow">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Datos de Entrada</a:t>
            </a:r>
          </a:p>
        </p:txBody>
      </p:sp>
      <p:sp>
        <p:nvSpPr>
          <p:cNvPr id="22" name="21 Flecha derecha"/>
          <p:cNvSpPr/>
          <p:nvPr/>
        </p:nvSpPr>
        <p:spPr>
          <a:xfrm>
            <a:off x="7524760" y="2857497"/>
            <a:ext cx="1571636" cy="1122597"/>
          </a:xfrm>
          <a:prstGeom prst="rightArrow">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Datos de Salida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Fases para la construcción de un Algoritmo</a:t>
            </a:r>
          </a:p>
        </p:txBody>
      </p:sp>
      <p:sp>
        <p:nvSpPr>
          <p:cNvPr id="8" name="7 Rectángulo"/>
          <p:cNvSpPr/>
          <p:nvPr/>
        </p:nvSpPr>
        <p:spPr>
          <a:xfrm>
            <a:off x="2839044" y="1619820"/>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Análisis del Problema</a:t>
            </a:r>
          </a:p>
        </p:txBody>
      </p:sp>
      <p:sp>
        <p:nvSpPr>
          <p:cNvPr id="11" name="10 Rectángulo"/>
          <p:cNvSpPr/>
          <p:nvPr/>
        </p:nvSpPr>
        <p:spPr>
          <a:xfrm>
            <a:off x="2839044" y="2645929"/>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Diseño del Algoritmo</a:t>
            </a:r>
          </a:p>
        </p:txBody>
      </p:sp>
      <p:cxnSp>
        <p:nvCxnSpPr>
          <p:cNvPr id="13" name="12 Forma"/>
          <p:cNvCxnSpPr>
            <a:stCxn id="8" idx="3"/>
            <a:endCxn id="11" idx="3"/>
          </p:cNvCxnSpPr>
          <p:nvPr/>
        </p:nvCxnSpPr>
        <p:spPr>
          <a:xfrm>
            <a:off x="4124928" y="1999741"/>
            <a:ext cx="1588" cy="1026109"/>
          </a:xfrm>
          <a:prstGeom prst="bentConnector3">
            <a:avLst>
              <a:gd name="adj1" fmla="val 1439546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16 Conector angular"/>
          <p:cNvCxnSpPr>
            <a:stCxn id="11" idx="1"/>
            <a:endCxn id="8" idx="1"/>
          </p:cNvCxnSpPr>
          <p:nvPr/>
        </p:nvCxnSpPr>
        <p:spPr>
          <a:xfrm rot="10800000">
            <a:off x="2839044" y="1999742"/>
            <a:ext cx="1588" cy="1026109"/>
          </a:xfrm>
          <a:prstGeom prst="bentConnector3">
            <a:avLst>
              <a:gd name="adj1" fmla="val 1439546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9 Conector angular"/>
          <p:cNvCxnSpPr>
            <a:stCxn id="11" idx="2"/>
            <a:endCxn id="12" idx="0"/>
          </p:cNvCxnSpPr>
          <p:nvPr/>
        </p:nvCxnSpPr>
        <p:spPr>
          <a:xfrm rot="5400000" flipH="1" flipV="1">
            <a:off x="4661507" y="1654744"/>
            <a:ext cx="571504" cy="2930547"/>
          </a:xfrm>
          <a:prstGeom prst="bentConnector5">
            <a:avLst>
              <a:gd name="adj1" fmla="val -40000"/>
              <a:gd name="adj2" fmla="val 50000"/>
              <a:gd name="adj3" fmla="val 140000"/>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11 Rectángulo"/>
          <p:cNvSpPr/>
          <p:nvPr/>
        </p:nvSpPr>
        <p:spPr>
          <a:xfrm>
            <a:off x="5769591" y="2834266"/>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sz="1600" dirty="0"/>
              <a:t>Codificación</a:t>
            </a:r>
          </a:p>
        </p:txBody>
      </p:sp>
      <p:sp>
        <p:nvSpPr>
          <p:cNvPr id="14" name="13 Rectángulo"/>
          <p:cNvSpPr/>
          <p:nvPr/>
        </p:nvSpPr>
        <p:spPr>
          <a:xfrm>
            <a:off x="5769590" y="4834530"/>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sz="1600" dirty="0"/>
              <a:t>Verificación y Depuración</a:t>
            </a:r>
          </a:p>
        </p:txBody>
      </p:sp>
      <p:cxnSp>
        <p:nvCxnSpPr>
          <p:cNvPr id="16" name="15 Conector angular"/>
          <p:cNvCxnSpPr>
            <a:stCxn id="14" idx="1"/>
            <a:endCxn id="12" idx="1"/>
          </p:cNvCxnSpPr>
          <p:nvPr/>
        </p:nvCxnSpPr>
        <p:spPr>
          <a:xfrm rot="10800000" flipH="1">
            <a:off x="5769590" y="3214186"/>
            <a:ext cx="1" cy="2000264"/>
          </a:xfrm>
          <a:prstGeom prst="bentConnector3">
            <a:avLst>
              <a:gd name="adj1" fmla="val -22860000000"/>
            </a:avLst>
          </a:prstGeom>
          <a:ln>
            <a:tailEnd type="arrow"/>
          </a:ln>
        </p:spPr>
        <p:style>
          <a:lnRef idx="2">
            <a:schemeClr val="accent1"/>
          </a:lnRef>
          <a:fillRef idx="0">
            <a:schemeClr val="accent1"/>
          </a:fillRef>
          <a:effectRef idx="1">
            <a:schemeClr val="accent1"/>
          </a:effectRef>
          <a:fontRef idx="minor">
            <a:schemeClr val="tx1"/>
          </a:fontRef>
        </p:style>
      </p:cxnSp>
      <p:sp>
        <p:nvSpPr>
          <p:cNvPr id="20" name="19 Rectángulo"/>
          <p:cNvSpPr/>
          <p:nvPr/>
        </p:nvSpPr>
        <p:spPr>
          <a:xfrm>
            <a:off x="5769590" y="3834398"/>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sz="1600" dirty="0"/>
              <a:t>Compilación y Ejecución</a:t>
            </a:r>
          </a:p>
        </p:txBody>
      </p:sp>
      <p:cxnSp>
        <p:nvCxnSpPr>
          <p:cNvPr id="22" name="21 Conector recto de flecha"/>
          <p:cNvCxnSpPr>
            <a:stCxn id="12" idx="2"/>
            <a:endCxn id="20" idx="0"/>
          </p:cNvCxnSpPr>
          <p:nvPr/>
        </p:nvCxnSpPr>
        <p:spPr>
          <a:xfrm rot="5400000">
            <a:off x="6292389" y="3714252"/>
            <a:ext cx="240291"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23 Conector recto de flecha"/>
          <p:cNvCxnSpPr>
            <a:stCxn id="20" idx="2"/>
            <a:endCxn id="14" idx="0"/>
          </p:cNvCxnSpPr>
          <p:nvPr/>
        </p:nvCxnSpPr>
        <p:spPr>
          <a:xfrm rot="5400000">
            <a:off x="6292388" y="4714383"/>
            <a:ext cx="240291"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24 Rectángulo"/>
          <p:cNvSpPr/>
          <p:nvPr/>
        </p:nvSpPr>
        <p:spPr>
          <a:xfrm>
            <a:off x="8698548" y="4477340"/>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sz="1600" dirty="0"/>
              <a:t>Documenta-ción</a:t>
            </a:r>
          </a:p>
        </p:txBody>
      </p:sp>
      <p:cxnSp>
        <p:nvCxnSpPr>
          <p:cNvPr id="27" name="26 Forma"/>
          <p:cNvCxnSpPr>
            <a:stCxn id="14" idx="2"/>
            <a:endCxn id="25" idx="0"/>
          </p:cNvCxnSpPr>
          <p:nvPr/>
        </p:nvCxnSpPr>
        <p:spPr>
          <a:xfrm rot="5400000" flipH="1" flipV="1">
            <a:off x="7318496" y="3571376"/>
            <a:ext cx="1117031" cy="2928958"/>
          </a:xfrm>
          <a:prstGeom prst="bentConnector5">
            <a:avLst>
              <a:gd name="adj1" fmla="val -20465"/>
              <a:gd name="adj2" fmla="val 50000"/>
              <a:gd name="adj3" fmla="val 120465"/>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29 Rectángulo"/>
          <p:cNvSpPr/>
          <p:nvPr/>
        </p:nvSpPr>
        <p:spPr>
          <a:xfrm>
            <a:off x="8698548" y="5477472"/>
            <a:ext cx="1285884" cy="759841"/>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sz="1600" dirty="0"/>
              <a:t>Mantención</a:t>
            </a:r>
          </a:p>
        </p:txBody>
      </p:sp>
      <p:cxnSp>
        <p:nvCxnSpPr>
          <p:cNvPr id="32" name="31 Conector recto de flecha"/>
          <p:cNvCxnSpPr>
            <a:stCxn id="25" idx="2"/>
            <a:endCxn id="30" idx="0"/>
          </p:cNvCxnSpPr>
          <p:nvPr/>
        </p:nvCxnSpPr>
        <p:spPr>
          <a:xfrm rot="5400000">
            <a:off x="9221346" y="5357325"/>
            <a:ext cx="240291"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Características de los Algoritmos</a:t>
            </a:r>
          </a:p>
        </p:txBody>
      </p:sp>
      <p:pic>
        <p:nvPicPr>
          <p:cNvPr id="38915"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096397" y="4857760"/>
            <a:ext cx="1285585" cy="1643074"/>
          </a:xfrm>
          <a:prstGeom prst="rect">
            <a:avLst/>
          </a:prstGeom>
          <a:noFill/>
          <a:ln w="9525">
            <a:noFill/>
            <a:miter lim="800000"/>
            <a:headEnd/>
            <a:tailEnd/>
          </a:ln>
          <a:effectLst/>
        </p:spPr>
      </p:pic>
      <p:sp>
        <p:nvSpPr>
          <p:cNvPr id="8" name="7 Rectángulo redondeado"/>
          <p:cNvSpPr/>
          <p:nvPr/>
        </p:nvSpPr>
        <p:spPr>
          <a:xfrm>
            <a:off x="2524100" y="2786058"/>
            <a:ext cx="7358114" cy="2000264"/>
          </a:xfrm>
          <a:prstGeom prst="round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pic>
        <p:nvPicPr>
          <p:cNvPr id="9" name="Picture 1"/>
          <p:cNvPicPr>
            <a:picLocks noChangeAspect="1" noChangeArrowheads="1"/>
          </p:cNvPicPr>
          <p:nvPr/>
        </p:nvPicPr>
        <p:blipFill>
          <a:blip r:embed="rId4" cstate="print"/>
          <a:srcRect/>
          <a:stretch>
            <a:fillRect/>
          </a:stretch>
        </p:blipFill>
        <p:spPr bwMode="auto">
          <a:xfrm>
            <a:off x="2524100" y="1785926"/>
            <a:ext cx="635000" cy="863600"/>
          </a:xfrm>
          <a:prstGeom prst="rect">
            <a:avLst/>
          </a:prstGeom>
          <a:noFill/>
          <a:ln w="9525">
            <a:noFill/>
            <a:miter lim="800000"/>
            <a:headEnd/>
            <a:tailEnd/>
          </a:ln>
          <a:effectLst/>
        </p:spPr>
      </p:pic>
      <p:sp>
        <p:nvSpPr>
          <p:cNvPr id="10" name="9 CuadroTexto"/>
          <p:cNvSpPr txBox="1"/>
          <p:nvPr/>
        </p:nvSpPr>
        <p:spPr>
          <a:xfrm>
            <a:off x="3309919" y="2000241"/>
            <a:ext cx="1418145" cy="461665"/>
          </a:xfrm>
          <a:prstGeom prst="rect">
            <a:avLst/>
          </a:prstGeom>
          <a:noFill/>
        </p:spPr>
        <p:txBody>
          <a:bodyPr wrap="none" rtlCol="0">
            <a:spAutoFit/>
          </a:bodyPr>
          <a:lstStyle/>
          <a:p>
            <a:r>
              <a:rPr lang="es-CL" sz="2400" dirty="0">
                <a:solidFill>
                  <a:schemeClr val="tx2">
                    <a:lumMod val="50000"/>
                  </a:schemeClr>
                </a:solidFill>
              </a:rPr>
              <a:t>Precisión</a:t>
            </a:r>
          </a:p>
        </p:txBody>
      </p:sp>
      <p:sp>
        <p:nvSpPr>
          <p:cNvPr id="11" name="10 CuadroTexto"/>
          <p:cNvSpPr txBox="1"/>
          <p:nvPr/>
        </p:nvSpPr>
        <p:spPr>
          <a:xfrm>
            <a:off x="2881290" y="3143249"/>
            <a:ext cx="6786610" cy="1323439"/>
          </a:xfrm>
          <a:prstGeom prst="rect">
            <a:avLst/>
          </a:prstGeom>
          <a:noFill/>
        </p:spPr>
        <p:txBody>
          <a:bodyPr wrap="square" rtlCol="0">
            <a:spAutoFit/>
          </a:bodyPr>
          <a:lstStyle/>
          <a:p>
            <a:pPr algn="ctr"/>
            <a:r>
              <a:rPr lang="es-CL" sz="2000" dirty="0">
                <a:solidFill>
                  <a:schemeClr val="tx2">
                    <a:lumMod val="50000"/>
                  </a:schemeClr>
                </a:solidFill>
              </a:rPr>
              <a:t>Todas las acciones de un algoritmo deben estar bien definidas, si el algoritmo se ejecuta varias veces con los mismos datos de entrada, en todos los casos se obtendrán los mismos datos de salida.</a:t>
            </a:r>
            <a:endParaRPr lang="es-CL" sz="2000" b="1" dirty="0">
              <a:solidFill>
                <a:schemeClr val="tx2">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Características de los Algoritmos</a:t>
            </a:r>
          </a:p>
        </p:txBody>
      </p:sp>
      <p:pic>
        <p:nvPicPr>
          <p:cNvPr id="38915"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096397" y="4857760"/>
            <a:ext cx="1285585" cy="1643074"/>
          </a:xfrm>
          <a:prstGeom prst="rect">
            <a:avLst/>
          </a:prstGeom>
          <a:noFill/>
          <a:ln w="9525">
            <a:noFill/>
            <a:miter lim="800000"/>
            <a:headEnd/>
            <a:tailEnd/>
          </a:ln>
          <a:effectLst/>
        </p:spPr>
      </p:pic>
      <p:sp>
        <p:nvSpPr>
          <p:cNvPr id="8" name="7 Rectángulo redondeado"/>
          <p:cNvSpPr/>
          <p:nvPr/>
        </p:nvSpPr>
        <p:spPr>
          <a:xfrm>
            <a:off x="2524100" y="2786058"/>
            <a:ext cx="7358114" cy="2000264"/>
          </a:xfrm>
          <a:prstGeom prst="round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pic>
        <p:nvPicPr>
          <p:cNvPr id="9" name="Picture 1"/>
          <p:cNvPicPr>
            <a:picLocks noChangeAspect="1" noChangeArrowheads="1"/>
          </p:cNvPicPr>
          <p:nvPr/>
        </p:nvPicPr>
        <p:blipFill>
          <a:blip r:embed="rId4" cstate="print"/>
          <a:srcRect/>
          <a:stretch>
            <a:fillRect/>
          </a:stretch>
        </p:blipFill>
        <p:spPr bwMode="auto">
          <a:xfrm>
            <a:off x="2524100" y="1785926"/>
            <a:ext cx="635000" cy="863600"/>
          </a:xfrm>
          <a:prstGeom prst="rect">
            <a:avLst/>
          </a:prstGeom>
          <a:noFill/>
          <a:ln w="9525">
            <a:noFill/>
            <a:miter lim="800000"/>
            <a:headEnd/>
            <a:tailEnd/>
          </a:ln>
          <a:effectLst/>
        </p:spPr>
      </p:pic>
      <p:sp>
        <p:nvSpPr>
          <p:cNvPr id="10" name="9 CuadroTexto"/>
          <p:cNvSpPr txBox="1"/>
          <p:nvPr/>
        </p:nvSpPr>
        <p:spPr>
          <a:xfrm>
            <a:off x="3309918" y="2000241"/>
            <a:ext cx="2082750" cy="461665"/>
          </a:xfrm>
          <a:prstGeom prst="rect">
            <a:avLst/>
          </a:prstGeom>
          <a:noFill/>
        </p:spPr>
        <p:txBody>
          <a:bodyPr wrap="none" rtlCol="0">
            <a:spAutoFit/>
          </a:bodyPr>
          <a:lstStyle/>
          <a:p>
            <a:r>
              <a:rPr lang="es-CL" sz="2400" dirty="0">
                <a:solidFill>
                  <a:schemeClr val="tx2">
                    <a:lumMod val="50000"/>
                  </a:schemeClr>
                </a:solidFill>
              </a:rPr>
              <a:t>Determinismo</a:t>
            </a:r>
          </a:p>
        </p:txBody>
      </p:sp>
      <p:sp>
        <p:nvSpPr>
          <p:cNvPr id="11" name="10 CuadroTexto"/>
          <p:cNvSpPr txBox="1"/>
          <p:nvPr/>
        </p:nvSpPr>
        <p:spPr>
          <a:xfrm>
            <a:off x="2881290" y="3364056"/>
            <a:ext cx="6786610" cy="707886"/>
          </a:xfrm>
          <a:prstGeom prst="rect">
            <a:avLst/>
          </a:prstGeom>
          <a:noFill/>
        </p:spPr>
        <p:txBody>
          <a:bodyPr wrap="square" rtlCol="0">
            <a:spAutoFit/>
          </a:bodyPr>
          <a:lstStyle/>
          <a:p>
            <a:pPr algn="ctr"/>
            <a:r>
              <a:rPr lang="es-CL" sz="2000" dirty="0">
                <a:solidFill>
                  <a:schemeClr val="tx2">
                    <a:lumMod val="50000"/>
                  </a:schemeClr>
                </a:solidFill>
              </a:rPr>
              <a:t>Un </a:t>
            </a:r>
            <a:r>
              <a:rPr lang="es-CL" sz="2000" b="1" dirty="0">
                <a:solidFill>
                  <a:schemeClr val="tx2">
                    <a:lumMod val="50000"/>
                  </a:schemeClr>
                </a:solidFill>
              </a:rPr>
              <a:t>algoritmo determinista</a:t>
            </a:r>
            <a:r>
              <a:rPr lang="es-CL" sz="2000" dirty="0">
                <a:solidFill>
                  <a:schemeClr val="tx2">
                    <a:lumMod val="50000"/>
                  </a:schemeClr>
                </a:solidFill>
              </a:rPr>
              <a:t> es aquel que es completamente predictivo si se conocen sus entradas.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Características de los Algoritmos</a:t>
            </a:r>
          </a:p>
        </p:txBody>
      </p:sp>
      <p:pic>
        <p:nvPicPr>
          <p:cNvPr id="38915"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096397" y="4857760"/>
            <a:ext cx="1285585" cy="1643074"/>
          </a:xfrm>
          <a:prstGeom prst="rect">
            <a:avLst/>
          </a:prstGeom>
          <a:noFill/>
          <a:ln w="9525">
            <a:noFill/>
            <a:miter lim="800000"/>
            <a:headEnd/>
            <a:tailEnd/>
          </a:ln>
          <a:effectLst/>
        </p:spPr>
      </p:pic>
      <p:sp>
        <p:nvSpPr>
          <p:cNvPr id="8" name="7 Rectángulo redondeado"/>
          <p:cNvSpPr/>
          <p:nvPr/>
        </p:nvSpPr>
        <p:spPr>
          <a:xfrm>
            <a:off x="2524100" y="2786058"/>
            <a:ext cx="7358114" cy="2000264"/>
          </a:xfrm>
          <a:prstGeom prst="round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pic>
        <p:nvPicPr>
          <p:cNvPr id="9" name="Picture 1"/>
          <p:cNvPicPr>
            <a:picLocks noChangeAspect="1" noChangeArrowheads="1"/>
          </p:cNvPicPr>
          <p:nvPr/>
        </p:nvPicPr>
        <p:blipFill>
          <a:blip r:embed="rId4" cstate="print"/>
          <a:srcRect/>
          <a:stretch>
            <a:fillRect/>
          </a:stretch>
        </p:blipFill>
        <p:spPr bwMode="auto">
          <a:xfrm>
            <a:off x="2524100" y="1785926"/>
            <a:ext cx="635000" cy="863600"/>
          </a:xfrm>
          <a:prstGeom prst="rect">
            <a:avLst/>
          </a:prstGeom>
          <a:noFill/>
          <a:ln w="9525">
            <a:noFill/>
            <a:miter lim="800000"/>
            <a:headEnd/>
            <a:tailEnd/>
          </a:ln>
          <a:effectLst/>
        </p:spPr>
      </p:pic>
      <p:sp>
        <p:nvSpPr>
          <p:cNvPr id="10" name="9 CuadroTexto"/>
          <p:cNvSpPr txBox="1"/>
          <p:nvPr/>
        </p:nvSpPr>
        <p:spPr>
          <a:xfrm>
            <a:off x="3309919" y="2000241"/>
            <a:ext cx="1103315" cy="461665"/>
          </a:xfrm>
          <a:prstGeom prst="rect">
            <a:avLst/>
          </a:prstGeom>
          <a:noFill/>
        </p:spPr>
        <p:txBody>
          <a:bodyPr wrap="none" rtlCol="0">
            <a:spAutoFit/>
          </a:bodyPr>
          <a:lstStyle/>
          <a:p>
            <a:r>
              <a:rPr lang="es-CL" sz="2400" dirty="0">
                <a:solidFill>
                  <a:schemeClr val="tx2">
                    <a:lumMod val="50000"/>
                  </a:schemeClr>
                </a:solidFill>
              </a:rPr>
              <a:t>Finitud</a:t>
            </a:r>
          </a:p>
        </p:txBody>
      </p:sp>
      <p:sp>
        <p:nvSpPr>
          <p:cNvPr id="11" name="10 CuadroTexto"/>
          <p:cNvSpPr txBox="1"/>
          <p:nvPr/>
        </p:nvSpPr>
        <p:spPr>
          <a:xfrm>
            <a:off x="2881290" y="3364056"/>
            <a:ext cx="6786610" cy="707886"/>
          </a:xfrm>
          <a:prstGeom prst="rect">
            <a:avLst/>
          </a:prstGeom>
          <a:noFill/>
        </p:spPr>
        <p:txBody>
          <a:bodyPr wrap="square" rtlCol="0">
            <a:spAutoFit/>
          </a:bodyPr>
          <a:lstStyle/>
          <a:p>
            <a:pPr algn="ctr"/>
            <a:r>
              <a:rPr lang="es-CL" sz="2000" dirty="0">
                <a:solidFill>
                  <a:schemeClr val="tx2">
                    <a:lumMod val="50000"/>
                  </a:schemeClr>
                </a:solidFill>
              </a:rPr>
              <a:t>la </a:t>
            </a:r>
            <a:r>
              <a:rPr lang="es-CL" sz="2000" b="1" dirty="0">
                <a:solidFill>
                  <a:schemeClr val="tx2">
                    <a:lumMod val="50000"/>
                  </a:schemeClr>
                </a:solidFill>
              </a:rPr>
              <a:t>finitud</a:t>
            </a:r>
            <a:r>
              <a:rPr lang="es-CL" sz="2000" dirty="0">
                <a:solidFill>
                  <a:schemeClr val="tx2">
                    <a:lumMod val="50000"/>
                  </a:schemeClr>
                </a:solidFill>
              </a:rPr>
              <a:t> hace referencia a que un algoritmo siempre tiene que finalizar tras un número finito de acciones.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CL" sz="2800" dirty="0">
                <a:latin typeface="+mn-lt"/>
                <a:cs typeface="+mn-cs"/>
              </a:rPr>
              <a:t>Clasificación de los Algoritmos</a:t>
            </a:r>
          </a:p>
        </p:txBody>
      </p:sp>
      <p:sp>
        <p:nvSpPr>
          <p:cNvPr id="8" name="7 Rectángulo"/>
          <p:cNvSpPr/>
          <p:nvPr/>
        </p:nvSpPr>
        <p:spPr>
          <a:xfrm>
            <a:off x="5046412" y="1928802"/>
            <a:ext cx="1692530" cy="857256"/>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Directo</a:t>
            </a:r>
          </a:p>
        </p:txBody>
      </p:sp>
      <p:sp>
        <p:nvSpPr>
          <p:cNvPr id="9" name="8 Rectángulo"/>
          <p:cNvSpPr/>
          <p:nvPr/>
        </p:nvSpPr>
        <p:spPr>
          <a:xfrm>
            <a:off x="5046412" y="4000504"/>
            <a:ext cx="1692530" cy="857256"/>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Indirecto</a:t>
            </a:r>
          </a:p>
        </p:txBody>
      </p:sp>
      <p:sp>
        <p:nvSpPr>
          <p:cNvPr id="10" name="9 Rectángulo"/>
          <p:cNvSpPr/>
          <p:nvPr/>
        </p:nvSpPr>
        <p:spPr>
          <a:xfrm>
            <a:off x="8239140" y="3357562"/>
            <a:ext cx="1692530" cy="500066"/>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Finito</a:t>
            </a:r>
          </a:p>
        </p:txBody>
      </p:sp>
      <p:sp>
        <p:nvSpPr>
          <p:cNvPr id="11" name="10 Rectángulo"/>
          <p:cNvSpPr/>
          <p:nvPr/>
        </p:nvSpPr>
        <p:spPr>
          <a:xfrm>
            <a:off x="8239140" y="4929198"/>
            <a:ext cx="1692530" cy="500066"/>
          </a:xfrm>
          <a:prstGeom prst="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Infinito</a:t>
            </a:r>
          </a:p>
        </p:txBody>
      </p:sp>
      <p:sp>
        <p:nvSpPr>
          <p:cNvPr id="12" name="11 Rectángulo redondeado"/>
          <p:cNvSpPr/>
          <p:nvPr/>
        </p:nvSpPr>
        <p:spPr>
          <a:xfrm>
            <a:off x="2095472" y="2928934"/>
            <a:ext cx="1714512" cy="928694"/>
          </a:xfrm>
          <a:prstGeom prst="roundRect">
            <a:avLst/>
          </a:prstGeom>
          <a:gradFill flip="none" rotWithShape="1">
            <a:gsLst>
              <a:gs pos="0">
                <a:schemeClr val="accent1">
                  <a:lumMod val="50000"/>
                  <a:alpha val="12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CL" dirty="0"/>
              <a:t>Algoritmo</a:t>
            </a:r>
          </a:p>
        </p:txBody>
      </p:sp>
      <p:cxnSp>
        <p:nvCxnSpPr>
          <p:cNvPr id="14" name="13 Conector recto de flecha"/>
          <p:cNvCxnSpPr>
            <a:stCxn id="12" idx="3"/>
            <a:endCxn id="8" idx="1"/>
          </p:cNvCxnSpPr>
          <p:nvPr/>
        </p:nvCxnSpPr>
        <p:spPr>
          <a:xfrm flipV="1">
            <a:off x="3809984" y="2357431"/>
            <a:ext cx="1236428" cy="10358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15 Conector recto de flecha"/>
          <p:cNvCxnSpPr>
            <a:stCxn id="12" idx="3"/>
            <a:endCxn id="9" idx="1"/>
          </p:cNvCxnSpPr>
          <p:nvPr/>
        </p:nvCxnSpPr>
        <p:spPr>
          <a:xfrm>
            <a:off x="3809984" y="3393282"/>
            <a:ext cx="1236428" cy="10358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17 Conector recto de flecha"/>
          <p:cNvCxnSpPr>
            <a:stCxn id="9" idx="3"/>
            <a:endCxn id="10" idx="1"/>
          </p:cNvCxnSpPr>
          <p:nvPr/>
        </p:nvCxnSpPr>
        <p:spPr>
          <a:xfrm flipV="1">
            <a:off x="6738942" y="3607596"/>
            <a:ext cx="1500198" cy="8215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19 Conector recto de flecha"/>
          <p:cNvCxnSpPr>
            <a:stCxn id="9" idx="3"/>
            <a:endCxn id="11" idx="1"/>
          </p:cNvCxnSpPr>
          <p:nvPr/>
        </p:nvCxnSpPr>
        <p:spPr>
          <a:xfrm>
            <a:off x="6738942" y="4429133"/>
            <a:ext cx="1500198" cy="7500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Título"/>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Instalando PSeInt</a:t>
            </a:r>
          </a:p>
        </p:txBody>
      </p:sp>
      <p:sp>
        <p:nvSpPr>
          <p:cNvPr id="10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12 Rectángulo"/>
          <p:cNvSpPr/>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a:t>Ingresar: </a:t>
            </a:r>
            <a:r>
              <a:rPr lang="en-US" sz="2200">
                <a:hlinkClick r:id="rId3"/>
              </a:rPr>
              <a:t>http://pseint.sourceforge.net/</a:t>
            </a:r>
            <a:endParaRPr lang="en-US" sz="2200"/>
          </a:p>
          <a:p>
            <a:pPr indent="-228600">
              <a:lnSpc>
                <a:spcPct val="90000"/>
              </a:lnSpc>
              <a:spcAft>
                <a:spcPts val="600"/>
              </a:spcAft>
              <a:buFont typeface="Arial" panose="020B0604020202020204" pitchFamily="34" charset="0"/>
              <a:buChar char="•"/>
            </a:pPr>
            <a:r>
              <a:rPr lang="en-US" sz="2200"/>
              <a:t>Descargar el programa</a:t>
            </a:r>
          </a:p>
        </p:txBody>
      </p:sp>
      <p:pic>
        <p:nvPicPr>
          <p:cNvPr id="1026" name="Picture 2"/>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4654296" y="2143182"/>
            <a:ext cx="6903720" cy="257163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40024" y="2087880"/>
            <a:ext cx="8748464" cy="3357344"/>
          </a:xfrm>
          <a:prstGeom prst="rect">
            <a:avLst/>
          </a:prstGeom>
          <a:noFill/>
          <a:ln w="9525">
            <a:noFill/>
            <a:miter lim="800000"/>
            <a:headEnd/>
            <a:tailEnd/>
          </a:ln>
        </p:spPr>
      </p:pic>
      <p:sp>
        <p:nvSpPr>
          <p:cNvPr id="5" name="4 Rectángulo"/>
          <p:cNvSpPr/>
          <p:nvPr/>
        </p:nvSpPr>
        <p:spPr>
          <a:xfrm>
            <a:off x="2351585" y="1455168"/>
            <a:ext cx="5080237" cy="461665"/>
          </a:xfrm>
          <a:prstGeom prst="rect">
            <a:avLst/>
          </a:prstGeom>
        </p:spPr>
        <p:txBody>
          <a:bodyPr wrap="none">
            <a:spAutoFit/>
          </a:bodyPr>
          <a:lstStyle/>
          <a:p>
            <a:pPr>
              <a:buFont typeface="Arial" pitchFamily="34" charset="0"/>
              <a:buChar char="•"/>
            </a:pPr>
            <a:r>
              <a:rPr lang="es-CL" sz="2400" dirty="0">
                <a:solidFill>
                  <a:schemeClr val="tx2">
                    <a:lumMod val="50000"/>
                  </a:schemeClr>
                </a:solidFill>
              </a:rPr>
              <a:t>Descargar la versión que se requiera</a:t>
            </a:r>
            <a:endParaRPr lang="es-CL" dirty="0">
              <a:solidFill>
                <a:schemeClr val="tx2">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3431704" y="2490788"/>
            <a:ext cx="5408684" cy="2378372"/>
          </a:xfrm>
          <a:prstGeom prst="rect">
            <a:avLst/>
          </a:prstGeom>
          <a:noFill/>
          <a:ln w="9525">
            <a:noFill/>
            <a:miter lim="800000"/>
            <a:headEnd/>
            <a:tailEnd/>
          </a:ln>
        </p:spPr>
      </p:pic>
      <p:sp>
        <p:nvSpPr>
          <p:cNvPr id="5" name="4 Rectángulo"/>
          <p:cNvSpPr/>
          <p:nvPr/>
        </p:nvSpPr>
        <p:spPr>
          <a:xfrm>
            <a:off x="2351585" y="1455168"/>
            <a:ext cx="6161943" cy="461665"/>
          </a:xfrm>
          <a:prstGeom prst="rect">
            <a:avLst/>
          </a:prstGeom>
        </p:spPr>
        <p:txBody>
          <a:bodyPr wrap="none">
            <a:spAutoFit/>
          </a:bodyPr>
          <a:lstStyle/>
          <a:p>
            <a:pPr>
              <a:buFont typeface="Arial" pitchFamily="34" charset="0"/>
              <a:buChar char="•"/>
            </a:pPr>
            <a:r>
              <a:rPr lang="es-CL" sz="2400" dirty="0">
                <a:solidFill>
                  <a:schemeClr val="tx2">
                    <a:lumMod val="50000"/>
                  </a:schemeClr>
                </a:solidFill>
              </a:rPr>
              <a:t>Guardar el archivo y luego ejecutar e instalar</a:t>
            </a:r>
            <a:endParaRPr lang="es-CL" dirty="0">
              <a:solidFill>
                <a:schemeClr val="tx2">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2019300" y="538956"/>
            <a:ext cx="8985250" cy="1118394"/>
          </a:xfrm>
        </p:spPr>
        <p:txBody>
          <a:bodyPr vert="horz" lIns="91440" tIns="45720" rIns="91440" bIns="45720" rtlCol="0" anchor="t">
            <a:normAutofit/>
          </a:bodyPr>
          <a:lstStyle/>
          <a:p>
            <a:r>
              <a:rPr lang="en-US" sz="4000" b="1" kern="1200">
                <a:solidFill>
                  <a:schemeClr val="tx1"/>
                </a:solidFill>
                <a:effectLst>
                  <a:outerShdw blurRad="38100" dist="38100" dir="2700000" algn="tl">
                    <a:srgbClr val="000000">
                      <a:alpha val="43137"/>
                    </a:srgbClr>
                  </a:outerShdw>
                </a:effectLst>
                <a:latin typeface="+mj-lt"/>
                <a:ea typeface="+mj-ea"/>
                <a:cs typeface="+mj-cs"/>
              </a:rPr>
              <a:t>Resumen - Conceptos aprendidos</a:t>
            </a:r>
          </a:p>
        </p:txBody>
      </p:sp>
      <p:pic>
        <p:nvPicPr>
          <p:cNvPr id="4" name="Picture 1" descr="Gráfico, Gráfico de embudo&#10;&#10;El contenido generado por IA puede ser incorrecto."/>
          <p:cNvPicPr>
            <a:picLocks noChangeAspect="1" noChangeArrowheads="1"/>
          </p:cNvPicPr>
          <p:nvPr/>
        </p:nvPicPr>
        <p:blipFill>
          <a:blip r:embed="rId3" cstate="print"/>
          <a:stretch>
            <a:fillRect/>
          </a:stretch>
        </p:blipFill>
        <p:spPr bwMode="auto">
          <a:xfrm>
            <a:off x="1204072" y="538956"/>
            <a:ext cx="550956" cy="749300"/>
          </a:xfrm>
          <a:prstGeom prst="rect">
            <a:avLst/>
          </a:prstGeom>
          <a:noFill/>
        </p:spPr>
      </p:pic>
      <p:sp>
        <p:nvSpPr>
          <p:cNvPr id="5" name="4 Rectángulo redondeado"/>
          <p:cNvSpPr/>
          <p:nvPr/>
        </p:nvSpPr>
        <p:spPr>
          <a:xfrm>
            <a:off x="1009650" y="1847849"/>
            <a:ext cx="9994900" cy="4254501"/>
          </a:xfrm>
          <a:prstGeom prst="roundRect">
            <a:avLst>
              <a:gd name="adj" fmla="val 6000"/>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0">
            <a:normAutofit/>
          </a:bodyPr>
          <a:lstStyle/>
          <a:p>
            <a:pPr indent="-228600">
              <a:lnSpc>
                <a:spcPct val="90000"/>
              </a:lnSpc>
              <a:spcAft>
                <a:spcPts val="600"/>
              </a:spcAft>
              <a:buFont typeface="Arial" panose="020B0604020202020204" pitchFamily="34" charset="0"/>
              <a:buChar char="•"/>
            </a:pPr>
            <a:r>
              <a:rPr lang="en-US" sz="2000">
                <a:solidFill>
                  <a:schemeClr val="tx1"/>
                </a:solidFill>
              </a:rPr>
              <a:t> Se describió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los módulos de un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las fases para la construcción de un algoritmo</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las características de los algoritmos</a:t>
            </a:r>
          </a:p>
          <a:p>
            <a:pPr indent="-228600">
              <a:lnSpc>
                <a:spcPct val="90000"/>
              </a:lnSpc>
              <a:spcAft>
                <a:spcPts val="600"/>
              </a:spcAft>
              <a:buFont typeface="Arial" panose="020B0604020202020204" pitchFamily="34" charset="0"/>
              <a:buChar char="•"/>
            </a:pPr>
            <a:r>
              <a:rPr lang="en-US" sz="2000">
                <a:solidFill>
                  <a:schemeClr val="tx1"/>
                </a:solidFill>
              </a:rPr>
              <a:t> </a:t>
            </a:r>
          </a:p>
          <a:p>
            <a:pPr indent="-228600">
              <a:lnSpc>
                <a:spcPct val="90000"/>
              </a:lnSpc>
              <a:spcAft>
                <a:spcPts val="600"/>
              </a:spcAft>
              <a:buFont typeface="Arial" panose="020B0604020202020204" pitchFamily="34" charset="0"/>
              <a:buChar char="•"/>
            </a:pPr>
            <a:r>
              <a:rPr lang="en-US" sz="2000">
                <a:solidFill>
                  <a:schemeClr val="tx1"/>
                </a:solidFill>
              </a:rPr>
              <a:t> Se clasificaron los algoritmos</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instaló PSeint</a:t>
            </a:r>
          </a:p>
          <a:p>
            <a:pPr indent="-228600">
              <a:lnSpc>
                <a:spcPct val="90000"/>
              </a:lnSpc>
              <a:spcAft>
                <a:spcPts val="600"/>
              </a:spcAft>
              <a:buFont typeface="Arial" panose="020B0604020202020204" pitchFamily="34" charset="0"/>
              <a:buChar char="•"/>
            </a:pPr>
            <a:endParaRPr lang="en-US" sz="2000">
              <a:solidFill>
                <a:schemeClr val="tx1"/>
              </a:solidFil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1837</Words>
  <Application>Microsoft Office PowerPoint</Application>
  <PresentationFormat>Panorámica</PresentationFormat>
  <Paragraphs>214</Paragraphs>
  <Slides>20</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Aptos</vt:lpstr>
      <vt:lpstr>Aptos Display</vt:lpstr>
      <vt:lpstr>Arial</vt:lpstr>
      <vt:lpstr>Candara</vt:lpstr>
      <vt:lpstr>Verdana</vt:lpstr>
      <vt:lpstr>Wingdings</vt:lpstr>
      <vt:lpstr>Tema de Office</vt:lpstr>
      <vt:lpstr>Presentación de PowerPoint</vt:lpstr>
      <vt:lpstr>Presentación de PowerPoint</vt:lpstr>
      <vt:lpstr>Objetivos</vt:lpstr>
      <vt:lpstr>Presentación de PowerPoint</vt:lpstr>
      <vt:lpstr>Presentación de PowerPoint</vt:lpstr>
      <vt:lpstr>Presentación de PowerPoint</vt:lpstr>
      <vt:lpstr>Presentación de PowerPoint</vt:lpstr>
      <vt:lpstr>Presentación de PowerPoint</vt:lpstr>
      <vt:lpstr>Forma General de un Algoritmo</vt:lpstr>
      <vt:lpstr>Presentación de PowerPoint</vt:lpstr>
      <vt:lpstr>Módulos de un Algoritmo</vt:lpstr>
      <vt:lpstr>Fases para la construcción de un Algoritmo</vt:lpstr>
      <vt:lpstr>Características de los Algoritmos</vt:lpstr>
      <vt:lpstr>Características de los Algoritmos</vt:lpstr>
      <vt:lpstr>Características de los Algoritmos</vt:lpstr>
      <vt:lpstr>Clasificación de los Algoritmos</vt:lpstr>
      <vt:lpstr>Instalando PSeInt</vt:lpstr>
      <vt:lpstr>Presentación de PowerPoint</vt:lpstr>
      <vt:lpstr>Presentación de PowerPoint</vt:lpstr>
      <vt:lpstr>Resumen - Conceptos aprendidos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Office</dc:creator>
  <cp:lastModifiedBy>Audiovisual</cp:lastModifiedBy>
  <cp:revision>5</cp:revision>
  <dcterms:created xsi:type="dcterms:W3CDTF">2025-03-03T02:56:02Z</dcterms:created>
  <dcterms:modified xsi:type="dcterms:W3CDTF">2025-03-11T11:30:50Z</dcterms:modified>
</cp:coreProperties>
</file>