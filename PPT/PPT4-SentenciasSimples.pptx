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258" r:id="rId3"/>
    <p:sldId id="311" r:id="rId4"/>
    <p:sldId id="312" r:id="rId5"/>
    <p:sldId id="313" r:id="rId6"/>
    <p:sldId id="314" r:id="rId7"/>
    <p:sldId id="315" r:id="rId8"/>
    <p:sldId id="316" r:id="rId9"/>
    <p:sldId id="317" r:id="rId10"/>
    <p:sldId id="318" r:id="rId11"/>
    <p:sldId id="319" r:id="rId12"/>
    <p:sldId id="320" r:id="rId13"/>
    <p:sldId id="326" r:id="rId14"/>
    <p:sldId id="299" r:id="rId15"/>
    <p:sldId id="304" r:id="rId16"/>
    <p:sldId id="301" r:id="rId17"/>
    <p:sldId id="322" r:id="rId18"/>
    <p:sldId id="323" r:id="rId19"/>
    <p:sldId id="324" r:id="rId20"/>
    <p:sldId id="302" r:id="rId21"/>
    <p:sldId id="296" r:id="rId22"/>
    <p:sldId id="297" r:id="rId23"/>
    <p:sldId id="305" r:id="rId24"/>
    <p:sldId id="306" r:id="rId25"/>
    <p:sldId id="307" r:id="rId26"/>
    <p:sldId id="308" r:id="rId27"/>
    <p:sldId id="325" r:id="rId28"/>
    <p:sldId id="295" r:id="rId29"/>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84" y="84"/>
      </p:cViewPr>
      <p:guideLst/>
    </p:cSldViewPr>
  </p:slideViewPr>
  <p:notesTextViewPr>
    <p:cViewPr>
      <p:scale>
        <a:sx n="1" d="1"/>
        <a:sy n="1" d="1"/>
      </p:scale>
      <p:origin x="0" y="0"/>
    </p:cViewPr>
  </p:notesTextViewPr>
  <p:notesViewPr>
    <p:cSldViewPr snapToGrid="0">
      <p:cViewPr varScale="1">
        <p:scale>
          <a:sx n="55" d="100"/>
          <a:sy n="55" d="100"/>
        </p:scale>
        <p:origin x="2736"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3E295C87-E7C9-2F5D-CB80-976FEF10A2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a:extLst>
              <a:ext uri="{FF2B5EF4-FFF2-40B4-BE49-F238E27FC236}">
                <a16:creationId xmlns:a16="http://schemas.microsoft.com/office/drawing/2014/main" id="{0F310F09-9BDA-DD4D-0A77-D0E0CC131C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5D27C1-A5AD-4BE3-B0DA-5A8DFA6308C5}" type="datetimeFigureOut">
              <a:rPr lang="es-CL" smtClean="0"/>
              <a:t>11-03-2025</a:t>
            </a:fld>
            <a:endParaRPr lang="es-CL"/>
          </a:p>
        </p:txBody>
      </p:sp>
      <p:sp>
        <p:nvSpPr>
          <p:cNvPr id="4" name="Marcador de pie de página 3">
            <a:extLst>
              <a:ext uri="{FF2B5EF4-FFF2-40B4-BE49-F238E27FC236}">
                <a16:creationId xmlns:a16="http://schemas.microsoft.com/office/drawing/2014/main" id="{993EAFF0-3767-49FE-1B80-5F428747D0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a:extLst>
              <a:ext uri="{FF2B5EF4-FFF2-40B4-BE49-F238E27FC236}">
                <a16:creationId xmlns:a16="http://schemas.microsoft.com/office/drawing/2014/main" id="{9800602E-5F59-F1F5-D0E0-9DB2D48B5E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C68B2A-3DF5-4307-B323-BD16FCB3CDFF}" type="slidenum">
              <a:rPr lang="es-CL" smtClean="0"/>
              <a:t>‹Nº›</a:t>
            </a:fld>
            <a:endParaRPr lang="es-CL"/>
          </a:p>
        </p:txBody>
      </p:sp>
    </p:spTree>
    <p:extLst>
      <p:ext uri="{BB962C8B-B14F-4D97-AF65-F5344CB8AC3E}">
        <p14:creationId xmlns:p14="http://schemas.microsoft.com/office/powerpoint/2010/main" val="28495177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1E8A10-D727-4178-9F85-369A660D8665}" type="datetimeFigureOut">
              <a:rPr lang="es-CL" smtClean="0"/>
              <a:t>11-03-2025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FBD47C-42A0-4864-8123-7994490E4958}" type="slidenum">
              <a:rPr lang="es-CL" smtClean="0"/>
              <a:t>‹Nº›</a:t>
            </a:fld>
            <a:endParaRPr lang="es-CL"/>
          </a:p>
        </p:txBody>
      </p:sp>
    </p:spTree>
    <p:extLst>
      <p:ext uri="{BB962C8B-B14F-4D97-AF65-F5344CB8AC3E}">
        <p14:creationId xmlns:p14="http://schemas.microsoft.com/office/powerpoint/2010/main" val="263488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2</a:t>
            </a:fld>
            <a:endParaRPr lang="es-CL"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s-CL" sz="1200" b="0" dirty="0">
                <a:solidFill>
                  <a:schemeClr val="bg1"/>
                </a:solidFill>
                <a:latin typeface="Verdana" pitchFamily="34" charset="0"/>
                <a:ea typeface="Verdana" pitchFamily="34" charset="0"/>
                <a:cs typeface="Verdana" pitchFamily="34" charset="0"/>
              </a:rPr>
              <a:t>Ocupan sólo una casilla de memoria. Una variable simple hace referencia  a un único valor a la vez.</a:t>
            </a:r>
            <a:endParaRPr lang="es-ES" b="0" dirty="0"/>
          </a:p>
        </p:txBody>
      </p:sp>
      <p:sp>
        <p:nvSpPr>
          <p:cNvPr id="4" name="Slide Number Placeholder 3"/>
          <p:cNvSpPr>
            <a:spLocks noGrp="1"/>
          </p:cNvSpPr>
          <p:nvPr>
            <p:ph type="sldNum" sz="quarter" idx="10"/>
          </p:nvPr>
        </p:nvSpPr>
        <p:spPr/>
        <p:txBody>
          <a:bodyPr/>
          <a:lstStyle/>
          <a:p>
            <a:fld id="{3792D2CF-A01B-4515-8B40-3DC34258267A}" type="slidenum">
              <a:rPr lang="es-ES" smtClean="0"/>
              <a:pPr/>
              <a:t>3</a:t>
            </a:fld>
            <a:endParaRPr lang="es-E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b="0" dirty="0">
                <a:solidFill>
                  <a:schemeClr val="bg1"/>
                </a:solidFill>
                <a:latin typeface="Verdana" pitchFamily="34" charset="0"/>
                <a:ea typeface="Verdana" pitchFamily="34" charset="0"/>
                <a:cs typeface="Verdana" pitchFamily="34" charset="0"/>
              </a:rPr>
              <a:t>Con un nombre se hace referencia a un grupo de casillas de memoria, es decir, tiene varios componentes. Cada uno de los componentes puede ser a su vez un dato simple o estructurado.</a:t>
            </a:r>
            <a:endParaRPr lang="es-CL" sz="1200" b="0" dirty="0">
              <a:solidFill>
                <a:schemeClr val="tx2">
                  <a:lumMod val="50000"/>
                </a:schemeClr>
              </a:solidFill>
              <a:latin typeface="Verdana" pitchFamily="34" charset="0"/>
              <a:ea typeface="Verdana" pitchFamily="34" charset="0"/>
              <a:cs typeface="Verdana" pitchFamily="34" charset="0"/>
            </a:endParaRPr>
          </a:p>
        </p:txBody>
      </p:sp>
      <p:sp>
        <p:nvSpPr>
          <p:cNvPr id="4" name="Slide Number Placeholder 3"/>
          <p:cNvSpPr>
            <a:spLocks noGrp="1"/>
          </p:cNvSpPr>
          <p:nvPr>
            <p:ph type="sldNum" sz="quarter" idx="10"/>
          </p:nvPr>
        </p:nvSpPr>
        <p:spPr/>
        <p:txBody>
          <a:bodyPr/>
          <a:lstStyle/>
          <a:p>
            <a:fld id="{3792D2CF-A01B-4515-8B40-3DC34258267A}" type="slidenum">
              <a:rPr lang="es-ES" smtClean="0"/>
              <a:pPr/>
              <a:t>4</a:t>
            </a:fld>
            <a:endParaRPr lang="es-E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s-ES" dirty="0"/>
          </a:p>
        </p:txBody>
      </p:sp>
      <p:sp>
        <p:nvSpPr>
          <p:cNvPr id="4" name="Slide Number Placeholder 3"/>
          <p:cNvSpPr>
            <a:spLocks noGrp="1"/>
          </p:cNvSpPr>
          <p:nvPr>
            <p:ph type="sldNum" sz="quarter" idx="10"/>
          </p:nvPr>
        </p:nvSpPr>
        <p:spPr/>
        <p:txBody>
          <a:bodyPr/>
          <a:lstStyle/>
          <a:p>
            <a:fld id="{3792D2CF-A01B-4515-8B40-3DC34258267A}" type="slidenum">
              <a:rPr lang="es-ES" smtClean="0"/>
              <a:pPr/>
              <a:t>5</a:t>
            </a:fld>
            <a:endParaRPr lang="es-E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CL" sz="1200" dirty="0">
                <a:solidFill>
                  <a:schemeClr val="tx2">
                    <a:lumMod val="50000"/>
                  </a:schemeClr>
                </a:solidFill>
                <a:latin typeface="Verdana" pitchFamily="34" charset="0"/>
                <a:ea typeface="Verdana" pitchFamily="34" charset="0"/>
                <a:cs typeface="Verdana" pitchFamily="34" charset="0"/>
              </a:rPr>
              <a:t>Al igual que las</a:t>
            </a:r>
            <a:r>
              <a:rPr lang="es-CL" sz="1200" baseline="0" dirty="0">
                <a:solidFill>
                  <a:schemeClr val="tx2">
                    <a:lumMod val="50000"/>
                  </a:schemeClr>
                </a:solidFill>
                <a:latin typeface="Verdana" pitchFamily="34" charset="0"/>
                <a:ea typeface="Verdana" pitchFamily="34" charset="0"/>
                <a:cs typeface="Verdana" pitchFamily="34" charset="0"/>
              </a:rPr>
              <a:t> variables simples debemos asignar un tipo de dato.</a:t>
            </a:r>
          </a:p>
        </p:txBody>
      </p:sp>
      <p:sp>
        <p:nvSpPr>
          <p:cNvPr id="4" name="Slide Number Placeholder 3"/>
          <p:cNvSpPr>
            <a:spLocks noGrp="1"/>
          </p:cNvSpPr>
          <p:nvPr>
            <p:ph type="sldNum" sz="quarter" idx="10"/>
          </p:nvPr>
        </p:nvSpPr>
        <p:spPr/>
        <p:txBody>
          <a:bodyPr/>
          <a:lstStyle/>
          <a:p>
            <a:fld id="{3792D2CF-A01B-4515-8B40-3DC34258267A}" type="slidenum">
              <a:rPr lang="es-ES" smtClean="0"/>
              <a:pPr/>
              <a:t>6</a:t>
            </a:fld>
            <a:endParaRPr lang="es-E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CL" sz="1200" dirty="0">
              <a:solidFill>
                <a:schemeClr val="tx2">
                  <a:lumMod val="50000"/>
                </a:schemeClr>
              </a:solidFill>
              <a:latin typeface="Verdana" pitchFamily="34" charset="0"/>
              <a:ea typeface="Verdana" pitchFamily="34" charset="0"/>
              <a:cs typeface="Verdana" pitchFamily="34" charset="0"/>
            </a:endParaRPr>
          </a:p>
        </p:txBody>
      </p:sp>
      <p:sp>
        <p:nvSpPr>
          <p:cNvPr id="4" name="Slide Number Placeholder 3"/>
          <p:cNvSpPr>
            <a:spLocks noGrp="1"/>
          </p:cNvSpPr>
          <p:nvPr>
            <p:ph type="sldNum" sz="quarter" idx="10"/>
          </p:nvPr>
        </p:nvSpPr>
        <p:spPr/>
        <p:txBody>
          <a:bodyPr/>
          <a:lstStyle/>
          <a:p>
            <a:fld id="{3792D2CF-A01B-4515-8B40-3DC34258267A}" type="slidenum">
              <a:rPr lang="es-ES" smtClean="0"/>
              <a:pPr/>
              <a:t>7</a:t>
            </a:fld>
            <a:endParaRPr lang="es-E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L" sz="1200" b="0" dirty="0">
                <a:solidFill>
                  <a:schemeClr val="bg1"/>
                </a:solidFill>
                <a:latin typeface="Verdana" pitchFamily="34" charset="0"/>
                <a:ea typeface="Verdana" pitchFamily="34" charset="0"/>
                <a:cs typeface="Verdana" pitchFamily="34" charset="0"/>
              </a:rPr>
              <a:t>Las constantes son datos que no cambian durante la ejecución de un programa.</a:t>
            </a:r>
          </a:p>
          <a:p>
            <a:r>
              <a:rPr lang="es-CL" sz="1200" b="0" dirty="0">
                <a:solidFill>
                  <a:schemeClr val="bg1"/>
                </a:solidFill>
                <a:latin typeface="Verdana" pitchFamily="34" charset="0"/>
                <a:ea typeface="Verdana" pitchFamily="34" charset="0"/>
                <a:cs typeface="Verdana" pitchFamily="34" charset="0"/>
              </a:rPr>
              <a:t>Las variables son objetos que pueden cambiar su valor  durante la ejecución de un programa. </a:t>
            </a:r>
            <a:endParaRPr lang="es-CL" b="0"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8</a:t>
            </a:fld>
            <a:endParaRPr lang="es-CL"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L" sz="1200" b="0" dirty="0">
                <a:solidFill>
                  <a:schemeClr val="bg1"/>
                </a:solidFill>
                <a:latin typeface="Verdana" pitchFamily="34" charset="0"/>
                <a:ea typeface="Verdana" pitchFamily="34" charset="0"/>
                <a:cs typeface="Verdana" pitchFamily="34" charset="0"/>
              </a:rPr>
              <a:t>Para poder realizar operaciones aritméticas necesitamos de operadores aritméticos. Estos operadores nos permitirán realizar operaciones aritméticas entre operandos: números, constantes o variables. El resultado de una operación aritmética será un número.</a:t>
            </a:r>
            <a:endParaRPr lang="es-CL" b="0"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9</a:t>
            </a:fld>
            <a:endParaRPr lang="es-CL"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r>
              <a:rPr lang="es-CL" sz="1200" b="0" dirty="0">
                <a:solidFill>
                  <a:schemeClr val="bg1"/>
                </a:solidFill>
                <a:latin typeface="Verdana" pitchFamily="34" charset="0"/>
                <a:ea typeface="Verdana" pitchFamily="34" charset="0"/>
                <a:cs typeface="Verdana" pitchFamily="34" charset="0"/>
              </a:rPr>
              <a:t>Al evaluar expresiones que contienen operadores aritméticos debemos respetar la jerarquía en el orden de la aplicación. Es decir, si tenemos en una expresión más de un operador, debemos aplicar primero el operador de mayor jerarquía, resolver esa operación, y así sucesivamente, en cualquier lenguaje de programación.</a:t>
            </a:r>
            <a:endParaRPr lang="es-CL" b="0"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10</a:t>
            </a:fld>
            <a:endParaRPr lang="es-CL"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457200" indent="-457200" algn="just">
              <a:buNone/>
            </a:pPr>
            <a:r>
              <a:rPr lang="es-CL" sz="1200" b="0" dirty="0">
                <a:solidFill>
                  <a:schemeClr val="bg1"/>
                </a:solidFill>
                <a:latin typeface="Verdana" pitchFamily="34" charset="0"/>
                <a:ea typeface="Verdana" pitchFamily="34" charset="0"/>
                <a:cs typeface="Verdana" pitchFamily="34" charset="0"/>
              </a:rPr>
              <a:t>Las funciones disponibles en PSeInt  son matemáticas, devuelven resultados de tipo numérico y reciben sólo un parámetro de tipo numérico.</a:t>
            </a:r>
          </a:p>
          <a:p>
            <a:pPr marL="457200" indent="-457200" algn="just">
              <a:buNone/>
            </a:pPr>
            <a:r>
              <a:rPr lang="es-ES_tradnl" sz="1200" b="0" dirty="0">
                <a:solidFill>
                  <a:schemeClr val="bg1"/>
                </a:solidFill>
                <a:latin typeface="Verdana" pitchFamily="34" charset="0"/>
                <a:ea typeface="Verdana" pitchFamily="34" charset="0"/>
                <a:cs typeface="Verdana" pitchFamily="34" charset="0"/>
              </a:rPr>
              <a:t>Para su utilización se coloca su nombre seguido de los argumentos encerrados entre paréntesis.</a:t>
            </a:r>
          </a:p>
          <a:p>
            <a:pPr marL="457200" indent="-457200" algn="just">
              <a:buNone/>
            </a:pPr>
            <a:r>
              <a:rPr lang="es-ES_tradnl" sz="1200" b="0" dirty="0">
                <a:solidFill>
                  <a:schemeClr val="bg1"/>
                </a:solidFill>
                <a:latin typeface="Verdana" pitchFamily="34" charset="0"/>
                <a:ea typeface="Verdana" pitchFamily="34" charset="0"/>
                <a:cs typeface="Verdana" pitchFamily="34" charset="0"/>
              </a:rPr>
              <a:t>Se pueden utilizar dentro de cualquier expresión y cuando se evalúe la misma, se reemplazará por el resultado correspondiente.</a:t>
            </a:r>
            <a:endParaRPr lang="es-ES" sz="1200" b="0" dirty="0">
              <a:solidFill>
                <a:schemeClr val="bg1"/>
              </a:solidFill>
              <a:latin typeface="Verdana" pitchFamily="34" charset="0"/>
              <a:ea typeface="Verdana" pitchFamily="34" charset="0"/>
              <a:cs typeface="Verdana" pitchFamily="34" charset="0"/>
            </a:endParaRPr>
          </a:p>
          <a:p>
            <a:endParaRPr lang="es-CL" dirty="0"/>
          </a:p>
        </p:txBody>
      </p:sp>
      <p:sp>
        <p:nvSpPr>
          <p:cNvPr id="4" name="3 Marcador de número de diapositiva"/>
          <p:cNvSpPr>
            <a:spLocks noGrp="1"/>
          </p:cNvSpPr>
          <p:nvPr>
            <p:ph type="sldNum" sz="quarter" idx="10"/>
          </p:nvPr>
        </p:nvSpPr>
        <p:spPr/>
        <p:txBody>
          <a:bodyPr/>
          <a:lstStyle/>
          <a:p>
            <a:fld id="{8359BAC6-CDD1-495F-B578-B1B655A186A6}" type="slidenum">
              <a:rPr lang="es-CL" smtClean="0"/>
              <a:pPr/>
              <a:t>12</a:t>
            </a:fld>
            <a:endParaRPr lang="es-CL"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a:t>Una expresión lógica</a:t>
            </a:r>
            <a:r>
              <a:rPr lang="es-ES" baseline="0" dirty="0"/>
              <a:t> es una afirmación que planteamos para poder comparar de acuerdo a su veracidad, si es cierta.</a:t>
            </a:r>
          </a:p>
          <a:p>
            <a:r>
              <a:rPr lang="es-ES" baseline="0" dirty="0"/>
              <a:t>Para eso l</a:t>
            </a:r>
            <a:r>
              <a:rPr lang="es-ES" dirty="0"/>
              <a:t>as expresiones lógicas o booleanas, están constituidas por números, constantes o variables y operadores lógicos o racionales.</a:t>
            </a:r>
          </a:p>
          <a:p>
            <a:r>
              <a:rPr lang="es-ES" dirty="0"/>
              <a:t>Las</a:t>
            </a:r>
            <a:r>
              <a:rPr lang="es-ES" baseline="0" dirty="0"/>
              <a:t> expresiones podrán ser ciertas o falsas, dependiendo de la combinación de estos elementos con algún operador lógico.</a:t>
            </a:r>
            <a:endParaRPr lang="es-ES" dirty="0"/>
          </a:p>
        </p:txBody>
      </p:sp>
      <p:sp>
        <p:nvSpPr>
          <p:cNvPr id="4" name="3 Marcador de número de diapositiva"/>
          <p:cNvSpPr>
            <a:spLocks noGrp="1"/>
          </p:cNvSpPr>
          <p:nvPr>
            <p:ph type="sldNum" sz="quarter" idx="10"/>
          </p:nvPr>
        </p:nvSpPr>
        <p:spPr/>
        <p:txBody>
          <a:bodyPr/>
          <a:lstStyle/>
          <a:p>
            <a:fld id="{3792D2CF-A01B-4515-8B40-3DC34258267A}" type="slidenum">
              <a:rPr lang="es-ES" smtClean="0"/>
              <a:pPr/>
              <a:t>14</a:t>
            </a:fld>
            <a:endParaRPr lang="es-ES" dirty="0"/>
          </a:p>
        </p:txBody>
      </p:sp>
    </p:spTree>
    <p:extLst>
      <p:ext uri="{BB962C8B-B14F-4D97-AF65-F5344CB8AC3E}">
        <p14:creationId xmlns:p14="http://schemas.microsoft.com/office/powerpoint/2010/main" val="2751281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buFont typeface="Arial" charset="0"/>
              <a:buNone/>
            </a:pPr>
            <a:r>
              <a:rPr lang="es-ES" sz="800" b="0" i="0" u="none" baseline="0" dirty="0">
                <a:latin typeface="Arial" pitchFamily="34" charset="0"/>
                <a:ea typeface="Verdana" pitchFamily="34" charset="0"/>
                <a:cs typeface="Arial" pitchFamily="34" charset="0"/>
              </a:rPr>
              <a:t>Los operadores relacionales son el conector entre 2 identificadores o valores, por lo tanto dependiendo del valor que tenga cada uno,</a:t>
            </a:r>
          </a:p>
          <a:p>
            <a:pPr algn="just">
              <a:buFont typeface="Arial" charset="0"/>
              <a:buNone/>
            </a:pPr>
            <a:r>
              <a:rPr lang="es-ES" sz="800" b="0" i="0" u="none" baseline="0" dirty="0">
                <a:latin typeface="Arial" pitchFamily="34" charset="0"/>
                <a:ea typeface="Verdana" pitchFamily="34" charset="0"/>
                <a:cs typeface="Arial" pitchFamily="34" charset="0"/>
              </a:rPr>
              <a:t>será el resultado lógico que tendrá verdadero o falso. Un subconjunto clásico de los operadores lógicos son los operadores relacionales,</a:t>
            </a:r>
          </a:p>
          <a:p>
            <a:pPr algn="just">
              <a:buFont typeface="Arial" charset="0"/>
              <a:buNone/>
            </a:pPr>
            <a:r>
              <a:rPr lang="es-ES" sz="800" b="0" i="0" u="none" baseline="0" dirty="0">
                <a:latin typeface="Arial" pitchFamily="34" charset="0"/>
                <a:ea typeface="Verdana" pitchFamily="34" charset="0"/>
                <a:cs typeface="Arial" pitchFamily="34" charset="0"/>
              </a:rPr>
              <a:t>lo constituye los símbolos =, &lt;&gt;, &lt;, &gt;, &lt;=, &gt;=.</a:t>
            </a:r>
          </a:p>
          <a:p>
            <a:pPr algn="just">
              <a:buFont typeface="Arial" charset="0"/>
              <a:buNone/>
            </a:pPr>
            <a:r>
              <a:rPr lang="es-ES" sz="800" b="0" i="0" u="none" baseline="0" dirty="0">
                <a:latin typeface="Arial" pitchFamily="34" charset="0"/>
                <a:ea typeface="Verdana" pitchFamily="34" charset="0"/>
                <a:cs typeface="Arial" pitchFamily="34" charset="0"/>
              </a:rPr>
              <a:t>En donde el símbolo igual compara que 2 identificadores o valores sean iguales,</a:t>
            </a:r>
          </a:p>
          <a:p>
            <a:pPr algn="just">
              <a:buFont typeface="Arial" charset="0"/>
              <a:buNone/>
            </a:pPr>
            <a:r>
              <a:rPr lang="es-ES" sz="800" b="0" i="0" u="none" baseline="0" dirty="0">
                <a:latin typeface="Arial" pitchFamily="34" charset="0"/>
                <a:ea typeface="Verdana" pitchFamily="34" charset="0"/>
                <a:cs typeface="Arial" pitchFamily="34" charset="0"/>
              </a:rPr>
              <a:t>El símbolo &lt;&gt; compara que los 2 identificadores o valores sean distintos,</a:t>
            </a:r>
          </a:p>
          <a:p>
            <a:pPr algn="just">
              <a:buFont typeface="Arial" charset="0"/>
              <a:buNone/>
            </a:pPr>
            <a:r>
              <a:rPr lang="es-ES" sz="800" b="0" i="0" u="none" baseline="0" dirty="0">
                <a:latin typeface="Arial" pitchFamily="34" charset="0"/>
                <a:ea typeface="Verdana" pitchFamily="34" charset="0"/>
                <a:cs typeface="Arial" pitchFamily="34" charset="0"/>
              </a:rPr>
              <a:t>El símbolo &lt; compara que los 2 identificadores o valores el primero sea menor que el segundo,</a:t>
            </a:r>
          </a:p>
          <a:p>
            <a:pPr algn="just">
              <a:buFont typeface="Arial" charset="0"/>
              <a:buNone/>
            </a:pPr>
            <a:r>
              <a:rPr lang="es-ES" sz="800" b="0" i="0" u="none" baseline="0" dirty="0">
                <a:latin typeface="Arial" pitchFamily="34" charset="0"/>
                <a:ea typeface="Verdana" pitchFamily="34" charset="0"/>
                <a:cs typeface="Arial" pitchFamily="34" charset="0"/>
              </a:rPr>
              <a:t>El símbolo &gt; compara que los 2 identificadores o valores el primero sea mayor que el segundo,</a:t>
            </a:r>
          </a:p>
          <a:p>
            <a:pPr algn="just">
              <a:buFont typeface="Arial" charset="0"/>
              <a:buNone/>
            </a:pPr>
            <a:r>
              <a:rPr lang="es-ES" sz="800" b="0" i="0" u="none" baseline="0" dirty="0">
                <a:latin typeface="Arial" pitchFamily="34" charset="0"/>
                <a:ea typeface="Verdana" pitchFamily="34" charset="0"/>
                <a:cs typeface="Arial" pitchFamily="34" charset="0"/>
              </a:rPr>
              <a:t>El símbolo &lt;= compara que los 2 identificadores o valores el primero sea menor o igual que el segundo,</a:t>
            </a:r>
          </a:p>
          <a:p>
            <a:pPr algn="just">
              <a:buFont typeface="Arial" charset="0"/>
              <a:buNone/>
            </a:pPr>
            <a:r>
              <a:rPr lang="es-ES" sz="800" b="0" i="0" u="none" baseline="0" dirty="0">
                <a:latin typeface="Arial" pitchFamily="34" charset="0"/>
                <a:ea typeface="Verdana" pitchFamily="34" charset="0"/>
                <a:cs typeface="Arial" pitchFamily="34" charset="0"/>
              </a:rPr>
              <a:t>El símbolo &gt;= compara que los 2 identificadores o valores el primero sea mayor o igual que el segundo.</a:t>
            </a:r>
          </a:p>
        </p:txBody>
      </p:sp>
      <p:sp>
        <p:nvSpPr>
          <p:cNvPr id="4" name="Slide Number Placeholder 3"/>
          <p:cNvSpPr>
            <a:spLocks noGrp="1"/>
          </p:cNvSpPr>
          <p:nvPr>
            <p:ph type="sldNum" sz="quarter" idx="10"/>
          </p:nvPr>
        </p:nvSpPr>
        <p:spPr/>
        <p:txBody>
          <a:bodyPr/>
          <a:lstStyle/>
          <a:p>
            <a:fld id="{3792D2CF-A01B-4515-8B40-3DC34258267A}" type="slidenum">
              <a:rPr lang="es-ES" smtClean="0"/>
              <a:pPr/>
              <a:t>15</a:t>
            </a:fld>
            <a:endParaRPr lang="es-E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a:t>Los operadores lógicos son operadores que permiten formular condiciones complejas a partir de condiciones simples. </a:t>
            </a:r>
          </a:p>
          <a:p>
            <a:r>
              <a:rPr lang="es-ES" dirty="0"/>
              <a:t>Los operadores lógicos son de conjunción (y), disyunción (o) y negación (no).</a:t>
            </a:r>
          </a:p>
          <a:p>
            <a:endParaRPr lang="es-ES" dirty="0"/>
          </a:p>
        </p:txBody>
      </p:sp>
      <p:sp>
        <p:nvSpPr>
          <p:cNvPr id="4" name="3 Marcador de número de diapositiva"/>
          <p:cNvSpPr>
            <a:spLocks noGrp="1"/>
          </p:cNvSpPr>
          <p:nvPr>
            <p:ph type="sldNum" sz="quarter" idx="10"/>
          </p:nvPr>
        </p:nvSpPr>
        <p:spPr/>
        <p:txBody>
          <a:bodyPr/>
          <a:lstStyle/>
          <a:p>
            <a:fld id="{3792D2CF-A01B-4515-8B40-3DC34258267A}" type="slidenum">
              <a:rPr lang="es-ES" smtClean="0"/>
              <a:pPr/>
              <a:t>16</a:t>
            </a:fld>
            <a:endParaRPr lang="es-ES" dirty="0"/>
          </a:p>
        </p:txBody>
      </p:sp>
    </p:spTree>
    <p:extLst>
      <p:ext uri="{BB962C8B-B14F-4D97-AF65-F5344CB8AC3E}">
        <p14:creationId xmlns:p14="http://schemas.microsoft.com/office/powerpoint/2010/main" val="3960219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a:t>Los operadores lógicos posee una jerarquía definida en donde el operador lógico NO,</a:t>
            </a:r>
          </a:p>
          <a:p>
            <a:r>
              <a:rPr lang="es-ES" dirty="0"/>
              <a:t>es el de mayor jerarquía, sigue el operador lógico Y y termina en O.</a:t>
            </a:r>
          </a:p>
        </p:txBody>
      </p:sp>
      <p:sp>
        <p:nvSpPr>
          <p:cNvPr id="4" name="3 Marcador de número de diapositiva"/>
          <p:cNvSpPr>
            <a:spLocks noGrp="1"/>
          </p:cNvSpPr>
          <p:nvPr>
            <p:ph type="sldNum" sz="quarter" idx="10"/>
          </p:nvPr>
        </p:nvSpPr>
        <p:spPr/>
        <p:txBody>
          <a:bodyPr/>
          <a:lstStyle/>
          <a:p>
            <a:fld id="{3792D2CF-A01B-4515-8B40-3DC34258267A}" type="slidenum">
              <a:rPr lang="es-ES" smtClean="0"/>
              <a:pPr/>
              <a:t>20</a:t>
            </a:fld>
            <a:endParaRPr lang="es-ES" dirty="0"/>
          </a:p>
        </p:txBody>
      </p:sp>
    </p:spTree>
    <p:extLst>
      <p:ext uri="{BB962C8B-B14F-4D97-AF65-F5344CB8AC3E}">
        <p14:creationId xmlns:p14="http://schemas.microsoft.com/office/powerpoint/2010/main" val="21765656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buFont typeface="Arial" charset="0"/>
              <a:buNone/>
            </a:pPr>
            <a:r>
              <a:rPr lang="es-ES" sz="800" b="0" i="0" u="none" baseline="0" dirty="0">
                <a:latin typeface="Arial" pitchFamily="34" charset="0"/>
                <a:ea typeface="Verdana" pitchFamily="34" charset="0"/>
                <a:cs typeface="Arial" pitchFamily="34" charset="0"/>
              </a:rPr>
              <a:t>La idea es que de acuerdo a la condición si esta se cumple, entonces se ejecute un conjunto de instrucciones,</a:t>
            </a:r>
          </a:p>
          <a:p>
            <a:pPr algn="just">
              <a:buFont typeface="Arial" charset="0"/>
              <a:buNone/>
            </a:pPr>
            <a:r>
              <a:rPr lang="es-ES" sz="800" b="0" i="0" u="none" baseline="0" dirty="0">
                <a:latin typeface="Arial" pitchFamily="34" charset="0"/>
                <a:ea typeface="Verdana" pitchFamily="34" charset="0"/>
                <a:cs typeface="Arial" pitchFamily="34" charset="0"/>
              </a:rPr>
              <a:t>en caso que la condición no se cumpla, se ejecuta otro conjunto de instrucciones,</a:t>
            </a:r>
          </a:p>
          <a:p>
            <a:pPr algn="just">
              <a:buFont typeface="Arial" charset="0"/>
              <a:buNone/>
            </a:pPr>
            <a:r>
              <a:rPr lang="es-ES" sz="800" b="0" i="0" u="none" baseline="0" dirty="0">
                <a:latin typeface="Arial" pitchFamily="34" charset="0"/>
                <a:ea typeface="Verdana" pitchFamily="34" charset="0"/>
                <a:cs typeface="Arial" pitchFamily="34" charset="0"/>
              </a:rPr>
              <a:t>Por otro lado una de las cosas que hay que destacar, es que por ninguna razón se ejecutarán ambas instrucciones.</a:t>
            </a:r>
          </a:p>
          <a:p>
            <a:pPr algn="just">
              <a:buFont typeface="Arial" charset="0"/>
              <a:buNone/>
            </a:pPr>
            <a:r>
              <a:rPr lang="es-ES" sz="800" b="0" i="0" u="none" baseline="0" dirty="0">
                <a:latin typeface="Arial" pitchFamily="34" charset="0"/>
                <a:ea typeface="Verdana" pitchFamily="34" charset="0"/>
                <a:cs typeface="Arial" pitchFamily="34" charset="0"/>
              </a:rPr>
              <a:t>Se podría decir que existe un salto dependiendo de la condición.</a:t>
            </a:r>
          </a:p>
        </p:txBody>
      </p:sp>
      <p:sp>
        <p:nvSpPr>
          <p:cNvPr id="4" name="Slide Number Placeholder 3"/>
          <p:cNvSpPr>
            <a:spLocks noGrp="1"/>
          </p:cNvSpPr>
          <p:nvPr>
            <p:ph type="sldNum" sz="quarter" idx="10"/>
          </p:nvPr>
        </p:nvSpPr>
        <p:spPr/>
        <p:txBody>
          <a:bodyPr/>
          <a:lstStyle/>
          <a:p>
            <a:fld id="{3792D2CF-A01B-4515-8B40-3DC34258267A}" type="slidenum">
              <a:rPr lang="es-ES" smtClean="0"/>
              <a:pPr/>
              <a:t>21</a:t>
            </a:fld>
            <a:endParaRPr lang="es-E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a:t>Para ejemplificar más este tipo nueva de estructura veremos el siguiente caso:</a:t>
            </a:r>
          </a:p>
          <a:p>
            <a:r>
              <a:rPr lang="es-ES" dirty="0"/>
              <a:t>Primero Iniciamos el proceso selección,</a:t>
            </a:r>
          </a:p>
          <a:p>
            <a:r>
              <a:rPr lang="es-ES" dirty="0"/>
              <a:t>Segundo Definimos una variable llamada numero,</a:t>
            </a:r>
          </a:p>
          <a:p>
            <a:r>
              <a:rPr lang="es-ES" dirty="0"/>
              <a:t>Tercero Escribimos al usuario que ingrese el numero,</a:t>
            </a:r>
          </a:p>
          <a:p>
            <a:r>
              <a:rPr lang="es-ES" dirty="0"/>
              <a:t>Cuarto Solicitamos con la instrucción Leer el numero,</a:t>
            </a:r>
          </a:p>
          <a:p>
            <a:r>
              <a:rPr lang="es-ES" dirty="0"/>
              <a:t>Quinto si el numero es igual a 7 entonces mostramos</a:t>
            </a:r>
          </a:p>
          <a:p>
            <a:r>
              <a:rPr lang="es-ES" dirty="0"/>
              <a:t>Es el numero que necesitábamos,</a:t>
            </a:r>
          </a:p>
          <a:p>
            <a:r>
              <a:rPr lang="es-ES" dirty="0"/>
              <a:t>Sexto si el numero no es igual a 7 entonces mostramos</a:t>
            </a:r>
          </a:p>
          <a:p>
            <a:r>
              <a:rPr lang="es-ES" dirty="0"/>
              <a:t>Este numero no lo necesitamos</a:t>
            </a:r>
          </a:p>
          <a:p>
            <a:r>
              <a:rPr lang="es-ES" dirty="0"/>
              <a:t>Por último terminamos el proceso</a:t>
            </a:r>
          </a:p>
          <a:p>
            <a:endParaRPr lang="es-ES" dirty="0"/>
          </a:p>
        </p:txBody>
      </p:sp>
      <p:sp>
        <p:nvSpPr>
          <p:cNvPr id="4" name="3 Marcador de número de diapositiva"/>
          <p:cNvSpPr>
            <a:spLocks noGrp="1"/>
          </p:cNvSpPr>
          <p:nvPr>
            <p:ph type="sldNum" sz="quarter" idx="10"/>
          </p:nvPr>
        </p:nvSpPr>
        <p:spPr/>
        <p:txBody>
          <a:bodyPr/>
          <a:lstStyle/>
          <a:p>
            <a:fld id="{3792D2CF-A01B-4515-8B40-3DC34258267A}" type="slidenum">
              <a:rPr lang="es-ES" smtClean="0"/>
              <a:pPr/>
              <a:t>22</a:t>
            </a:fld>
            <a:endParaRPr lang="es-ES" dirty="0"/>
          </a:p>
        </p:txBody>
      </p:sp>
    </p:spTree>
    <p:extLst>
      <p:ext uri="{BB962C8B-B14F-4D97-AF65-F5344CB8AC3E}">
        <p14:creationId xmlns:p14="http://schemas.microsoft.com/office/powerpoint/2010/main" val="39602194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buFont typeface="Arial" charset="0"/>
              <a:buNone/>
            </a:pPr>
            <a:r>
              <a:rPr lang="es-ES" sz="800" b="0" i="0" u="none" dirty="0">
                <a:latin typeface="Arial" pitchFamily="34" charset="0"/>
                <a:ea typeface="Verdana" pitchFamily="34" charset="0"/>
                <a:cs typeface="Arial" pitchFamily="34" charset="0"/>
              </a:rPr>
              <a:t>A</a:t>
            </a:r>
            <a:r>
              <a:rPr lang="es-ES" sz="800" b="0" i="0" u="none" baseline="0" dirty="0">
                <a:latin typeface="Arial" pitchFamily="34" charset="0"/>
                <a:ea typeface="Verdana" pitchFamily="34" charset="0"/>
                <a:cs typeface="Arial" pitchFamily="34" charset="0"/>
              </a:rPr>
              <a:t> partir de la condición simple, pasamos a crear una expresión lógica.</a:t>
            </a:r>
          </a:p>
          <a:p>
            <a:pPr algn="just">
              <a:buFont typeface="Arial" charset="0"/>
              <a:buNone/>
            </a:pPr>
            <a:r>
              <a:rPr lang="es-ES" sz="800" b="0" i="0" u="none" baseline="0" dirty="0">
                <a:latin typeface="Arial" pitchFamily="34" charset="0"/>
                <a:ea typeface="Verdana" pitchFamily="34" charset="0"/>
                <a:cs typeface="Arial" pitchFamily="34" charset="0"/>
              </a:rPr>
              <a:t>Cuando tenemos más de una condición, existen conectores lógicos.</a:t>
            </a:r>
          </a:p>
          <a:p>
            <a:pPr algn="just">
              <a:buFont typeface="Arial" charset="0"/>
              <a:buNone/>
            </a:pPr>
            <a:r>
              <a:rPr lang="es-ES" sz="800" b="0" i="0" u="none" baseline="0" dirty="0">
                <a:latin typeface="Arial" pitchFamily="34" charset="0"/>
                <a:ea typeface="Verdana" pitchFamily="34" charset="0"/>
                <a:cs typeface="Arial" pitchFamily="34" charset="0"/>
              </a:rPr>
              <a:t>Uno de ellos es el conector y, otra forma de decirlo es intersección.</a:t>
            </a:r>
          </a:p>
          <a:p>
            <a:pPr algn="just">
              <a:buFont typeface="Arial" charset="0"/>
              <a:buNone/>
            </a:pPr>
            <a:r>
              <a:rPr lang="es-ES" sz="800" b="0" i="0" u="none" baseline="0" dirty="0">
                <a:latin typeface="Arial" pitchFamily="34" charset="0"/>
                <a:ea typeface="Verdana" pitchFamily="34" charset="0"/>
                <a:cs typeface="Arial" pitchFamily="34" charset="0"/>
              </a:rPr>
              <a:t>El conector o, otra forma de decirlo es unión.</a:t>
            </a:r>
          </a:p>
          <a:p>
            <a:pPr algn="just">
              <a:buFont typeface="Arial" charset="0"/>
              <a:buNone/>
            </a:pPr>
            <a:r>
              <a:rPr lang="es-ES" sz="800" b="0" i="0" u="none" baseline="0" dirty="0">
                <a:latin typeface="Arial" pitchFamily="34" charset="0"/>
                <a:ea typeface="Verdana" pitchFamily="34" charset="0"/>
                <a:cs typeface="Arial" pitchFamily="34" charset="0"/>
              </a:rPr>
              <a:t>La estructura de una expresión lógica se rige al igual que la estructura condicional, la diferencia es que la condición es más compleja.</a:t>
            </a:r>
          </a:p>
        </p:txBody>
      </p:sp>
      <p:sp>
        <p:nvSpPr>
          <p:cNvPr id="4" name="Slide Number Placeholder 3"/>
          <p:cNvSpPr>
            <a:spLocks noGrp="1"/>
          </p:cNvSpPr>
          <p:nvPr>
            <p:ph type="sldNum" sz="quarter" idx="10"/>
          </p:nvPr>
        </p:nvSpPr>
        <p:spPr/>
        <p:txBody>
          <a:bodyPr/>
          <a:lstStyle/>
          <a:p>
            <a:fld id="{3792D2CF-A01B-4515-8B40-3DC34258267A}" type="slidenum">
              <a:rPr lang="es-ES" smtClean="0"/>
              <a:pPr/>
              <a:t>23</a:t>
            </a:fld>
            <a:endParaRPr lang="es-E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a:t>La</a:t>
            </a:r>
            <a:r>
              <a:rPr lang="es-ES" baseline="0" dirty="0"/>
              <a:t> expresión lógica con el conector y, tiene la cualidad que si ambas condiciones son verdaderas entonces</a:t>
            </a:r>
          </a:p>
          <a:p>
            <a:r>
              <a:rPr lang="es-ES" baseline="0" dirty="0"/>
              <a:t>Es verdadera la expresión lógica.</a:t>
            </a:r>
          </a:p>
          <a:p>
            <a:r>
              <a:rPr lang="es-ES" dirty="0"/>
              <a:t>En</a:t>
            </a:r>
            <a:r>
              <a:rPr lang="es-ES" baseline="0" dirty="0"/>
              <a:t> el primer ejemplo tenemos dos números,</a:t>
            </a:r>
          </a:p>
          <a:p>
            <a:r>
              <a:rPr lang="es-ES" baseline="0" dirty="0"/>
              <a:t>En donde la primera condición num1==2 es verdadera,</a:t>
            </a:r>
          </a:p>
          <a:p>
            <a:r>
              <a:rPr lang="es-ES" baseline="0" dirty="0"/>
              <a:t>La segunda condición num2==4 es verdadera,</a:t>
            </a:r>
          </a:p>
          <a:p>
            <a:r>
              <a:rPr lang="es-ES" baseline="0" dirty="0"/>
              <a:t>Entonces toda la expresión lógica es verdadera,</a:t>
            </a:r>
          </a:p>
          <a:p>
            <a:r>
              <a:rPr lang="es-ES" baseline="0" dirty="0"/>
              <a:t>Por lo tanto escribe el programa Es verdadero.</a:t>
            </a:r>
          </a:p>
          <a:p>
            <a:r>
              <a:rPr lang="es-ES" baseline="0" dirty="0"/>
              <a:t>En el segundo ejemplo tenemos dos números,</a:t>
            </a:r>
          </a:p>
          <a:p>
            <a:r>
              <a:rPr lang="es-ES" baseline="0" dirty="0"/>
              <a:t>En donde la primera condición num1==2 es falso,</a:t>
            </a:r>
          </a:p>
          <a:p>
            <a:r>
              <a:rPr lang="es-ES" baseline="0" dirty="0"/>
              <a:t>La segunda condición num2==4 es verdadera,</a:t>
            </a:r>
          </a:p>
          <a:p>
            <a:r>
              <a:rPr lang="es-ES" baseline="0" dirty="0"/>
              <a:t>Entonces toda la expresión lógica es falsa,</a:t>
            </a:r>
          </a:p>
          <a:p>
            <a:r>
              <a:rPr lang="es-ES" baseline="0" dirty="0"/>
              <a:t>Porque tiene al menos una condición falsa.</a:t>
            </a:r>
          </a:p>
        </p:txBody>
      </p:sp>
      <p:sp>
        <p:nvSpPr>
          <p:cNvPr id="4" name="3 Marcador de número de diapositiva"/>
          <p:cNvSpPr>
            <a:spLocks noGrp="1"/>
          </p:cNvSpPr>
          <p:nvPr>
            <p:ph type="sldNum" sz="quarter" idx="10"/>
          </p:nvPr>
        </p:nvSpPr>
        <p:spPr/>
        <p:txBody>
          <a:bodyPr/>
          <a:lstStyle/>
          <a:p>
            <a:fld id="{3792D2CF-A01B-4515-8B40-3DC34258267A}" type="slidenum">
              <a:rPr lang="es-ES" smtClean="0"/>
              <a:pPr/>
              <a:t>24</a:t>
            </a:fld>
            <a:endParaRPr lang="es-ES" dirty="0"/>
          </a:p>
        </p:txBody>
      </p:sp>
    </p:spTree>
    <p:extLst>
      <p:ext uri="{BB962C8B-B14F-4D97-AF65-F5344CB8AC3E}">
        <p14:creationId xmlns:p14="http://schemas.microsoft.com/office/powerpoint/2010/main" val="298476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a:t>La</a:t>
            </a:r>
            <a:r>
              <a:rPr lang="es-ES" baseline="0" dirty="0"/>
              <a:t> expresión lógica con el conector o, tiene la cualidad que si ambas condiciones son falsas entonces</a:t>
            </a:r>
          </a:p>
          <a:p>
            <a:r>
              <a:rPr lang="es-ES" baseline="0" dirty="0"/>
              <a:t>Es falsa la expresión lógica.</a:t>
            </a:r>
          </a:p>
          <a:p>
            <a:r>
              <a:rPr lang="es-ES" dirty="0"/>
              <a:t>En</a:t>
            </a:r>
            <a:r>
              <a:rPr lang="es-ES" baseline="0" dirty="0"/>
              <a:t> el primer ejemplo tenemos dos números,</a:t>
            </a:r>
          </a:p>
          <a:p>
            <a:r>
              <a:rPr lang="es-ES" baseline="0" dirty="0"/>
              <a:t>En donde la primera condición num1==2 es falsa,</a:t>
            </a:r>
          </a:p>
          <a:p>
            <a:r>
              <a:rPr lang="es-ES" baseline="0" dirty="0"/>
              <a:t>La segunda condición num2==4 es verdadera,</a:t>
            </a:r>
          </a:p>
          <a:p>
            <a:r>
              <a:rPr lang="es-ES" baseline="0" dirty="0"/>
              <a:t>Entonces toda la expresión lógica es verdadera,</a:t>
            </a:r>
          </a:p>
          <a:p>
            <a:r>
              <a:rPr lang="es-ES" baseline="0" dirty="0"/>
              <a:t>Por lo tanto escribe el programa Es verdadero.</a:t>
            </a:r>
          </a:p>
          <a:p>
            <a:r>
              <a:rPr lang="es-ES" baseline="0" dirty="0"/>
              <a:t>En el segundo ejemplo tenemos dos números,</a:t>
            </a:r>
          </a:p>
          <a:p>
            <a:r>
              <a:rPr lang="es-ES" baseline="0" dirty="0"/>
              <a:t>En donde la primera condición num1==2 es falsa,</a:t>
            </a:r>
          </a:p>
          <a:p>
            <a:r>
              <a:rPr lang="es-ES" baseline="0" dirty="0"/>
              <a:t>La segunda condición num2==4 es falsa,</a:t>
            </a:r>
          </a:p>
          <a:p>
            <a:r>
              <a:rPr lang="es-ES" baseline="0" dirty="0"/>
              <a:t>Entonces toda la expresión lógica es falsa,</a:t>
            </a:r>
          </a:p>
          <a:p>
            <a:r>
              <a:rPr lang="es-ES" baseline="0" dirty="0"/>
              <a:t>Por que ambas condiciones son falsas.</a:t>
            </a:r>
          </a:p>
        </p:txBody>
      </p:sp>
      <p:sp>
        <p:nvSpPr>
          <p:cNvPr id="4" name="3 Marcador de número de diapositiva"/>
          <p:cNvSpPr>
            <a:spLocks noGrp="1"/>
          </p:cNvSpPr>
          <p:nvPr>
            <p:ph type="sldNum" sz="quarter" idx="10"/>
          </p:nvPr>
        </p:nvSpPr>
        <p:spPr/>
        <p:txBody>
          <a:bodyPr/>
          <a:lstStyle/>
          <a:p>
            <a:fld id="{3792D2CF-A01B-4515-8B40-3DC34258267A}" type="slidenum">
              <a:rPr lang="es-ES" smtClean="0"/>
              <a:pPr/>
              <a:t>25</a:t>
            </a:fld>
            <a:endParaRPr lang="es-ES" dirty="0"/>
          </a:p>
        </p:txBody>
      </p:sp>
    </p:spTree>
    <p:extLst>
      <p:ext uri="{BB962C8B-B14F-4D97-AF65-F5344CB8AC3E}">
        <p14:creationId xmlns:p14="http://schemas.microsoft.com/office/powerpoint/2010/main" val="37329460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a:t>En</a:t>
            </a:r>
            <a:r>
              <a:rPr lang="es-ES" baseline="0" dirty="0"/>
              <a:t> las expresiones lógicas existe una forma de anidar expresiones, cuando estructura condicional si condición sino finsi.</a:t>
            </a:r>
          </a:p>
          <a:p>
            <a:r>
              <a:rPr lang="es-ES" baseline="0" dirty="0"/>
              <a:t>Ingresamos dentro de ella otra estructura condicional si condición sino finsi.</a:t>
            </a:r>
          </a:p>
          <a:p>
            <a:r>
              <a:rPr lang="es-ES" baseline="0" dirty="0"/>
              <a:t>Podemos anidar condiciones y generar nuevas estructuras de condiciones.</a:t>
            </a:r>
            <a:endParaRPr lang="es-ES" dirty="0"/>
          </a:p>
        </p:txBody>
      </p:sp>
      <p:sp>
        <p:nvSpPr>
          <p:cNvPr id="4" name="3 Marcador de número de diapositiva"/>
          <p:cNvSpPr>
            <a:spLocks noGrp="1"/>
          </p:cNvSpPr>
          <p:nvPr>
            <p:ph type="sldNum" sz="quarter" idx="10"/>
          </p:nvPr>
        </p:nvSpPr>
        <p:spPr/>
        <p:txBody>
          <a:bodyPr/>
          <a:lstStyle/>
          <a:p>
            <a:fld id="{3792D2CF-A01B-4515-8B40-3DC34258267A}" type="slidenum">
              <a:rPr lang="es-ES" smtClean="0"/>
              <a:pPr/>
              <a:t>26</a:t>
            </a:fld>
            <a:endParaRPr lang="es-ES" dirty="0"/>
          </a:p>
        </p:txBody>
      </p:sp>
    </p:spTree>
    <p:extLst>
      <p:ext uri="{BB962C8B-B14F-4D97-AF65-F5344CB8AC3E}">
        <p14:creationId xmlns:p14="http://schemas.microsoft.com/office/powerpoint/2010/main" val="31818515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CL" baseline="0" dirty="0"/>
          </a:p>
        </p:txBody>
      </p:sp>
      <p:sp>
        <p:nvSpPr>
          <p:cNvPr id="4" name="3 Marcador de número de diapositiva"/>
          <p:cNvSpPr>
            <a:spLocks noGrp="1"/>
          </p:cNvSpPr>
          <p:nvPr>
            <p:ph type="sldNum" sz="quarter" idx="10"/>
          </p:nvPr>
        </p:nvSpPr>
        <p:spPr/>
        <p:txBody>
          <a:bodyPr/>
          <a:lstStyle/>
          <a:p>
            <a:fld id="{3792D2CF-A01B-4515-8B40-3DC34258267A}" type="slidenum">
              <a:rPr lang="es-CL" smtClean="0"/>
              <a:pPr/>
              <a:t>28</a:t>
            </a:fld>
            <a:endParaRPr lang="es-CL"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34A58-7118-6775-3A4E-5C2D28A0E59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F7B311DE-94C9-F3FA-775A-5516585021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B5E27089-8567-C504-A023-F079AA079C51}"/>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499EB7FB-FF84-A608-0E49-BB2FD11483D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A7778B7-768F-4913-FBBA-BA370AEECA58}"/>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708501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C990C-7E58-7A8B-54DF-69ED94E2EC7B}"/>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CF0313AB-ADAE-0B6B-8B60-DA4395437E6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1FC5E0E8-1FE5-2852-EE4F-DE6C3438BC67}"/>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C77A4A64-2EA9-28E3-2B23-DD5D0CF7DE3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E8604E8-B245-95AD-5EED-EBB32D25FA66}"/>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3074703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1CEC80-021A-AC44-3438-0F21DB96263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9BA45A6-FF18-B6A2-B5C4-ED2F5BFE91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85F8DD4-540D-9018-872B-7E459A91DBC9}"/>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178D647C-51D9-B4B7-38DA-73015C0BDB2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9F5DE53-57AA-5B9B-1EF2-C0BF348EF13A}"/>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3390684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BD62E3-26AB-D36B-3A83-8C7E23F527A2}"/>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0B8362E-7A09-AA55-0254-C69833D34DC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CACE6FE3-3C64-E72A-7F44-08FFE4CC390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C86482E6-F35B-8EB9-2ED8-37329AD62F1B}"/>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6" name="Marcador de pie de página 5">
            <a:extLst>
              <a:ext uri="{FF2B5EF4-FFF2-40B4-BE49-F238E27FC236}">
                <a16:creationId xmlns:a16="http://schemas.microsoft.com/office/drawing/2014/main" id="{C994F689-6794-4E11-00E6-CC22611C55AC}"/>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0FF9F050-B1F8-B3B7-0A1A-0B29424371C1}"/>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2692314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5472E4-006C-375E-0B18-45348130B069}"/>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EAEC51E9-828F-E351-2D6A-1CD4782A7D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A428A40-14C9-E200-B5BD-23342068455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96630129-456E-6949-614B-B331694705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05C0D87-ACE0-827D-9D9A-0591C1EF40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2E8FB0F0-4309-2B03-D7A6-38F036411342}"/>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8" name="Marcador de pie de página 7">
            <a:extLst>
              <a:ext uri="{FF2B5EF4-FFF2-40B4-BE49-F238E27FC236}">
                <a16:creationId xmlns:a16="http://schemas.microsoft.com/office/drawing/2014/main" id="{427C96AD-A272-BCA0-060F-B378B8AE676E}"/>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4F388B39-0FC0-A255-E49C-7843AEE30045}"/>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467307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948D1F-FE64-E174-9E5B-272A4F74A13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203488B8-DFCB-8258-6E38-6ABC004243DA}"/>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4" name="Marcador de pie de página 3">
            <a:extLst>
              <a:ext uri="{FF2B5EF4-FFF2-40B4-BE49-F238E27FC236}">
                <a16:creationId xmlns:a16="http://schemas.microsoft.com/office/drawing/2014/main" id="{0BEA4386-B372-4842-BBF3-7BCEB93407D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F571E515-2E3E-A213-2193-8F028DB3FA5B}"/>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4241016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698B507-22C1-77F3-1BEE-8FBE37B0AEB6}"/>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3" name="Marcador de pie de página 2">
            <a:extLst>
              <a:ext uri="{FF2B5EF4-FFF2-40B4-BE49-F238E27FC236}">
                <a16:creationId xmlns:a16="http://schemas.microsoft.com/office/drawing/2014/main" id="{D573EA01-DFAF-5118-3AC7-E1A812A9DC83}"/>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F3B360B9-63EF-FD2E-27D2-31BBAFC6AFE7}"/>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2451068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92BC58-1B71-52C9-D0C3-1BAA2E1A440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E2E5219F-2C41-6667-9591-32B836D09C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E49ADB86-F016-E554-DC92-3CC541A014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92122E2-92AE-5A6A-71E3-9F23A2AC03ED}"/>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6" name="Marcador de pie de página 5">
            <a:extLst>
              <a:ext uri="{FF2B5EF4-FFF2-40B4-BE49-F238E27FC236}">
                <a16:creationId xmlns:a16="http://schemas.microsoft.com/office/drawing/2014/main" id="{EACD53F3-AC53-7C1D-26BD-E281FC772342}"/>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C20C2D3D-281D-1F9F-C676-1B274385520F}"/>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1651273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618E98-60F1-CC38-E130-55CC6A59EE2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D6A92DB1-C153-DC3A-FE05-EB5A99C72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14ECC43C-C01A-2FBF-D75B-ABF12AF063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D7678BC-5D02-0338-B53B-C9CD26EEB9F0}"/>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6" name="Marcador de pie de página 5">
            <a:extLst>
              <a:ext uri="{FF2B5EF4-FFF2-40B4-BE49-F238E27FC236}">
                <a16:creationId xmlns:a16="http://schemas.microsoft.com/office/drawing/2014/main" id="{0DE75F06-C350-D139-F1FB-E5768ADE6022}"/>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85909B2C-2372-EC01-1F04-5747110B817A}"/>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3386070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1A26F2-7677-4DC7-C1CA-96FFAEFD0023}"/>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5964FD1-B53D-49EA-56EE-F8CA9647262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FF09158-F381-CF85-DDA1-E26A164DB347}"/>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BEE2337B-3ACE-28F8-EB59-54A73F6BF86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95BA52D-BAE6-3DF0-9EA6-A236BFCD265A}"/>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1791513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DA0E977-BB0D-54B7-D1D0-71A2E09FB32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11743499-DB8A-61E0-0AC6-1326313E47C9}"/>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1AC7CBE1-0598-5370-E961-DA25B859ABC9}"/>
              </a:ext>
            </a:extLst>
          </p:cNvPr>
          <p:cNvSpPr>
            <a:spLocks noGrp="1"/>
          </p:cNvSpPr>
          <p:nvPr>
            <p:ph type="dt" sz="half" idx="10"/>
          </p:nvPr>
        </p:nvSpPr>
        <p:spPr/>
        <p:txBody>
          <a:body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9F0A1D84-1FC2-A0DD-6194-334E17903DC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E55205D-F8EE-6866-F7C7-D99A2A6C0C48}"/>
              </a:ext>
            </a:extLst>
          </p:cNvPr>
          <p:cNvSpPr>
            <a:spLocks noGrp="1"/>
          </p:cNvSpPr>
          <p:nvPr>
            <p:ph type="sldNum" sz="quarter" idx="12"/>
          </p:nvPr>
        </p:nvSpPr>
        <p:spPr/>
        <p:txBody>
          <a:bodyPr/>
          <a:lstStyle/>
          <a:p>
            <a:fld id="{CC16B985-AEBA-44BA-A4E0-F0B7D9062369}" type="slidenum">
              <a:rPr lang="es-CL" smtClean="0"/>
              <a:t>‹Nº›</a:t>
            </a:fld>
            <a:endParaRPr lang="es-CL"/>
          </a:p>
        </p:txBody>
      </p:sp>
    </p:spTree>
    <p:extLst>
      <p:ext uri="{BB962C8B-B14F-4D97-AF65-F5344CB8AC3E}">
        <p14:creationId xmlns:p14="http://schemas.microsoft.com/office/powerpoint/2010/main" val="2537250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39DCA9B-CBAD-8B8B-DF58-ADDAF60BA8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30AE67BF-B24E-3BF3-4867-0017D7892D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6244CFC5-2869-5BBF-D5C6-F45E671851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FEDBE3-DC2B-482B-9C40-482EEB08E9A9}" type="datetimeFigureOut">
              <a:rPr lang="es-CL" smtClean="0"/>
              <a:t>11-03-2025</a:t>
            </a:fld>
            <a:endParaRPr lang="es-CL"/>
          </a:p>
        </p:txBody>
      </p:sp>
      <p:sp>
        <p:nvSpPr>
          <p:cNvPr id="5" name="Marcador de pie de página 4">
            <a:extLst>
              <a:ext uri="{FF2B5EF4-FFF2-40B4-BE49-F238E27FC236}">
                <a16:creationId xmlns:a16="http://schemas.microsoft.com/office/drawing/2014/main" id="{17C7A9D6-68D9-94E9-3F79-F3544E2006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B747B5C2-FE86-C9D8-7D1E-658F73195A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16B985-AEBA-44BA-A4E0-F0B7D9062369}" type="slidenum">
              <a:rPr lang="es-CL" smtClean="0"/>
              <a:t>‹Nº›</a:t>
            </a:fld>
            <a:endParaRPr lang="es-CL"/>
          </a:p>
        </p:txBody>
      </p:sp>
    </p:spTree>
    <p:extLst>
      <p:ext uri="{BB962C8B-B14F-4D97-AF65-F5344CB8AC3E}">
        <p14:creationId xmlns:p14="http://schemas.microsoft.com/office/powerpoint/2010/main" val="3191727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1C0CDF87-1BAB-BB67-ED9A-27A1B570C61E}"/>
              </a:ext>
            </a:extLst>
          </p:cNvPr>
          <p:cNvSpPr>
            <a:spLocks noGrp="1"/>
          </p:cNvSpPr>
          <p:nvPr>
            <p:ph type="subTitle" idx="1"/>
          </p:nvPr>
        </p:nvSpPr>
        <p:spPr>
          <a:xfrm>
            <a:off x="1524000" y="3602038"/>
            <a:ext cx="9144000" cy="1553856"/>
          </a:xfrm>
        </p:spPr>
        <p:txBody>
          <a:bodyPr>
            <a:normAutofit/>
          </a:bodyPr>
          <a:lstStyle/>
          <a:p>
            <a:r>
              <a:rPr lang="es-CL" sz="3600" b="1" noProof="0" dirty="0">
                <a:latin typeface="Candara"/>
                <a:cs typeface="Candara"/>
              </a:rPr>
              <a:t>Desafío IA</a:t>
            </a:r>
          </a:p>
        </p:txBody>
      </p:sp>
      <p:pic>
        <p:nvPicPr>
          <p:cNvPr id="5" name="Imagen 4">
            <a:extLst>
              <a:ext uri="{FF2B5EF4-FFF2-40B4-BE49-F238E27FC236}">
                <a16:creationId xmlns:a16="http://schemas.microsoft.com/office/drawing/2014/main" id="{ADE751EE-16EE-18E1-6CB1-144C4CBFA47D}"/>
              </a:ext>
            </a:extLst>
          </p:cNvPr>
          <p:cNvPicPr>
            <a:picLocks noChangeAspect="1"/>
          </p:cNvPicPr>
          <p:nvPr/>
        </p:nvPicPr>
        <p:blipFill>
          <a:blip r:embed="rId2"/>
          <a:stretch>
            <a:fillRect/>
          </a:stretch>
        </p:blipFill>
        <p:spPr>
          <a:xfrm>
            <a:off x="3849687" y="1427162"/>
            <a:ext cx="4086225" cy="1828800"/>
          </a:xfrm>
          <a:prstGeom prst="rect">
            <a:avLst/>
          </a:prstGeom>
        </p:spPr>
      </p:pic>
    </p:spTree>
    <p:extLst>
      <p:ext uri="{BB962C8B-B14F-4D97-AF65-F5344CB8AC3E}">
        <p14:creationId xmlns:p14="http://schemas.microsoft.com/office/powerpoint/2010/main" val="3364048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2 Título"/>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effectLst>
                  <a:outerShdw blurRad="38100" dist="38100" dir="2700000" algn="tl">
                    <a:srgbClr val="000000">
                      <a:alpha val="43137"/>
                    </a:srgbClr>
                  </a:outerShdw>
                </a:effectLst>
              </a:rPr>
              <a:t>Objetivos</a:t>
            </a:r>
          </a:p>
        </p:txBody>
      </p:sp>
      <p:sp>
        <p:nvSpPr>
          <p:cNvPr id="13"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5 Rectángulo redondeado"/>
          <p:cNvSpPr/>
          <p:nvPr/>
        </p:nvSpPr>
        <p:spPr>
          <a:xfrm>
            <a:off x="572493" y="2071316"/>
            <a:ext cx="6713552" cy="4119172"/>
          </a:xfrm>
          <a:prstGeom prst="roundRect">
            <a:avLst>
              <a:gd name="adj" fmla="val 6000"/>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t" anchorCtr="0">
            <a:normAutofit/>
          </a:bodyPr>
          <a:lstStyle/>
          <a:p>
            <a:pPr indent="-228600">
              <a:lnSpc>
                <a:spcPct val="90000"/>
              </a:lnSpc>
              <a:spcAft>
                <a:spcPts val="600"/>
              </a:spcAft>
              <a:buFont typeface="Arial" panose="020B0604020202020204" pitchFamily="34" charset="0"/>
              <a:buChar char="•"/>
            </a:pPr>
            <a:r>
              <a:rPr lang="en-US" sz="2200">
                <a:solidFill>
                  <a:schemeClr val="tx1"/>
                </a:solidFill>
              </a:rPr>
              <a:t> Describir Tipos de Datos</a:t>
            </a:r>
          </a:p>
          <a:p>
            <a:pPr indent="-228600">
              <a:lnSpc>
                <a:spcPct val="90000"/>
              </a:lnSpc>
              <a:spcAft>
                <a:spcPts val="600"/>
              </a:spcAft>
              <a:buFont typeface="Arial" panose="020B0604020202020204" pitchFamily="34" charset="0"/>
              <a:buChar char="•"/>
            </a:pPr>
            <a:endParaRPr lang="en-US" sz="2200">
              <a:solidFill>
                <a:schemeClr val="tx1"/>
              </a:solidFill>
            </a:endParaRPr>
          </a:p>
          <a:p>
            <a:pPr indent="-228600">
              <a:lnSpc>
                <a:spcPct val="90000"/>
              </a:lnSpc>
              <a:spcAft>
                <a:spcPts val="600"/>
              </a:spcAft>
              <a:buFont typeface="Arial" panose="020B0604020202020204" pitchFamily="34" charset="0"/>
              <a:buChar char="•"/>
            </a:pPr>
            <a:r>
              <a:rPr lang="en-US" sz="2200">
                <a:solidFill>
                  <a:schemeClr val="tx1"/>
                </a:solidFill>
              </a:rPr>
              <a:t> Describir Operaciones Aritméticas</a:t>
            </a:r>
          </a:p>
          <a:p>
            <a:pPr indent="-228600">
              <a:lnSpc>
                <a:spcPct val="90000"/>
              </a:lnSpc>
              <a:spcAft>
                <a:spcPts val="600"/>
              </a:spcAft>
              <a:buFont typeface="Arial" panose="020B0604020202020204" pitchFamily="34" charset="0"/>
              <a:buChar char="•"/>
            </a:pPr>
            <a:endParaRPr lang="en-US" sz="2200">
              <a:solidFill>
                <a:schemeClr val="tx1"/>
              </a:solidFill>
            </a:endParaRPr>
          </a:p>
          <a:p>
            <a:pPr indent="-228600">
              <a:lnSpc>
                <a:spcPct val="90000"/>
              </a:lnSpc>
              <a:spcAft>
                <a:spcPts val="600"/>
              </a:spcAft>
              <a:buFont typeface="Arial" panose="020B0604020202020204" pitchFamily="34" charset="0"/>
              <a:buChar char="•"/>
            </a:pPr>
            <a:r>
              <a:rPr lang="en-US" sz="2200">
                <a:solidFill>
                  <a:schemeClr val="tx1"/>
                </a:solidFill>
              </a:rPr>
              <a:t> Describir Operadores Relacionales y Lógicos</a:t>
            </a:r>
          </a:p>
          <a:p>
            <a:pPr indent="-228600">
              <a:lnSpc>
                <a:spcPct val="90000"/>
              </a:lnSpc>
              <a:spcAft>
                <a:spcPts val="600"/>
              </a:spcAft>
              <a:buFont typeface="Arial" panose="020B0604020202020204" pitchFamily="34" charset="0"/>
              <a:buChar char="•"/>
            </a:pPr>
            <a:endParaRPr lang="en-US" sz="2200">
              <a:solidFill>
                <a:schemeClr val="tx1"/>
              </a:solidFill>
            </a:endParaRPr>
          </a:p>
          <a:p>
            <a:pPr indent="-228600">
              <a:lnSpc>
                <a:spcPct val="90000"/>
              </a:lnSpc>
              <a:spcAft>
                <a:spcPts val="600"/>
              </a:spcAft>
              <a:buFont typeface="Arial" panose="020B0604020202020204" pitchFamily="34" charset="0"/>
              <a:buChar char="•"/>
            </a:pPr>
            <a:r>
              <a:rPr lang="en-US" sz="2200">
                <a:solidFill>
                  <a:schemeClr val="tx1"/>
                </a:solidFill>
              </a:rPr>
              <a:t> Describir Sentencias Condicionales</a:t>
            </a:r>
          </a:p>
          <a:p>
            <a:pPr indent="-228600">
              <a:lnSpc>
                <a:spcPct val="90000"/>
              </a:lnSpc>
              <a:spcAft>
                <a:spcPts val="600"/>
              </a:spcAft>
              <a:buFont typeface="Arial" panose="020B0604020202020204" pitchFamily="34" charset="0"/>
              <a:buChar char="•"/>
            </a:pPr>
            <a:r>
              <a:rPr lang="en-US" sz="2200">
                <a:solidFill>
                  <a:schemeClr val="tx1"/>
                </a:solidFill>
              </a:rPr>
              <a:t> </a:t>
            </a:r>
          </a:p>
          <a:p>
            <a:pPr indent="-228600">
              <a:lnSpc>
                <a:spcPct val="90000"/>
              </a:lnSpc>
              <a:spcAft>
                <a:spcPts val="600"/>
              </a:spcAft>
              <a:buFont typeface="Arial" panose="020B0604020202020204" pitchFamily="34" charset="0"/>
              <a:buChar char="•"/>
            </a:pPr>
            <a:r>
              <a:rPr lang="en-US" sz="2200">
                <a:solidFill>
                  <a:schemeClr val="tx1"/>
                </a:solidFill>
              </a:rPr>
              <a:t> Aplicar Expresiones Lógicas</a:t>
            </a:r>
          </a:p>
          <a:p>
            <a:pPr indent="-228600">
              <a:lnSpc>
                <a:spcPct val="90000"/>
              </a:lnSpc>
              <a:spcAft>
                <a:spcPts val="600"/>
              </a:spcAft>
              <a:buFont typeface="Arial" panose="020B0604020202020204" pitchFamily="34" charset="0"/>
              <a:buChar char="•"/>
            </a:pPr>
            <a:endParaRPr lang="en-US" sz="2200">
              <a:solidFill>
                <a:schemeClr val="tx1"/>
              </a:solidFill>
            </a:endParaRPr>
          </a:p>
        </p:txBody>
      </p:sp>
      <p:pic>
        <p:nvPicPr>
          <p:cNvPr id="4" name="Picture 2" descr="http://miriamrochadiaz.files.wordpress.com/2013/01/trabajo-en-equipo2.jpg"/>
          <p:cNvPicPr>
            <a:picLocks noChangeAspect="1" noChangeArrowheads="1"/>
          </p:cNvPicPr>
          <p:nvPr/>
        </p:nvPicPr>
        <p:blipFill>
          <a:blip r:embed="rId3" cstate="email">
            <a:extLst>
              <a:ext uri="{28A0092B-C50C-407E-A947-70E740481C1C}">
                <a14:useLocalDpi xmlns:a14="http://schemas.microsoft.com/office/drawing/2010/main"/>
              </a:ext>
            </a:extLst>
          </a:blip>
          <a:srcRect l="3795" r="3" b="3"/>
          <a:stretch/>
        </p:blipFill>
        <p:spPr bwMode="auto">
          <a:xfrm>
            <a:off x="7675658" y="2093976"/>
            <a:ext cx="3941064" cy="4096512"/>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3611370" y="2309044"/>
            <a:ext cx="3385238" cy="29921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ES" dirty="0"/>
          </a:p>
        </p:txBody>
      </p:sp>
      <p:sp>
        <p:nvSpPr>
          <p:cNvPr id="12" name="11 Rectángulo"/>
          <p:cNvSpPr/>
          <p:nvPr/>
        </p:nvSpPr>
        <p:spPr>
          <a:xfrm>
            <a:off x="4858726" y="3261688"/>
            <a:ext cx="810090" cy="945105"/>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cxnSp>
        <p:nvCxnSpPr>
          <p:cNvPr id="16" name="15 Conector recto de flecha"/>
          <p:cNvCxnSpPr>
            <a:endCxn id="12" idx="0"/>
          </p:cNvCxnSpPr>
          <p:nvPr/>
        </p:nvCxnSpPr>
        <p:spPr>
          <a:xfrm>
            <a:off x="4681056" y="1980534"/>
            <a:ext cx="582717" cy="12811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23 CuadroTexto"/>
          <p:cNvSpPr txBox="1"/>
          <p:nvPr/>
        </p:nvSpPr>
        <p:spPr>
          <a:xfrm>
            <a:off x="3684240" y="1351259"/>
            <a:ext cx="1507892" cy="646331"/>
          </a:xfrm>
          <a:prstGeom prst="rect">
            <a:avLst/>
          </a:prstGeom>
          <a:noFill/>
        </p:spPr>
        <p:txBody>
          <a:bodyPr wrap="square" rtlCol="0">
            <a:spAutoFit/>
          </a:bodyPr>
          <a:lstStyle/>
          <a:p>
            <a:r>
              <a:rPr lang="es-ES" dirty="0"/>
              <a:t>Tipo  de dato Simple</a:t>
            </a:r>
          </a:p>
        </p:txBody>
      </p:sp>
      <p:sp>
        <p:nvSpPr>
          <p:cNvPr id="26" name="25 CuadroTexto"/>
          <p:cNvSpPr txBox="1"/>
          <p:nvPr/>
        </p:nvSpPr>
        <p:spPr>
          <a:xfrm>
            <a:off x="7284640" y="2564687"/>
            <a:ext cx="1691680" cy="1754326"/>
          </a:xfrm>
          <a:prstGeom prst="rect">
            <a:avLst/>
          </a:prstGeom>
          <a:noFill/>
        </p:spPr>
        <p:txBody>
          <a:bodyPr wrap="square" rtlCol="0">
            <a:spAutoFit/>
          </a:bodyPr>
          <a:lstStyle/>
          <a:p>
            <a:pPr marL="285750" indent="-285750">
              <a:buFont typeface="Arial" pitchFamily="34" charset="0"/>
              <a:buChar char="•"/>
            </a:pPr>
            <a:r>
              <a:rPr lang="es-ES" dirty="0"/>
              <a:t>Entero</a:t>
            </a:r>
          </a:p>
          <a:p>
            <a:pPr marL="285750" indent="-285750">
              <a:buFont typeface="Arial" pitchFamily="34" charset="0"/>
              <a:buChar char="•"/>
            </a:pPr>
            <a:r>
              <a:rPr lang="es-ES" dirty="0"/>
              <a:t>Real</a:t>
            </a:r>
          </a:p>
          <a:p>
            <a:pPr marL="285750" indent="-285750">
              <a:buFont typeface="Arial" pitchFamily="34" charset="0"/>
              <a:buChar char="•"/>
            </a:pPr>
            <a:r>
              <a:rPr lang="es-ES" dirty="0"/>
              <a:t>Caracter</a:t>
            </a:r>
          </a:p>
          <a:p>
            <a:pPr marL="285750" indent="-285750">
              <a:buFont typeface="Arial" pitchFamily="34" charset="0"/>
              <a:buChar char="•"/>
            </a:pPr>
            <a:r>
              <a:rPr lang="es-ES" dirty="0"/>
              <a:t>Booleano</a:t>
            </a:r>
          </a:p>
          <a:p>
            <a:pPr marL="285750" indent="-285750">
              <a:buFont typeface="Arial" pitchFamily="34" charset="0"/>
              <a:buChar char="•"/>
            </a:pPr>
            <a:r>
              <a:rPr lang="es-ES" dirty="0"/>
              <a:t>Enumerado</a:t>
            </a:r>
          </a:p>
          <a:p>
            <a:pPr marL="285750" indent="-285750">
              <a:buFont typeface="Arial" pitchFamily="34" charset="0"/>
              <a:buChar char="•"/>
            </a:pPr>
            <a:r>
              <a:rPr lang="es-ES" dirty="0"/>
              <a:t>Subrango</a:t>
            </a:r>
          </a:p>
        </p:txBody>
      </p:sp>
      <p:sp>
        <p:nvSpPr>
          <p:cNvPr id="35" name="34 CuadroTexto"/>
          <p:cNvSpPr txBox="1"/>
          <p:nvPr/>
        </p:nvSpPr>
        <p:spPr>
          <a:xfrm>
            <a:off x="3611370" y="4808764"/>
            <a:ext cx="1247356" cy="369332"/>
          </a:xfrm>
          <a:prstGeom prst="rect">
            <a:avLst/>
          </a:prstGeom>
          <a:noFill/>
        </p:spPr>
        <p:txBody>
          <a:bodyPr wrap="square" rtlCol="0">
            <a:spAutoFit/>
          </a:bodyPr>
          <a:lstStyle/>
          <a:p>
            <a:r>
              <a:rPr lang="es-ES" dirty="0"/>
              <a:t>Memoria</a:t>
            </a:r>
          </a:p>
        </p:txBody>
      </p:sp>
      <p:sp>
        <p:nvSpPr>
          <p:cNvPr id="10" name="1 Título"/>
          <p:cNvSpPr txBox="1">
            <a:spLocks/>
          </p:cNvSpPr>
          <p:nvPr/>
        </p:nvSpPr>
        <p:spPr>
          <a:xfrm>
            <a:off x="1981200" y="476672"/>
            <a:ext cx="8229600" cy="1143000"/>
          </a:xfrm>
          <a:prstGeom prst="rect">
            <a:avLst/>
          </a:prstGeom>
        </p:spPr>
        <p:txBody>
          <a:bodyPr/>
          <a:lstStyle/>
          <a:p>
            <a:pPr algn="r" defTabSz="457200" fontAlgn="base">
              <a:spcBef>
                <a:spcPct val="0"/>
              </a:spcBef>
              <a:spcAft>
                <a:spcPct val="0"/>
              </a:spcAft>
              <a:defRPr/>
            </a:pPr>
            <a:r>
              <a:rPr lang="es-ES" sz="2800" dirty="0">
                <a:solidFill>
                  <a:schemeClr val="tx2">
                    <a:lumMod val="50000"/>
                  </a:schemeClr>
                </a:solidFill>
                <a:ea typeface="ＭＳ Ｐゴシック" charset="-128"/>
              </a:rPr>
              <a:t>Tipos de Datos</a:t>
            </a:r>
          </a:p>
        </p:txBody>
      </p:sp>
    </p:spTree>
    <p:custDataLst>
      <p:tags r:id="rId1"/>
    </p:custDataLst>
    <p:extLst>
      <p:ext uri="{BB962C8B-B14F-4D97-AF65-F5344CB8AC3E}">
        <p14:creationId xmlns:p14="http://schemas.microsoft.com/office/powerpoint/2010/main" val="3800862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3430842" y="2381052"/>
            <a:ext cx="3385238" cy="29921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ES" dirty="0"/>
          </a:p>
        </p:txBody>
      </p:sp>
      <p:cxnSp>
        <p:nvCxnSpPr>
          <p:cNvPr id="16" name="15 Conector recto de flecha"/>
          <p:cNvCxnSpPr/>
          <p:nvPr/>
        </p:nvCxnSpPr>
        <p:spPr>
          <a:xfrm>
            <a:off x="4500528" y="2285042"/>
            <a:ext cx="582717" cy="104865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4" name="23 CuadroTexto"/>
          <p:cNvSpPr txBox="1"/>
          <p:nvPr/>
        </p:nvSpPr>
        <p:spPr>
          <a:xfrm>
            <a:off x="3503712" y="1423267"/>
            <a:ext cx="1507892" cy="646331"/>
          </a:xfrm>
          <a:prstGeom prst="rect">
            <a:avLst/>
          </a:prstGeom>
          <a:noFill/>
        </p:spPr>
        <p:txBody>
          <a:bodyPr wrap="square" rtlCol="0">
            <a:spAutoFit/>
          </a:bodyPr>
          <a:lstStyle/>
          <a:p>
            <a:r>
              <a:rPr lang="es-ES" dirty="0"/>
              <a:t>Tipo  de dato Estructurado</a:t>
            </a:r>
          </a:p>
        </p:txBody>
      </p:sp>
      <p:sp>
        <p:nvSpPr>
          <p:cNvPr id="26" name="25 CuadroTexto"/>
          <p:cNvSpPr txBox="1"/>
          <p:nvPr/>
        </p:nvSpPr>
        <p:spPr>
          <a:xfrm>
            <a:off x="7104112" y="2636695"/>
            <a:ext cx="2808312" cy="1477328"/>
          </a:xfrm>
          <a:prstGeom prst="rect">
            <a:avLst/>
          </a:prstGeom>
          <a:noFill/>
        </p:spPr>
        <p:txBody>
          <a:bodyPr wrap="square" rtlCol="0">
            <a:spAutoFit/>
          </a:bodyPr>
          <a:lstStyle/>
          <a:p>
            <a:pPr marL="285750" indent="-285750">
              <a:buFont typeface="Arial" pitchFamily="34" charset="0"/>
              <a:buChar char="•"/>
            </a:pPr>
            <a:r>
              <a:rPr lang="es-ES" dirty="0"/>
              <a:t>Arreglos</a:t>
            </a:r>
          </a:p>
          <a:p>
            <a:pPr marL="285750" indent="-285750">
              <a:buFont typeface="Arial" pitchFamily="34" charset="0"/>
              <a:buChar char="•"/>
            </a:pPr>
            <a:r>
              <a:rPr lang="es-ES" dirty="0"/>
              <a:t>Cadenas de Caracteres</a:t>
            </a:r>
          </a:p>
          <a:p>
            <a:pPr marL="285750" indent="-285750">
              <a:buFont typeface="Arial" pitchFamily="34" charset="0"/>
              <a:buChar char="•"/>
            </a:pPr>
            <a:r>
              <a:rPr lang="es-ES" dirty="0"/>
              <a:t>Registros</a:t>
            </a:r>
          </a:p>
          <a:p>
            <a:pPr marL="285750" indent="-285750">
              <a:buFont typeface="Arial" pitchFamily="34" charset="0"/>
              <a:buChar char="•"/>
            </a:pPr>
            <a:r>
              <a:rPr lang="es-ES" dirty="0"/>
              <a:t>Conjuntos</a:t>
            </a:r>
          </a:p>
          <a:p>
            <a:pPr marL="285750" indent="-285750">
              <a:buFont typeface="Arial" pitchFamily="34" charset="0"/>
              <a:buChar char="•"/>
            </a:pPr>
            <a:endParaRPr lang="es-ES" dirty="0"/>
          </a:p>
        </p:txBody>
      </p:sp>
      <p:sp>
        <p:nvSpPr>
          <p:cNvPr id="35" name="34 CuadroTexto"/>
          <p:cNvSpPr txBox="1"/>
          <p:nvPr/>
        </p:nvSpPr>
        <p:spPr>
          <a:xfrm>
            <a:off x="3430842" y="4880772"/>
            <a:ext cx="1247356" cy="369332"/>
          </a:xfrm>
          <a:prstGeom prst="rect">
            <a:avLst/>
          </a:prstGeom>
          <a:noFill/>
        </p:spPr>
        <p:txBody>
          <a:bodyPr wrap="square" rtlCol="0">
            <a:spAutoFit/>
          </a:bodyPr>
          <a:lstStyle/>
          <a:p>
            <a:r>
              <a:rPr lang="es-ES" dirty="0"/>
              <a:t>Memoria</a:t>
            </a:r>
          </a:p>
        </p:txBody>
      </p:sp>
      <p:sp>
        <p:nvSpPr>
          <p:cNvPr id="9" name="8 Rectángulo"/>
          <p:cNvSpPr/>
          <p:nvPr/>
        </p:nvSpPr>
        <p:spPr>
          <a:xfrm>
            <a:off x="3790882" y="3361212"/>
            <a:ext cx="864096" cy="105028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0" name="9 Rectángulo"/>
          <p:cNvSpPr/>
          <p:nvPr/>
        </p:nvSpPr>
        <p:spPr>
          <a:xfrm>
            <a:off x="4655840" y="3361212"/>
            <a:ext cx="936104" cy="105028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1" name="10 Rectángulo"/>
          <p:cNvSpPr/>
          <p:nvPr/>
        </p:nvSpPr>
        <p:spPr>
          <a:xfrm>
            <a:off x="5591944" y="3389163"/>
            <a:ext cx="895168" cy="105028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3" name="12 Rectángulo"/>
          <p:cNvSpPr/>
          <p:nvPr/>
        </p:nvSpPr>
        <p:spPr>
          <a:xfrm>
            <a:off x="4134662" y="3737972"/>
            <a:ext cx="180020" cy="24002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grpSp>
        <p:nvGrpSpPr>
          <p:cNvPr id="2" name="13 Grupo"/>
          <p:cNvGrpSpPr/>
          <p:nvPr/>
        </p:nvGrpSpPr>
        <p:grpSpPr>
          <a:xfrm>
            <a:off x="4843955" y="3766340"/>
            <a:ext cx="540060" cy="240027"/>
            <a:chOff x="5543246" y="1568810"/>
            <a:chExt cx="540060" cy="180020"/>
          </a:xfrm>
        </p:grpSpPr>
        <p:sp>
          <p:nvSpPr>
            <p:cNvPr id="15" name="14 Rectángulo"/>
            <p:cNvSpPr/>
            <p:nvPr/>
          </p:nvSpPr>
          <p:spPr>
            <a:xfrm>
              <a:off x="5543246" y="1568810"/>
              <a:ext cx="180020" cy="1800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7" name="16 Rectángulo"/>
            <p:cNvSpPr/>
            <p:nvPr/>
          </p:nvSpPr>
          <p:spPr>
            <a:xfrm>
              <a:off x="5723266" y="1568810"/>
              <a:ext cx="180020" cy="1800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8" name="17 Rectángulo"/>
            <p:cNvSpPr/>
            <p:nvPr/>
          </p:nvSpPr>
          <p:spPr>
            <a:xfrm>
              <a:off x="5903286" y="1568810"/>
              <a:ext cx="180020" cy="1800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grpSp>
    </p:spTree>
    <p:custDataLst>
      <p:tags r:id="rId1"/>
    </p:custDataLst>
    <p:extLst>
      <p:ext uri="{BB962C8B-B14F-4D97-AF65-F5344CB8AC3E}">
        <p14:creationId xmlns:p14="http://schemas.microsoft.com/office/powerpoint/2010/main" val="502992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3646866" y="2008390"/>
            <a:ext cx="4969414" cy="12481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ES" dirty="0"/>
          </a:p>
        </p:txBody>
      </p:sp>
      <p:sp>
        <p:nvSpPr>
          <p:cNvPr id="19" name="18 CuadroTexto"/>
          <p:cNvSpPr txBox="1"/>
          <p:nvPr/>
        </p:nvSpPr>
        <p:spPr>
          <a:xfrm>
            <a:off x="3791744" y="2204864"/>
            <a:ext cx="4536504" cy="369332"/>
          </a:xfrm>
          <a:prstGeom prst="rect">
            <a:avLst/>
          </a:prstGeom>
          <a:noFill/>
        </p:spPr>
        <p:txBody>
          <a:bodyPr wrap="square" rtlCol="0">
            <a:spAutoFit/>
          </a:bodyPr>
          <a:lstStyle/>
          <a:p>
            <a:r>
              <a:rPr lang="es-ES" b="1" dirty="0">
                <a:solidFill>
                  <a:srgbClr val="0070C0"/>
                </a:solidFill>
                <a:latin typeface="Courier New" pitchFamily="49" charset="0"/>
                <a:cs typeface="Courier New" pitchFamily="49" charset="0"/>
              </a:rPr>
              <a:t>Definir</a:t>
            </a:r>
            <a:r>
              <a:rPr lang="es-ES" dirty="0">
                <a:solidFill>
                  <a:srgbClr val="0070C0"/>
                </a:solidFill>
                <a:latin typeface="Courier New" pitchFamily="49" charset="0"/>
                <a:cs typeface="Courier New" pitchFamily="49" charset="0"/>
              </a:rPr>
              <a:t> </a:t>
            </a:r>
            <a:r>
              <a:rPr lang="es-ES" dirty="0">
                <a:latin typeface="Courier New" pitchFamily="49" charset="0"/>
                <a:cs typeface="Courier New" pitchFamily="49" charset="0"/>
              </a:rPr>
              <a:t>miVariable </a:t>
            </a:r>
            <a:r>
              <a:rPr lang="es-ES" b="1" dirty="0">
                <a:solidFill>
                  <a:srgbClr val="0070C0"/>
                </a:solidFill>
                <a:latin typeface="Courier New" pitchFamily="49" charset="0"/>
                <a:cs typeface="Courier New" pitchFamily="49" charset="0"/>
              </a:rPr>
              <a:t>Como Entero</a:t>
            </a:r>
            <a:r>
              <a:rPr lang="es-ES" dirty="0">
                <a:latin typeface="Courier New" pitchFamily="49" charset="0"/>
                <a:cs typeface="Courier New" pitchFamily="49" charset="0"/>
              </a:rPr>
              <a:t>;</a:t>
            </a:r>
          </a:p>
        </p:txBody>
      </p:sp>
      <p:sp>
        <p:nvSpPr>
          <p:cNvPr id="9" name="8 CuadroTexto"/>
          <p:cNvSpPr txBox="1"/>
          <p:nvPr/>
        </p:nvSpPr>
        <p:spPr>
          <a:xfrm>
            <a:off x="3395699" y="4489957"/>
            <a:ext cx="3304645" cy="523220"/>
          </a:xfrm>
          <a:prstGeom prst="rect">
            <a:avLst/>
          </a:prstGeom>
          <a:noFill/>
        </p:spPr>
        <p:txBody>
          <a:bodyPr wrap="square" rtlCol="0">
            <a:spAutoFit/>
          </a:bodyPr>
          <a:lstStyle/>
          <a:p>
            <a:r>
              <a:rPr lang="es-ES" sz="2800" b="1" dirty="0">
                <a:solidFill>
                  <a:srgbClr val="FF0000"/>
                </a:solidFill>
                <a:effectLst>
                  <a:glow rad="228600">
                    <a:schemeClr val="accent2">
                      <a:satMod val="175000"/>
                      <a:alpha val="40000"/>
                    </a:schemeClr>
                  </a:glow>
                </a:effectLst>
              </a:rPr>
              <a:t>identificador</a:t>
            </a:r>
          </a:p>
        </p:txBody>
      </p:sp>
      <p:cxnSp>
        <p:nvCxnSpPr>
          <p:cNvPr id="10" name="9 Conector recto de flecha"/>
          <p:cNvCxnSpPr/>
          <p:nvPr/>
        </p:nvCxnSpPr>
        <p:spPr>
          <a:xfrm flipV="1">
            <a:off x="4655840" y="2615562"/>
            <a:ext cx="972108" cy="18002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720527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2566746" y="1942480"/>
            <a:ext cx="4969414" cy="12481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ES" dirty="0"/>
          </a:p>
        </p:txBody>
      </p:sp>
      <p:sp>
        <p:nvSpPr>
          <p:cNvPr id="24" name="23 CuadroTexto"/>
          <p:cNvSpPr txBox="1"/>
          <p:nvPr/>
        </p:nvSpPr>
        <p:spPr>
          <a:xfrm>
            <a:off x="2562524" y="1256053"/>
            <a:ext cx="7061869" cy="523220"/>
          </a:xfrm>
          <a:prstGeom prst="rect">
            <a:avLst/>
          </a:prstGeom>
          <a:noFill/>
        </p:spPr>
        <p:txBody>
          <a:bodyPr wrap="square" rtlCol="0">
            <a:spAutoFit/>
          </a:bodyPr>
          <a:lstStyle/>
          <a:p>
            <a:r>
              <a:rPr lang="es-ES" sz="2800" dirty="0">
                <a:solidFill>
                  <a:schemeClr val="tx2">
                    <a:lumMod val="50000"/>
                  </a:schemeClr>
                </a:solidFill>
                <a:ea typeface="ＭＳ Ｐゴシック" charset="-128"/>
              </a:rPr>
              <a:t>Tipos  de dato en PseInt en variables simples </a:t>
            </a:r>
          </a:p>
        </p:txBody>
      </p:sp>
      <p:sp>
        <p:nvSpPr>
          <p:cNvPr id="19" name="18 CuadroTexto"/>
          <p:cNvSpPr txBox="1"/>
          <p:nvPr/>
        </p:nvSpPr>
        <p:spPr>
          <a:xfrm>
            <a:off x="2711624" y="2134502"/>
            <a:ext cx="4536504" cy="646331"/>
          </a:xfrm>
          <a:prstGeom prst="rect">
            <a:avLst/>
          </a:prstGeom>
          <a:noFill/>
        </p:spPr>
        <p:txBody>
          <a:bodyPr wrap="square" rtlCol="0">
            <a:spAutoFit/>
          </a:bodyPr>
          <a:lstStyle/>
          <a:p>
            <a:r>
              <a:rPr lang="es-ES" b="1" dirty="0">
                <a:solidFill>
                  <a:srgbClr val="0070C0"/>
                </a:solidFill>
                <a:latin typeface="Courier New" pitchFamily="49" charset="0"/>
                <a:cs typeface="Courier New" pitchFamily="49" charset="0"/>
              </a:rPr>
              <a:t>Definir</a:t>
            </a:r>
            <a:r>
              <a:rPr lang="es-ES" dirty="0">
                <a:solidFill>
                  <a:srgbClr val="0070C0"/>
                </a:solidFill>
                <a:latin typeface="Courier New" pitchFamily="49" charset="0"/>
                <a:cs typeface="Courier New" pitchFamily="49" charset="0"/>
              </a:rPr>
              <a:t> </a:t>
            </a:r>
            <a:r>
              <a:rPr lang="es-ES" dirty="0">
                <a:latin typeface="Courier New" pitchFamily="49" charset="0"/>
                <a:cs typeface="Courier New" pitchFamily="49" charset="0"/>
              </a:rPr>
              <a:t>miVariable </a:t>
            </a:r>
            <a:r>
              <a:rPr lang="es-ES" b="1" dirty="0">
                <a:solidFill>
                  <a:srgbClr val="0070C0"/>
                </a:solidFill>
                <a:latin typeface="Courier New" pitchFamily="49" charset="0"/>
                <a:cs typeface="Courier New" pitchFamily="49" charset="0"/>
              </a:rPr>
              <a:t>Como Entero</a:t>
            </a:r>
            <a:r>
              <a:rPr lang="es-ES" dirty="0">
                <a:latin typeface="Courier New" pitchFamily="49" charset="0"/>
                <a:cs typeface="Courier New" pitchFamily="49" charset="0"/>
              </a:rPr>
              <a:t>;</a:t>
            </a:r>
          </a:p>
          <a:p>
            <a:r>
              <a:rPr lang="es-ES" b="1" dirty="0">
                <a:solidFill>
                  <a:srgbClr val="0070C0"/>
                </a:solidFill>
                <a:latin typeface="Courier New" pitchFamily="49" charset="0"/>
                <a:cs typeface="Courier New" pitchFamily="49" charset="0"/>
              </a:rPr>
              <a:t>Definir</a:t>
            </a:r>
            <a:r>
              <a:rPr lang="es-ES" dirty="0">
                <a:latin typeface="Courier New" pitchFamily="49" charset="0"/>
                <a:cs typeface="Courier New" pitchFamily="49" charset="0"/>
              </a:rPr>
              <a:t> miVariable </a:t>
            </a:r>
            <a:r>
              <a:rPr lang="es-ES" b="1" dirty="0">
                <a:solidFill>
                  <a:srgbClr val="0070C0"/>
                </a:solidFill>
                <a:latin typeface="Courier New" pitchFamily="49" charset="0"/>
                <a:cs typeface="Courier New" pitchFamily="49" charset="0"/>
              </a:rPr>
              <a:t>Como Real</a:t>
            </a:r>
            <a:r>
              <a:rPr lang="es-ES" dirty="0">
                <a:latin typeface="Courier New" pitchFamily="49" charset="0"/>
                <a:cs typeface="Courier New" pitchFamily="49" charset="0"/>
              </a:rPr>
              <a:t>; </a:t>
            </a:r>
          </a:p>
        </p:txBody>
      </p:sp>
      <p:sp>
        <p:nvSpPr>
          <p:cNvPr id="20" name="19 Rectángulo"/>
          <p:cNvSpPr/>
          <p:nvPr/>
        </p:nvSpPr>
        <p:spPr>
          <a:xfrm>
            <a:off x="2566746" y="3393819"/>
            <a:ext cx="4969414" cy="12481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ES" dirty="0"/>
          </a:p>
        </p:txBody>
      </p:sp>
      <p:sp>
        <p:nvSpPr>
          <p:cNvPr id="21" name="20 CuadroTexto"/>
          <p:cNvSpPr txBox="1"/>
          <p:nvPr/>
        </p:nvSpPr>
        <p:spPr>
          <a:xfrm>
            <a:off x="2711624" y="3585839"/>
            <a:ext cx="4968552" cy="369332"/>
          </a:xfrm>
          <a:prstGeom prst="rect">
            <a:avLst/>
          </a:prstGeom>
          <a:noFill/>
        </p:spPr>
        <p:txBody>
          <a:bodyPr wrap="square" rtlCol="0">
            <a:spAutoFit/>
          </a:bodyPr>
          <a:lstStyle/>
          <a:p>
            <a:r>
              <a:rPr lang="es-ES" b="1" dirty="0">
                <a:solidFill>
                  <a:srgbClr val="0070C0"/>
                </a:solidFill>
                <a:latin typeface="Courier New" pitchFamily="49" charset="0"/>
                <a:cs typeface="Courier New" pitchFamily="49" charset="0"/>
              </a:rPr>
              <a:t>Definir</a:t>
            </a:r>
            <a:r>
              <a:rPr lang="es-ES" dirty="0">
                <a:solidFill>
                  <a:srgbClr val="0070C0"/>
                </a:solidFill>
                <a:latin typeface="Courier New" pitchFamily="49" charset="0"/>
                <a:cs typeface="Courier New" pitchFamily="49" charset="0"/>
              </a:rPr>
              <a:t> </a:t>
            </a:r>
            <a:r>
              <a:rPr lang="es-ES" dirty="0">
                <a:latin typeface="Courier New" pitchFamily="49" charset="0"/>
                <a:cs typeface="Courier New" pitchFamily="49" charset="0"/>
              </a:rPr>
              <a:t>miVariable </a:t>
            </a:r>
            <a:r>
              <a:rPr lang="es-ES" b="1" dirty="0">
                <a:solidFill>
                  <a:srgbClr val="0070C0"/>
                </a:solidFill>
                <a:latin typeface="Courier New" pitchFamily="49" charset="0"/>
                <a:cs typeface="Courier New" pitchFamily="49" charset="0"/>
              </a:rPr>
              <a:t>Como Caracter</a:t>
            </a:r>
            <a:r>
              <a:rPr lang="es-ES" dirty="0">
                <a:latin typeface="Courier New" pitchFamily="49" charset="0"/>
                <a:cs typeface="Courier New" pitchFamily="49" charset="0"/>
              </a:rPr>
              <a:t>;</a:t>
            </a:r>
          </a:p>
        </p:txBody>
      </p:sp>
      <p:sp>
        <p:nvSpPr>
          <p:cNvPr id="22" name="21 Rectángulo"/>
          <p:cNvSpPr/>
          <p:nvPr/>
        </p:nvSpPr>
        <p:spPr>
          <a:xfrm>
            <a:off x="2566746" y="4845158"/>
            <a:ext cx="4969414" cy="12481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ES" dirty="0"/>
          </a:p>
        </p:txBody>
      </p:sp>
      <p:sp>
        <p:nvSpPr>
          <p:cNvPr id="23" name="22 CuadroTexto"/>
          <p:cNvSpPr txBox="1"/>
          <p:nvPr/>
        </p:nvSpPr>
        <p:spPr>
          <a:xfrm>
            <a:off x="2711624" y="5037178"/>
            <a:ext cx="4968552" cy="369332"/>
          </a:xfrm>
          <a:prstGeom prst="rect">
            <a:avLst/>
          </a:prstGeom>
          <a:noFill/>
        </p:spPr>
        <p:txBody>
          <a:bodyPr wrap="square" rtlCol="0">
            <a:spAutoFit/>
          </a:bodyPr>
          <a:lstStyle/>
          <a:p>
            <a:r>
              <a:rPr lang="es-ES" b="1" dirty="0">
                <a:solidFill>
                  <a:srgbClr val="0070C0"/>
                </a:solidFill>
                <a:latin typeface="Courier New" pitchFamily="49" charset="0"/>
                <a:cs typeface="Courier New" pitchFamily="49" charset="0"/>
              </a:rPr>
              <a:t>Definir</a:t>
            </a:r>
            <a:r>
              <a:rPr lang="es-ES" dirty="0">
                <a:solidFill>
                  <a:srgbClr val="0070C0"/>
                </a:solidFill>
                <a:latin typeface="Courier New" pitchFamily="49" charset="0"/>
                <a:cs typeface="Courier New" pitchFamily="49" charset="0"/>
              </a:rPr>
              <a:t> </a:t>
            </a:r>
            <a:r>
              <a:rPr lang="es-ES" dirty="0">
                <a:latin typeface="Courier New" pitchFamily="49" charset="0"/>
                <a:cs typeface="Courier New" pitchFamily="49" charset="0"/>
              </a:rPr>
              <a:t>miVariable </a:t>
            </a:r>
            <a:r>
              <a:rPr lang="es-ES" b="1" dirty="0">
                <a:solidFill>
                  <a:srgbClr val="0070C0"/>
                </a:solidFill>
                <a:latin typeface="Courier New" pitchFamily="49" charset="0"/>
                <a:cs typeface="Courier New" pitchFamily="49" charset="0"/>
              </a:rPr>
              <a:t>Como Logico</a:t>
            </a:r>
            <a:r>
              <a:rPr lang="es-ES" dirty="0">
                <a:latin typeface="Courier New" pitchFamily="49" charset="0"/>
                <a:cs typeface="Courier New" pitchFamily="49" charset="0"/>
              </a:rPr>
              <a:t>;</a:t>
            </a:r>
          </a:p>
        </p:txBody>
      </p:sp>
      <p:sp>
        <p:nvSpPr>
          <p:cNvPr id="25" name="24 CuadroTexto"/>
          <p:cNvSpPr txBox="1"/>
          <p:nvPr/>
        </p:nvSpPr>
        <p:spPr>
          <a:xfrm>
            <a:off x="7704881" y="2319166"/>
            <a:ext cx="2736304" cy="369332"/>
          </a:xfrm>
          <a:prstGeom prst="rect">
            <a:avLst/>
          </a:prstGeom>
          <a:noFill/>
        </p:spPr>
        <p:txBody>
          <a:bodyPr wrap="square" rtlCol="0">
            <a:spAutoFit/>
          </a:bodyPr>
          <a:lstStyle/>
          <a:p>
            <a:r>
              <a:rPr lang="es-ES" dirty="0"/>
              <a:t>Numéricos</a:t>
            </a:r>
          </a:p>
        </p:txBody>
      </p:sp>
      <p:sp>
        <p:nvSpPr>
          <p:cNvPr id="27" name="26 CuadroTexto"/>
          <p:cNvSpPr txBox="1"/>
          <p:nvPr/>
        </p:nvSpPr>
        <p:spPr>
          <a:xfrm>
            <a:off x="7680176" y="3771666"/>
            <a:ext cx="2736304" cy="369332"/>
          </a:xfrm>
          <a:prstGeom prst="rect">
            <a:avLst/>
          </a:prstGeom>
          <a:noFill/>
        </p:spPr>
        <p:txBody>
          <a:bodyPr wrap="square" rtlCol="0">
            <a:spAutoFit/>
          </a:bodyPr>
          <a:lstStyle/>
          <a:p>
            <a:r>
              <a:rPr lang="es-ES" dirty="0"/>
              <a:t>Alfanuméricos</a:t>
            </a:r>
          </a:p>
        </p:txBody>
      </p:sp>
      <p:sp>
        <p:nvSpPr>
          <p:cNvPr id="28" name="27 CuadroTexto"/>
          <p:cNvSpPr txBox="1"/>
          <p:nvPr/>
        </p:nvSpPr>
        <p:spPr>
          <a:xfrm>
            <a:off x="7680176" y="5223005"/>
            <a:ext cx="2736304" cy="369332"/>
          </a:xfrm>
          <a:prstGeom prst="rect">
            <a:avLst/>
          </a:prstGeom>
          <a:noFill/>
        </p:spPr>
        <p:txBody>
          <a:bodyPr wrap="square" rtlCol="0">
            <a:spAutoFit/>
          </a:bodyPr>
          <a:lstStyle/>
          <a:p>
            <a:r>
              <a:rPr lang="es-ES" dirty="0"/>
              <a:t>Lógicos</a:t>
            </a:r>
          </a:p>
        </p:txBody>
      </p:sp>
    </p:spTree>
    <p:custDataLst>
      <p:tags r:id="rId1"/>
    </p:custDataLst>
    <p:extLst>
      <p:ext uri="{BB962C8B-B14F-4D97-AF65-F5344CB8AC3E}">
        <p14:creationId xmlns:p14="http://schemas.microsoft.com/office/powerpoint/2010/main" val="380858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3286826" y="3511846"/>
            <a:ext cx="4969414" cy="12481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s-ES" dirty="0"/>
          </a:p>
        </p:txBody>
      </p:sp>
      <p:sp>
        <p:nvSpPr>
          <p:cNvPr id="24" name="23 CuadroTexto"/>
          <p:cNvSpPr txBox="1"/>
          <p:nvPr/>
        </p:nvSpPr>
        <p:spPr>
          <a:xfrm>
            <a:off x="2028058" y="1628801"/>
            <a:ext cx="8748463" cy="1384995"/>
          </a:xfrm>
          <a:prstGeom prst="rect">
            <a:avLst/>
          </a:prstGeom>
          <a:noFill/>
        </p:spPr>
        <p:txBody>
          <a:bodyPr wrap="square" rtlCol="0">
            <a:spAutoFit/>
          </a:bodyPr>
          <a:lstStyle/>
          <a:p>
            <a:pPr>
              <a:buFont typeface="Arial" pitchFamily="34" charset="0"/>
              <a:buChar char="•"/>
            </a:pPr>
            <a:r>
              <a:rPr lang="es-ES" sz="2800" dirty="0">
                <a:solidFill>
                  <a:schemeClr val="tx2">
                    <a:lumMod val="50000"/>
                  </a:schemeClr>
                </a:solidFill>
                <a:ea typeface="ＭＳ Ｐゴシック" charset="-128"/>
              </a:rPr>
              <a:t> El primer carácter debe ser una letra (a, b, c, …, z)</a:t>
            </a:r>
          </a:p>
          <a:p>
            <a:pPr>
              <a:buFont typeface="Arial" pitchFamily="34" charset="0"/>
              <a:buChar char="•"/>
            </a:pPr>
            <a:r>
              <a:rPr lang="es-ES" sz="2800" dirty="0">
                <a:solidFill>
                  <a:schemeClr val="tx2">
                    <a:lumMod val="50000"/>
                  </a:schemeClr>
                </a:solidFill>
                <a:ea typeface="ＭＳ Ｐゴシック" charset="-128"/>
              </a:rPr>
              <a:t> Los demás caracteres pueden ser letras, dígitos o el</a:t>
            </a:r>
          </a:p>
          <a:p>
            <a:r>
              <a:rPr lang="es-ES" sz="2800" dirty="0">
                <a:solidFill>
                  <a:schemeClr val="tx2">
                    <a:lumMod val="50000"/>
                  </a:schemeClr>
                </a:solidFill>
                <a:ea typeface="ＭＳ Ｐゴシック" charset="-128"/>
              </a:rPr>
              <a:t>   símbolo especial _</a:t>
            </a:r>
          </a:p>
        </p:txBody>
      </p:sp>
      <p:sp>
        <p:nvSpPr>
          <p:cNvPr id="19" name="18 CuadroTexto"/>
          <p:cNvSpPr txBox="1"/>
          <p:nvPr/>
        </p:nvSpPr>
        <p:spPr>
          <a:xfrm>
            <a:off x="3431704" y="3535848"/>
            <a:ext cx="4968552" cy="1477328"/>
          </a:xfrm>
          <a:prstGeom prst="rect">
            <a:avLst/>
          </a:prstGeom>
          <a:noFill/>
        </p:spPr>
        <p:txBody>
          <a:bodyPr wrap="square" rtlCol="0">
            <a:spAutoFit/>
          </a:bodyPr>
          <a:lstStyle/>
          <a:p>
            <a:r>
              <a:rPr lang="es-ES" b="1" dirty="0">
                <a:solidFill>
                  <a:srgbClr val="0070C0"/>
                </a:solidFill>
                <a:latin typeface="Courier New" pitchFamily="49" charset="0"/>
                <a:cs typeface="Courier New" pitchFamily="49" charset="0"/>
              </a:rPr>
              <a:t>Definir</a:t>
            </a:r>
            <a:r>
              <a:rPr lang="es-ES" dirty="0">
                <a:solidFill>
                  <a:srgbClr val="0070C0"/>
                </a:solidFill>
                <a:latin typeface="Courier New" pitchFamily="49" charset="0"/>
                <a:cs typeface="Courier New" pitchFamily="49" charset="0"/>
              </a:rPr>
              <a:t> </a:t>
            </a:r>
            <a:r>
              <a:rPr lang="es-ES" dirty="0">
                <a:latin typeface="Courier New" pitchFamily="49" charset="0"/>
                <a:cs typeface="Courier New" pitchFamily="49" charset="0"/>
              </a:rPr>
              <a:t>edad </a:t>
            </a:r>
            <a:r>
              <a:rPr lang="es-ES" b="1" dirty="0">
                <a:solidFill>
                  <a:srgbClr val="0070C0"/>
                </a:solidFill>
                <a:latin typeface="Courier New" pitchFamily="49" charset="0"/>
                <a:cs typeface="Courier New" pitchFamily="49" charset="0"/>
              </a:rPr>
              <a:t>Como Entero</a:t>
            </a:r>
            <a:r>
              <a:rPr lang="es-ES" dirty="0">
                <a:latin typeface="Courier New" pitchFamily="49" charset="0"/>
                <a:cs typeface="Courier New" pitchFamily="49" charset="0"/>
              </a:rPr>
              <a:t>;</a:t>
            </a:r>
          </a:p>
          <a:p>
            <a:r>
              <a:rPr lang="es-ES" b="1" dirty="0">
                <a:solidFill>
                  <a:srgbClr val="0070C0"/>
                </a:solidFill>
                <a:latin typeface="Courier New" pitchFamily="49" charset="0"/>
                <a:cs typeface="Courier New" pitchFamily="49" charset="0"/>
              </a:rPr>
              <a:t>Definir</a:t>
            </a:r>
            <a:r>
              <a:rPr lang="es-ES" dirty="0">
                <a:latin typeface="Courier New" pitchFamily="49" charset="0"/>
                <a:cs typeface="Courier New" pitchFamily="49" charset="0"/>
              </a:rPr>
              <a:t> medida3 </a:t>
            </a:r>
            <a:r>
              <a:rPr lang="es-ES" b="1" dirty="0">
                <a:solidFill>
                  <a:srgbClr val="0070C0"/>
                </a:solidFill>
                <a:latin typeface="Courier New" pitchFamily="49" charset="0"/>
                <a:cs typeface="Courier New" pitchFamily="49" charset="0"/>
              </a:rPr>
              <a:t>Como Real</a:t>
            </a:r>
            <a:r>
              <a:rPr lang="es-ES" dirty="0">
                <a:latin typeface="Courier New" pitchFamily="49" charset="0"/>
                <a:cs typeface="Courier New" pitchFamily="49" charset="0"/>
              </a:rPr>
              <a:t>; </a:t>
            </a:r>
          </a:p>
          <a:p>
            <a:r>
              <a:rPr lang="es-ES" b="1" dirty="0">
                <a:solidFill>
                  <a:srgbClr val="0070C0"/>
                </a:solidFill>
                <a:latin typeface="Courier New" pitchFamily="49" charset="0"/>
                <a:cs typeface="Courier New" pitchFamily="49" charset="0"/>
              </a:rPr>
              <a:t>Definir</a:t>
            </a:r>
            <a:r>
              <a:rPr lang="es-ES" dirty="0">
                <a:solidFill>
                  <a:srgbClr val="0070C0"/>
                </a:solidFill>
                <a:latin typeface="Courier New" pitchFamily="49" charset="0"/>
                <a:cs typeface="Courier New" pitchFamily="49" charset="0"/>
              </a:rPr>
              <a:t> </a:t>
            </a:r>
            <a:r>
              <a:rPr lang="es-ES" dirty="0">
                <a:latin typeface="Courier New" pitchFamily="49" charset="0"/>
                <a:cs typeface="Courier New" pitchFamily="49" charset="0"/>
              </a:rPr>
              <a:t>esValido </a:t>
            </a:r>
            <a:r>
              <a:rPr lang="es-ES" b="1" dirty="0">
                <a:solidFill>
                  <a:srgbClr val="0070C0"/>
                </a:solidFill>
                <a:latin typeface="Courier New" pitchFamily="49" charset="0"/>
                <a:cs typeface="Courier New" pitchFamily="49" charset="0"/>
              </a:rPr>
              <a:t>Como Logico</a:t>
            </a:r>
            <a:r>
              <a:rPr lang="es-ES" dirty="0">
                <a:latin typeface="Courier New" pitchFamily="49" charset="0"/>
                <a:cs typeface="Courier New" pitchFamily="49" charset="0"/>
              </a:rPr>
              <a:t>;</a:t>
            </a:r>
          </a:p>
          <a:p>
            <a:r>
              <a:rPr lang="es-ES" b="1" dirty="0">
                <a:solidFill>
                  <a:srgbClr val="0070C0"/>
                </a:solidFill>
                <a:latin typeface="Courier New" pitchFamily="49" charset="0"/>
                <a:cs typeface="Courier New" pitchFamily="49" charset="0"/>
              </a:rPr>
              <a:t>Definir</a:t>
            </a:r>
            <a:r>
              <a:rPr lang="es-ES" dirty="0">
                <a:latin typeface="Courier New" pitchFamily="49" charset="0"/>
                <a:cs typeface="Courier New" pitchFamily="49" charset="0"/>
              </a:rPr>
              <a:t> variable_1 </a:t>
            </a:r>
            <a:r>
              <a:rPr lang="es-ES" b="1" dirty="0">
                <a:solidFill>
                  <a:srgbClr val="0070C0"/>
                </a:solidFill>
                <a:latin typeface="Courier New" pitchFamily="49" charset="0"/>
                <a:cs typeface="Courier New" pitchFamily="49" charset="0"/>
              </a:rPr>
              <a:t>Como Caracter</a:t>
            </a:r>
            <a:r>
              <a:rPr lang="es-ES" dirty="0">
                <a:latin typeface="Courier New" pitchFamily="49" charset="0"/>
                <a:cs typeface="Courier New" pitchFamily="49" charset="0"/>
              </a:rPr>
              <a:t>; </a:t>
            </a:r>
          </a:p>
          <a:p>
            <a:r>
              <a:rPr lang="es-ES" dirty="0">
                <a:latin typeface="Courier New" pitchFamily="49" charset="0"/>
                <a:cs typeface="Courier New" pitchFamily="49" charset="0"/>
              </a:rPr>
              <a:t> </a:t>
            </a:r>
          </a:p>
        </p:txBody>
      </p:sp>
    </p:spTree>
    <p:custDataLst>
      <p:tags r:id="rId1"/>
    </p:custDataLst>
    <p:extLst>
      <p:ext uri="{BB962C8B-B14F-4D97-AF65-F5344CB8AC3E}">
        <p14:creationId xmlns:p14="http://schemas.microsoft.com/office/powerpoint/2010/main" val="3755510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tretch>
            <a:fillRect/>
          </a:stretch>
        </p:blipFill>
        <p:spPr bwMode="auto">
          <a:xfrm>
            <a:off x="643467" y="729996"/>
            <a:ext cx="10905066" cy="5398006"/>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1 Título"/>
          <p:cNvSpPr txBox="1">
            <a:spLocks/>
          </p:cNvSpPr>
          <p:nvPr/>
        </p:nvSpPr>
        <p:spPr>
          <a:xfrm>
            <a:off x="1028700" y="1967266"/>
            <a:ext cx="2628900" cy="2547257"/>
          </a:xfrm>
          <a:prstGeom prst="rect">
            <a:avLst/>
          </a:prstGeom>
          <a:noFill/>
        </p:spPr>
        <p:txBody>
          <a:bodyPr vert="horz" lIns="91440" tIns="45720" rIns="91440" bIns="45720" rtlCol="0" anchor="ctr">
            <a:normAutofit/>
          </a:bodyPr>
          <a:lstStyle/>
          <a:p>
            <a:pPr algn="ctr" fontAlgn="base">
              <a:lnSpc>
                <a:spcPct val="90000"/>
              </a:lnSpc>
              <a:spcBef>
                <a:spcPct val="0"/>
              </a:spcBef>
              <a:spcAft>
                <a:spcPts val="600"/>
              </a:spcAft>
              <a:defRPr/>
            </a:pPr>
            <a:r>
              <a:rPr lang="en-US" sz="3600" kern="1200">
                <a:solidFill>
                  <a:srgbClr val="FFFFFF"/>
                </a:solidFill>
                <a:latin typeface="+mj-lt"/>
                <a:ea typeface="+mj-ea"/>
                <a:cs typeface="+mj-cs"/>
              </a:rPr>
              <a:t>Operaciones Aritméticas</a:t>
            </a:r>
          </a:p>
        </p:txBody>
      </p:sp>
      <p:pic>
        <p:nvPicPr>
          <p:cNvPr id="2050" name="Picture 2"/>
          <p:cNvPicPr>
            <a:picLocks noChangeAspect="1" noChangeArrowheads="1"/>
          </p:cNvPicPr>
          <p:nvPr/>
        </p:nvPicPr>
        <p:blipFill>
          <a:blip r:embed="rId3" cstate="print"/>
          <a:stretch>
            <a:fillRect/>
          </a:stretch>
        </p:blipFill>
        <p:spPr bwMode="auto">
          <a:xfrm>
            <a:off x="4777316" y="1546191"/>
            <a:ext cx="6780700" cy="3763288"/>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print"/>
          <a:stretch>
            <a:fillRect/>
          </a:stretch>
        </p:blipFill>
        <p:spPr bwMode="auto">
          <a:xfrm>
            <a:off x="1538867" y="643466"/>
            <a:ext cx="9114265" cy="5571067"/>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4" name="Rectangle 4103">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6"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08"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10" name="Freeform: Shape 4109">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099" name="Picture 3"/>
          <p:cNvPicPr>
            <a:picLocks noChangeAspect="1" noChangeArrowheads="1"/>
          </p:cNvPicPr>
          <p:nvPr/>
        </p:nvPicPr>
        <p:blipFill>
          <a:blip r:embed="rId2" cstate="print"/>
          <a:stretch>
            <a:fillRect/>
          </a:stretch>
        </p:blipFill>
        <p:spPr bwMode="auto">
          <a:xfrm>
            <a:off x="637376" y="2044357"/>
            <a:ext cx="3343202" cy="1872193"/>
          </a:xfrm>
          <a:prstGeom prst="rect">
            <a:avLst/>
          </a:prstGeom>
          <a:noFill/>
        </p:spPr>
      </p:pic>
      <p:sp>
        <p:nvSpPr>
          <p:cNvPr id="4112" name="Freeform: Shape 4111">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098" name="Picture 2"/>
          <p:cNvPicPr>
            <a:picLocks noChangeAspect="1" noChangeArrowheads="1"/>
          </p:cNvPicPr>
          <p:nvPr/>
        </p:nvPicPr>
        <p:blipFill>
          <a:blip r:embed="rId3" cstate="print"/>
          <a:stretch>
            <a:fillRect/>
          </a:stretch>
        </p:blipFill>
        <p:spPr bwMode="auto">
          <a:xfrm>
            <a:off x="5545244" y="2558566"/>
            <a:ext cx="6020730" cy="2280039"/>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7"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1 Título"/>
          <p:cNvSpPr txBox="1">
            <a:spLocks/>
          </p:cNvSpPr>
          <p:nvPr/>
        </p:nvSpPr>
        <p:spPr>
          <a:xfrm>
            <a:off x="1028700" y="1967266"/>
            <a:ext cx="2628900" cy="2547257"/>
          </a:xfrm>
          <a:prstGeom prst="rect">
            <a:avLst/>
          </a:prstGeom>
          <a:noFill/>
        </p:spPr>
        <p:txBody>
          <a:bodyPr vert="horz" lIns="91440" tIns="45720" rIns="91440" bIns="45720" rtlCol="0" anchor="ctr">
            <a:normAutofit/>
          </a:bodyPr>
          <a:lstStyle/>
          <a:p>
            <a:pPr algn="ctr" fontAlgn="base">
              <a:lnSpc>
                <a:spcPct val="90000"/>
              </a:lnSpc>
              <a:spcBef>
                <a:spcPct val="0"/>
              </a:spcBef>
              <a:spcAft>
                <a:spcPts val="600"/>
              </a:spcAft>
              <a:defRPr/>
            </a:pPr>
            <a:r>
              <a:rPr lang="en-US" sz="3600" kern="1200">
                <a:solidFill>
                  <a:srgbClr val="FFFFFF"/>
                </a:solidFill>
                <a:latin typeface="+mj-lt"/>
                <a:ea typeface="+mj-ea"/>
                <a:cs typeface="+mj-cs"/>
              </a:rPr>
              <a:t>Uso de Funciones</a:t>
            </a:r>
          </a:p>
        </p:txBody>
      </p:sp>
      <p:pic>
        <p:nvPicPr>
          <p:cNvPr id="5122" name="Picture 2"/>
          <p:cNvPicPr>
            <a:picLocks noChangeAspect="1" noChangeArrowheads="1"/>
          </p:cNvPicPr>
          <p:nvPr/>
        </p:nvPicPr>
        <p:blipFill>
          <a:blip r:embed="rId3" cstate="print"/>
          <a:stretch>
            <a:fillRect/>
          </a:stretch>
        </p:blipFill>
        <p:spPr bwMode="auto">
          <a:xfrm>
            <a:off x="4777316" y="1486861"/>
            <a:ext cx="6780700" cy="3881949"/>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txBox="1">
            <a:spLocks/>
          </p:cNvSpPr>
          <p:nvPr/>
        </p:nvSpPr>
        <p:spPr>
          <a:xfrm>
            <a:off x="638882" y="639193"/>
            <a:ext cx="3571810" cy="3573516"/>
          </a:xfrm>
          <a:prstGeom prst="rect">
            <a:avLst/>
          </a:prstGeom>
        </p:spPr>
        <p:txBody>
          <a:bodyPr vert="horz" lIns="91440" tIns="45720" rIns="91440" bIns="45720" rtlCol="0" anchor="b">
            <a:normAutofit/>
          </a:bodyPr>
          <a:lstStyle/>
          <a:p>
            <a:pPr fontAlgn="base">
              <a:lnSpc>
                <a:spcPct val="90000"/>
              </a:lnSpc>
              <a:spcBef>
                <a:spcPct val="0"/>
              </a:spcBef>
              <a:spcAft>
                <a:spcPts val="600"/>
              </a:spcAft>
              <a:defRPr/>
            </a:pPr>
            <a:r>
              <a:rPr lang="en-US" sz="6600" kern="1200">
                <a:solidFill>
                  <a:schemeClr val="tx1"/>
                </a:solidFill>
                <a:latin typeface="+mj-lt"/>
                <a:ea typeface="+mj-ea"/>
                <a:cs typeface="+mj-cs"/>
              </a:rPr>
              <a:t>Ejemplos</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p:cNvPicPr>
            <a:picLocks noChangeAspect="1" noChangeArrowheads="1"/>
          </p:cNvPicPr>
          <p:nvPr/>
        </p:nvPicPr>
        <p:blipFill>
          <a:blip r:embed="rId2" cstate="print"/>
          <a:stretch>
            <a:fillRect/>
          </a:stretch>
        </p:blipFill>
        <p:spPr bwMode="auto">
          <a:xfrm>
            <a:off x="4654296" y="1999415"/>
            <a:ext cx="7214616" cy="2831737"/>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z="2800" dirty="0">
                <a:latin typeface="+mn-lt"/>
                <a:cs typeface="+mn-cs"/>
              </a:rPr>
              <a:t>Expresiones Lógicas</a:t>
            </a:r>
          </a:p>
        </p:txBody>
      </p:sp>
      <p:sp>
        <p:nvSpPr>
          <p:cNvPr id="3" name="2 Rectángulo"/>
          <p:cNvSpPr/>
          <p:nvPr/>
        </p:nvSpPr>
        <p:spPr>
          <a:xfrm>
            <a:off x="4496640" y="1772817"/>
            <a:ext cx="3039521" cy="1200329"/>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7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A</a:t>
            </a:r>
            <a:r>
              <a:rPr lang="es-ES" sz="7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&gt; </a:t>
            </a:r>
            <a:r>
              <a:rPr lang="es-ES" sz="72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4</a:t>
            </a:r>
            <a:endParaRPr lang="es-ES" sz="72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5" name="4 Llamada de flecha hacia arriba"/>
          <p:cNvSpPr/>
          <p:nvPr/>
        </p:nvSpPr>
        <p:spPr>
          <a:xfrm>
            <a:off x="4511825" y="2973146"/>
            <a:ext cx="3039521" cy="2687359"/>
          </a:xfrm>
          <a:prstGeom prst="upArrowCallou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ES" dirty="0"/>
              <a:t>Operador Lógico</a:t>
            </a:r>
          </a:p>
        </p:txBody>
      </p:sp>
      <p:sp>
        <p:nvSpPr>
          <p:cNvPr id="6" name="5 Llamada de flecha a la derecha"/>
          <p:cNvSpPr/>
          <p:nvPr/>
        </p:nvSpPr>
        <p:spPr>
          <a:xfrm>
            <a:off x="2495600" y="2037041"/>
            <a:ext cx="2232248" cy="792088"/>
          </a:xfrm>
          <a:prstGeom prst="rightArrowCallou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dirty="0"/>
              <a:t>Variable</a:t>
            </a:r>
          </a:p>
        </p:txBody>
      </p:sp>
      <p:sp>
        <p:nvSpPr>
          <p:cNvPr id="7" name="6 Llamada de flecha a la izquierda"/>
          <p:cNvSpPr/>
          <p:nvPr/>
        </p:nvSpPr>
        <p:spPr>
          <a:xfrm>
            <a:off x="7248129" y="2037041"/>
            <a:ext cx="2304256" cy="792088"/>
          </a:xfrm>
          <a:prstGeom prst="leftArrowCallou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s-ES" dirty="0"/>
              <a:t>Número</a:t>
            </a:r>
          </a:p>
        </p:txBody>
      </p:sp>
    </p:spTree>
    <p:extLst>
      <p:ext uri="{BB962C8B-B14F-4D97-AF65-F5344CB8AC3E}">
        <p14:creationId xmlns:p14="http://schemas.microsoft.com/office/powerpoint/2010/main" val="4130867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7 Título"/>
          <p:cNvSpPr>
            <a:spLocks noGrp="1"/>
          </p:cNvSpPr>
          <p:nvPr>
            <p:ph type="title"/>
          </p:nvPr>
        </p:nvSpPr>
        <p:spPr>
          <a:xfrm>
            <a:off x="638882" y="639193"/>
            <a:ext cx="3571810" cy="3573516"/>
          </a:xfrm>
        </p:spPr>
        <p:txBody>
          <a:bodyPr vert="horz" lIns="91440" tIns="45720" rIns="91440" bIns="45720" rtlCol="0" anchor="b">
            <a:normAutofit/>
          </a:bodyPr>
          <a:lstStyle/>
          <a:p>
            <a:r>
              <a:rPr lang="en-US" sz="5100" kern="1200">
                <a:solidFill>
                  <a:schemeClr val="tx1"/>
                </a:solidFill>
                <a:latin typeface="+mj-lt"/>
                <a:ea typeface="+mj-ea"/>
                <a:cs typeface="+mj-cs"/>
              </a:rPr>
              <a:t>Operadores Relacionales</a:t>
            </a:r>
          </a:p>
        </p:txBody>
      </p:sp>
      <p:sp>
        <p:nvSpPr>
          <p:cNvPr id="615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p:cNvPicPr>
            <a:picLocks noChangeAspect="1" noChangeArrowheads="1"/>
          </p:cNvPicPr>
          <p:nvPr/>
        </p:nvPicPr>
        <p:blipFill>
          <a:blip r:embed="rId3" cstate="print"/>
          <a:stretch>
            <a:fillRect/>
          </a:stretch>
        </p:blipFill>
        <p:spPr bwMode="auto">
          <a:xfrm>
            <a:off x="4654296" y="1683777"/>
            <a:ext cx="7214616" cy="3463014"/>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z="2800" dirty="0">
                <a:latin typeface="+mn-lt"/>
                <a:cs typeface="+mn-cs"/>
              </a:rPr>
              <a:t>Operadores Lógicos</a:t>
            </a:r>
          </a:p>
        </p:txBody>
      </p:sp>
      <p:sp>
        <p:nvSpPr>
          <p:cNvPr id="3" name="2 Rectángulo"/>
          <p:cNvSpPr/>
          <p:nvPr/>
        </p:nvSpPr>
        <p:spPr>
          <a:xfrm>
            <a:off x="2567608" y="2060848"/>
            <a:ext cx="6840760" cy="345638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s-ES" dirty="0"/>
          </a:p>
        </p:txBody>
      </p:sp>
      <p:sp>
        <p:nvSpPr>
          <p:cNvPr id="4" name="3 Elipse"/>
          <p:cNvSpPr/>
          <p:nvPr/>
        </p:nvSpPr>
        <p:spPr>
          <a:xfrm>
            <a:off x="3431704" y="2420888"/>
            <a:ext cx="3168352" cy="288032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a:t>A</a:t>
            </a:r>
          </a:p>
        </p:txBody>
      </p:sp>
      <p:sp>
        <p:nvSpPr>
          <p:cNvPr id="6" name="5 Elipse"/>
          <p:cNvSpPr/>
          <p:nvPr/>
        </p:nvSpPr>
        <p:spPr>
          <a:xfrm>
            <a:off x="5375920" y="2420888"/>
            <a:ext cx="3312368" cy="2880320"/>
          </a:xfrm>
          <a:prstGeom prst="ellipse">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s-ES" dirty="0"/>
              <a:t>B</a:t>
            </a:r>
          </a:p>
        </p:txBody>
      </p:sp>
      <p:sp>
        <p:nvSpPr>
          <p:cNvPr id="7" name="6 Elipse"/>
          <p:cNvSpPr/>
          <p:nvPr/>
        </p:nvSpPr>
        <p:spPr>
          <a:xfrm>
            <a:off x="5375920" y="2780928"/>
            <a:ext cx="1224136" cy="216024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ES" dirty="0"/>
              <a:t>A Y B</a:t>
            </a:r>
          </a:p>
        </p:txBody>
      </p:sp>
      <p:sp>
        <p:nvSpPr>
          <p:cNvPr id="8" name="7 Rectángulo"/>
          <p:cNvSpPr/>
          <p:nvPr/>
        </p:nvSpPr>
        <p:spPr>
          <a:xfrm>
            <a:off x="5692875" y="5661248"/>
            <a:ext cx="590226"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s-E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Y</a:t>
            </a:r>
          </a:p>
        </p:txBody>
      </p:sp>
      <p:cxnSp>
        <p:nvCxnSpPr>
          <p:cNvPr id="10" name="9 Conector recto de flecha"/>
          <p:cNvCxnSpPr/>
          <p:nvPr/>
        </p:nvCxnSpPr>
        <p:spPr>
          <a:xfrm flipH="1" flipV="1">
            <a:off x="5987988" y="4941168"/>
            <a:ext cx="1" cy="576064"/>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1" name="10 Rectángulo"/>
          <p:cNvSpPr/>
          <p:nvPr/>
        </p:nvSpPr>
        <p:spPr>
          <a:xfrm>
            <a:off x="5639976" y="764704"/>
            <a:ext cx="696024" cy="923330"/>
          </a:xfrm>
          <a:prstGeom prst="rect">
            <a:avLst/>
          </a:prstGeom>
          <a:noFill/>
        </p:spPr>
        <p:txBody>
          <a:bodyPr wrap="none" lIns="91440" tIns="45720" rIns="91440" bIns="45720">
            <a:spAutoFit/>
          </a:bodyPr>
          <a:lstStyle/>
          <a:p>
            <a:pPr algn="ctr"/>
            <a:r>
              <a:rPr lang="es-ES"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O</a:t>
            </a:r>
          </a:p>
        </p:txBody>
      </p:sp>
      <p:cxnSp>
        <p:nvCxnSpPr>
          <p:cNvPr id="13" name="12 Conector recto de flecha"/>
          <p:cNvCxnSpPr>
            <a:stCxn id="11" idx="2"/>
            <a:endCxn id="4" idx="0"/>
          </p:cNvCxnSpPr>
          <p:nvPr/>
        </p:nvCxnSpPr>
        <p:spPr>
          <a:xfrm flipH="1">
            <a:off x="5015880" y="1688034"/>
            <a:ext cx="972108" cy="732854"/>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5" name="14 Conector recto de flecha"/>
          <p:cNvCxnSpPr>
            <a:stCxn id="11" idx="2"/>
            <a:endCxn id="7" idx="0"/>
          </p:cNvCxnSpPr>
          <p:nvPr/>
        </p:nvCxnSpPr>
        <p:spPr>
          <a:xfrm>
            <a:off x="5987988" y="1688034"/>
            <a:ext cx="0" cy="1092894"/>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cxnSp>
        <p:nvCxnSpPr>
          <p:cNvPr id="17" name="16 Conector recto de flecha"/>
          <p:cNvCxnSpPr>
            <a:stCxn id="11" idx="2"/>
          </p:cNvCxnSpPr>
          <p:nvPr/>
        </p:nvCxnSpPr>
        <p:spPr>
          <a:xfrm>
            <a:off x="5987988" y="1688034"/>
            <a:ext cx="1044116" cy="732854"/>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13032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tretch>
            <a:fillRect/>
          </a:stretch>
        </p:blipFill>
        <p:spPr bwMode="auto">
          <a:xfrm>
            <a:off x="961375" y="643466"/>
            <a:ext cx="10269250" cy="5571067"/>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4" name="Picture 2" descr="Gráfico, Gráfico de burbujas&#10;&#10;El contenido generado por IA puede ser incorrecto."/>
          <p:cNvPicPr>
            <a:picLocks noChangeAspect="1" noChangeArrowheads="1"/>
          </p:cNvPicPr>
          <p:nvPr/>
        </p:nvPicPr>
        <p:blipFill>
          <a:blip r:embed="rId2" cstate="print"/>
          <a:stretch>
            <a:fillRect/>
          </a:stretch>
        </p:blipFill>
        <p:spPr bwMode="auto">
          <a:xfrm>
            <a:off x="643467" y="661839"/>
            <a:ext cx="10905066" cy="5534321"/>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cstate="print"/>
          <a:stretch>
            <a:fillRect/>
          </a:stretch>
        </p:blipFill>
        <p:spPr bwMode="auto">
          <a:xfrm>
            <a:off x="937604" y="643466"/>
            <a:ext cx="10316792" cy="5571067"/>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z="2800" dirty="0">
                <a:latin typeface="+mn-lt"/>
                <a:cs typeface="+mn-cs"/>
              </a:rPr>
              <a:t>Operadores General</a:t>
            </a:r>
          </a:p>
        </p:txBody>
      </p:sp>
      <p:pic>
        <p:nvPicPr>
          <p:cNvPr id="10242" name="Picture 2"/>
          <p:cNvPicPr>
            <a:picLocks noChangeAspect="1" noChangeArrowheads="1"/>
          </p:cNvPicPr>
          <p:nvPr/>
        </p:nvPicPr>
        <p:blipFill>
          <a:blip r:embed="rId3" cstate="print"/>
          <a:srcRect/>
          <a:stretch>
            <a:fillRect/>
          </a:stretch>
        </p:blipFill>
        <p:spPr bwMode="auto">
          <a:xfrm>
            <a:off x="3572448" y="1628800"/>
            <a:ext cx="5187849" cy="3960440"/>
          </a:xfrm>
          <a:prstGeom prst="rect">
            <a:avLst/>
          </a:prstGeom>
          <a:noFill/>
          <a:ln w="9525">
            <a:noFill/>
            <a:miter lim="800000"/>
            <a:headEnd/>
            <a:tailEnd/>
          </a:ln>
        </p:spPr>
      </p:pic>
    </p:spTree>
    <p:extLst>
      <p:ext uri="{BB962C8B-B14F-4D97-AF65-F5344CB8AC3E}">
        <p14:creationId xmlns:p14="http://schemas.microsoft.com/office/powerpoint/2010/main" val="2148727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Decisión"/>
          <p:cNvSpPr/>
          <p:nvPr/>
        </p:nvSpPr>
        <p:spPr>
          <a:xfrm>
            <a:off x="4818861" y="1700808"/>
            <a:ext cx="2448272" cy="1368152"/>
          </a:xfrm>
          <a:prstGeom prst="flowChartDecisi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dirty="0"/>
              <a:t>Condición</a:t>
            </a:r>
          </a:p>
        </p:txBody>
      </p:sp>
      <p:sp>
        <p:nvSpPr>
          <p:cNvPr id="6" name="5 Rectángulo"/>
          <p:cNvSpPr/>
          <p:nvPr/>
        </p:nvSpPr>
        <p:spPr>
          <a:xfrm>
            <a:off x="2370589" y="3573016"/>
            <a:ext cx="2448272" cy="8640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a:t>Instrucciones Verdadero</a:t>
            </a:r>
          </a:p>
        </p:txBody>
      </p:sp>
      <p:sp>
        <p:nvSpPr>
          <p:cNvPr id="26" name="25 Rectángulo"/>
          <p:cNvSpPr/>
          <p:nvPr/>
        </p:nvSpPr>
        <p:spPr>
          <a:xfrm>
            <a:off x="7261825" y="3573016"/>
            <a:ext cx="2448272" cy="86409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ES" dirty="0"/>
              <a:t>Instrucciones Falso</a:t>
            </a:r>
          </a:p>
        </p:txBody>
      </p:sp>
      <p:cxnSp>
        <p:nvCxnSpPr>
          <p:cNvPr id="10" name="9 Conector angular"/>
          <p:cNvCxnSpPr>
            <a:endCxn id="6" idx="0"/>
          </p:cNvCxnSpPr>
          <p:nvPr/>
        </p:nvCxnSpPr>
        <p:spPr>
          <a:xfrm rot="10800000" flipV="1">
            <a:off x="3594725" y="2384884"/>
            <a:ext cx="1224136" cy="1188132"/>
          </a:xfrm>
          <a:prstGeom prst="bentConnector2">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2" name="21 Conector angular"/>
          <p:cNvCxnSpPr>
            <a:endCxn id="26" idx="0"/>
          </p:cNvCxnSpPr>
          <p:nvPr/>
        </p:nvCxnSpPr>
        <p:spPr>
          <a:xfrm>
            <a:off x="7267133" y="2384884"/>
            <a:ext cx="1218828" cy="1188132"/>
          </a:xfrm>
          <a:prstGeom prst="bentConnector2">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4" name="23 Conector recto de flecha"/>
          <p:cNvCxnSpPr>
            <a:cxnSpLocks/>
            <a:endCxn id="4" idx="0"/>
          </p:cNvCxnSpPr>
          <p:nvPr/>
        </p:nvCxnSpPr>
        <p:spPr>
          <a:xfrm>
            <a:off x="6040343" y="1166648"/>
            <a:ext cx="2654" cy="53416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5" name="24 Rectángulo"/>
          <p:cNvSpPr/>
          <p:nvPr/>
        </p:nvSpPr>
        <p:spPr>
          <a:xfrm>
            <a:off x="4818861" y="5301208"/>
            <a:ext cx="2442964" cy="8640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a:t>Instrucciones siguientes</a:t>
            </a:r>
          </a:p>
        </p:txBody>
      </p:sp>
      <p:cxnSp>
        <p:nvCxnSpPr>
          <p:cNvPr id="31" name="30 Conector angular"/>
          <p:cNvCxnSpPr>
            <a:stCxn id="6" idx="2"/>
            <a:endCxn id="25" idx="0"/>
          </p:cNvCxnSpPr>
          <p:nvPr/>
        </p:nvCxnSpPr>
        <p:spPr>
          <a:xfrm rot="16200000" flipH="1">
            <a:off x="4385486" y="3646351"/>
            <a:ext cx="864096" cy="2445618"/>
          </a:xfrm>
          <a:prstGeom prst="bentConnector3">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6" name="35 Conector angular"/>
          <p:cNvCxnSpPr>
            <a:stCxn id="26" idx="2"/>
            <a:endCxn id="25" idx="0"/>
          </p:cNvCxnSpPr>
          <p:nvPr/>
        </p:nvCxnSpPr>
        <p:spPr>
          <a:xfrm rot="5400000">
            <a:off x="6831104" y="3646351"/>
            <a:ext cx="864096" cy="2445618"/>
          </a:xfrm>
          <a:prstGeom prst="bentConnector3">
            <a:avLst>
              <a:gd name="adj1" fmla="val 50000"/>
            </a:avLst>
          </a:prstGeom>
          <a:ln>
            <a:tailEnd type="arrow"/>
          </a:ln>
        </p:spPr>
        <p:style>
          <a:lnRef idx="3">
            <a:schemeClr val="accent2"/>
          </a:lnRef>
          <a:fillRef idx="0">
            <a:schemeClr val="accent2"/>
          </a:fillRef>
          <a:effectRef idx="2">
            <a:schemeClr val="accent2"/>
          </a:effectRef>
          <a:fontRef idx="minor">
            <a:schemeClr val="tx1"/>
          </a:fontRef>
        </p:style>
      </p:cxnSp>
      <p:sp>
        <p:nvSpPr>
          <p:cNvPr id="12" name="11 CuadroTexto"/>
          <p:cNvSpPr txBox="1"/>
          <p:nvPr/>
        </p:nvSpPr>
        <p:spPr>
          <a:xfrm>
            <a:off x="8635286" y="2420888"/>
            <a:ext cx="1796069" cy="369332"/>
          </a:xfrm>
          <a:prstGeom prst="rect">
            <a:avLst/>
          </a:prstGeom>
          <a:noFill/>
        </p:spPr>
        <p:txBody>
          <a:bodyPr wrap="none" rtlCol="0">
            <a:spAutoFit/>
          </a:bodyPr>
          <a:lstStyle/>
          <a:p>
            <a:r>
              <a:rPr lang="es-CL" dirty="0"/>
              <a:t>Condición Falsa</a:t>
            </a:r>
          </a:p>
        </p:txBody>
      </p:sp>
      <p:sp>
        <p:nvSpPr>
          <p:cNvPr id="13" name="12 CuadroTexto"/>
          <p:cNvSpPr txBox="1"/>
          <p:nvPr/>
        </p:nvSpPr>
        <p:spPr>
          <a:xfrm>
            <a:off x="2442598" y="1979548"/>
            <a:ext cx="2277611" cy="369332"/>
          </a:xfrm>
          <a:prstGeom prst="rect">
            <a:avLst/>
          </a:prstGeom>
          <a:noFill/>
        </p:spPr>
        <p:txBody>
          <a:bodyPr wrap="none" rtlCol="0">
            <a:spAutoFit/>
          </a:bodyPr>
          <a:lstStyle/>
          <a:p>
            <a:r>
              <a:rPr lang="es-CL" dirty="0"/>
              <a:t>Condición Verdadera</a:t>
            </a:r>
          </a:p>
        </p:txBody>
      </p:sp>
      <p:sp>
        <p:nvSpPr>
          <p:cNvPr id="14" name="7 Título"/>
          <p:cNvSpPr txBox="1">
            <a:spLocks/>
          </p:cNvSpPr>
          <p:nvPr/>
        </p:nvSpPr>
        <p:spPr bwMode="auto">
          <a:xfrm>
            <a:off x="1991544" y="188640"/>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algn="ctr" defTabSz="457200" fontAlgn="base">
              <a:spcBef>
                <a:spcPct val="0"/>
              </a:spcBef>
              <a:spcAft>
                <a:spcPct val="0"/>
              </a:spcAft>
              <a:defRPr/>
            </a:pPr>
            <a:r>
              <a:rPr lang="es-CL" sz="2800" dirty="0">
                <a:solidFill>
                  <a:schemeClr val="tx2">
                    <a:lumMod val="50000"/>
                  </a:schemeClr>
                </a:solidFill>
                <a:ea typeface="ＭＳ Ｐゴシック" charset="-128"/>
              </a:rPr>
              <a:t>Sentencias Condicionales Selección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Ejemplo</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4 Imagen"/>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64608" y="1984101"/>
            <a:ext cx="6846363" cy="2738544"/>
          </a:xfrm>
          <a:prstGeom prst="rect">
            <a:avLst/>
          </a:prstGeom>
        </p:spPr>
      </p:pic>
    </p:spTree>
    <p:extLst>
      <p:ext uri="{BB962C8B-B14F-4D97-AF65-F5344CB8AC3E}">
        <p14:creationId xmlns:p14="http://schemas.microsoft.com/office/powerpoint/2010/main" val="2544078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Título"/>
          <p:cNvSpPr>
            <a:spLocks noGrp="1"/>
          </p:cNvSpPr>
          <p:nvPr>
            <p:ph type="title"/>
          </p:nvPr>
        </p:nvSpPr>
        <p:spPr/>
        <p:txBody>
          <a:bodyPr/>
          <a:lstStyle/>
          <a:p>
            <a:r>
              <a:rPr lang="es-CL" sz="2800" dirty="0">
                <a:latin typeface="+mn-lt"/>
                <a:cs typeface="+mn-cs"/>
              </a:rPr>
              <a:t>Expresiones Lógicas</a:t>
            </a:r>
          </a:p>
        </p:txBody>
      </p:sp>
      <p:sp>
        <p:nvSpPr>
          <p:cNvPr id="4" name="3 Decisión"/>
          <p:cNvSpPr/>
          <p:nvPr/>
        </p:nvSpPr>
        <p:spPr>
          <a:xfrm>
            <a:off x="4871864" y="1700808"/>
            <a:ext cx="2448272" cy="1368152"/>
          </a:xfrm>
          <a:prstGeom prst="flowChartDecisi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dirty="0"/>
              <a:t>Expresión Lógica</a:t>
            </a:r>
          </a:p>
        </p:txBody>
      </p:sp>
      <p:sp>
        <p:nvSpPr>
          <p:cNvPr id="6" name="5 Rectángulo"/>
          <p:cNvSpPr/>
          <p:nvPr/>
        </p:nvSpPr>
        <p:spPr>
          <a:xfrm>
            <a:off x="2423592" y="3573016"/>
            <a:ext cx="2448272" cy="8640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a:t>Instrucciones Verdadero</a:t>
            </a:r>
          </a:p>
        </p:txBody>
      </p:sp>
      <p:sp>
        <p:nvSpPr>
          <p:cNvPr id="26" name="25 Rectángulo"/>
          <p:cNvSpPr/>
          <p:nvPr/>
        </p:nvSpPr>
        <p:spPr>
          <a:xfrm>
            <a:off x="7314828" y="3573016"/>
            <a:ext cx="2448272" cy="864096"/>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ES" dirty="0"/>
              <a:t>Instrucciones Falso</a:t>
            </a:r>
          </a:p>
        </p:txBody>
      </p:sp>
      <p:cxnSp>
        <p:nvCxnSpPr>
          <p:cNvPr id="10" name="9 Conector angular"/>
          <p:cNvCxnSpPr>
            <a:endCxn id="6" idx="0"/>
          </p:cNvCxnSpPr>
          <p:nvPr/>
        </p:nvCxnSpPr>
        <p:spPr>
          <a:xfrm rot="10800000" flipV="1">
            <a:off x="3647728" y="2384884"/>
            <a:ext cx="1224136" cy="1188132"/>
          </a:xfrm>
          <a:prstGeom prst="bentConnector2">
            <a:avLst/>
          </a:prstGeom>
          <a:ln>
            <a:tailEnd type="arrow"/>
          </a:ln>
        </p:spPr>
        <p:style>
          <a:lnRef idx="3">
            <a:schemeClr val="accent1"/>
          </a:lnRef>
          <a:fillRef idx="0">
            <a:schemeClr val="accent1"/>
          </a:fillRef>
          <a:effectRef idx="2">
            <a:schemeClr val="accent1"/>
          </a:effectRef>
          <a:fontRef idx="minor">
            <a:schemeClr val="tx1"/>
          </a:fontRef>
        </p:style>
      </p:cxnSp>
      <p:cxnSp>
        <p:nvCxnSpPr>
          <p:cNvPr id="22" name="21 Conector angular"/>
          <p:cNvCxnSpPr>
            <a:endCxn id="26" idx="0"/>
          </p:cNvCxnSpPr>
          <p:nvPr/>
        </p:nvCxnSpPr>
        <p:spPr>
          <a:xfrm>
            <a:off x="7320136" y="2384884"/>
            <a:ext cx="1218828" cy="1188132"/>
          </a:xfrm>
          <a:prstGeom prst="bentConnector2">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4" name="23 Conector recto de flecha"/>
          <p:cNvCxnSpPr/>
          <p:nvPr/>
        </p:nvCxnSpPr>
        <p:spPr>
          <a:xfrm>
            <a:off x="5807968" y="989112"/>
            <a:ext cx="0" cy="864096"/>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25" name="24 Rectángulo"/>
          <p:cNvSpPr/>
          <p:nvPr/>
        </p:nvSpPr>
        <p:spPr>
          <a:xfrm>
            <a:off x="4871864" y="5301208"/>
            <a:ext cx="2442964" cy="8640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a:t>Instrucciones siguientes</a:t>
            </a:r>
          </a:p>
        </p:txBody>
      </p:sp>
      <p:cxnSp>
        <p:nvCxnSpPr>
          <p:cNvPr id="31" name="30 Conector angular"/>
          <p:cNvCxnSpPr>
            <a:stCxn id="6" idx="2"/>
            <a:endCxn id="25" idx="0"/>
          </p:cNvCxnSpPr>
          <p:nvPr/>
        </p:nvCxnSpPr>
        <p:spPr>
          <a:xfrm rot="16200000" flipH="1">
            <a:off x="4438489" y="3646351"/>
            <a:ext cx="864096" cy="2445618"/>
          </a:xfrm>
          <a:prstGeom prst="bentConnector3">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6" name="35 Conector angular"/>
          <p:cNvCxnSpPr>
            <a:stCxn id="26" idx="2"/>
            <a:endCxn id="25" idx="0"/>
          </p:cNvCxnSpPr>
          <p:nvPr/>
        </p:nvCxnSpPr>
        <p:spPr>
          <a:xfrm rot="5400000">
            <a:off x="6884107" y="3646351"/>
            <a:ext cx="864096" cy="2445618"/>
          </a:xfrm>
          <a:prstGeom prst="bentConnector3">
            <a:avLst>
              <a:gd name="adj1" fmla="val 50000"/>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2" name="11 Conector recto de flecha"/>
          <p:cNvCxnSpPr/>
          <p:nvPr/>
        </p:nvCxnSpPr>
        <p:spPr>
          <a:xfrm>
            <a:off x="6384032" y="989112"/>
            <a:ext cx="0" cy="864096"/>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11 Decisión"/>
          <p:cNvSpPr/>
          <p:nvPr/>
        </p:nvSpPr>
        <p:spPr>
          <a:xfrm>
            <a:off x="1524000" y="1980828"/>
            <a:ext cx="9036496" cy="1448173"/>
          </a:xfrm>
          <a:prstGeom prst="flowChartDecisi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dirty="0"/>
          </a:p>
        </p:txBody>
      </p:sp>
      <p:sp>
        <p:nvSpPr>
          <p:cNvPr id="3" name="2 Rectángulo"/>
          <p:cNvSpPr/>
          <p:nvPr/>
        </p:nvSpPr>
        <p:spPr>
          <a:xfrm>
            <a:off x="3079808" y="2492896"/>
            <a:ext cx="2584144" cy="36004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dirty="0"/>
              <a:t>Condición 1</a:t>
            </a:r>
          </a:p>
        </p:txBody>
      </p:sp>
      <p:sp>
        <p:nvSpPr>
          <p:cNvPr id="4" name="3 Rectángulo"/>
          <p:cNvSpPr/>
          <p:nvPr/>
        </p:nvSpPr>
        <p:spPr>
          <a:xfrm>
            <a:off x="6392176" y="2492896"/>
            <a:ext cx="2584144" cy="3600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ES" dirty="0"/>
              <a:t>Condición 2</a:t>
            </a:r>
          </a:p>
        </p:txBody>
      </p:sp>
      <p:sp>
        <p:nvSpPr>
          <p:cNvPr id="5" name="4 Cerrar llave"/>
          <p:cNvSpPr/>
          <p:nvPr/>
        </p:nvSpPr>
        <p:spPr>
          <a:xfrm rot="16200000">
            <a:off x="5691766" y="-943687"/>
            <a:ext cx="720080" cy="584902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6" name="5 CuadroTexto"/>
          <p:cNvSpPr txBox="1"/>
          <p:nvPr/>
        </p:nvSpPr>
        <p:spPr>
          <a:xfrm>
            <a:off x="3767247" y="1124745"/>
            <a:ext cx="4488250" cy="461665"/>
          </a:xfrm>
          <a:prstGeom prst="rect">
            <a:avLst/>
          </a:prstGeom>
          <a:noFill/>
        </p:spPr>
        <p:txBody>
          <a:bodyPr wrap="square" rtlCol="0">
            <a:spAutoFit/>
          </a:bodyPr>
          <a:lstStyle/>
          <a:p>
            <a:pPr algn="ctr"/>
            <a:r>
              <a:rPr lang="es-ES" sz="2400" dirty="0"/>
              <a:t>Expresión Lógica</a:t>
            </a:r>
          </a:p>
        </p:txBody>
      </p:sp>
      <p:sp>
        <p:nvSpPr>
          <p:cNvPr id="7" name="6 CuadroTexto"/>
          <p:cNvSpPr txBox="1"/>
          <p:nvPr/>
        </p:nvSpPr>
        <p:spPr>
          <a:xfrm>
            <a:off x="5663953" y="2289646"/>
            <a:ext cx="728223" cy="923330"/>
          </a:xfrm>
          <a:prstGeom prst="rect">
            <a:avLst/>
          </a:prstGeom>
          <a:noFill/>
        </p:spPr>
        <p:txBody>
          <a:bodyPr wrap="square" rtlCol="0">
            <a:spAutoFit/>
          </a:bodyPr>
          <a:lstStyle/>
          <a:p>
            <a:pPr algn="ctr"/>
            <a:r>
              <a:rPr lang="es-ES" dirty="0"/>
              <a:t>Y</a:t>
            </a:r>
          </a:p>
          <a:p>
            <a:pPr algn="ctr"/>
            <a:r>
              <a:rPr lang="es-ES" dirty="0"/>
              <a:t>&amp;</a:t>
            </a:r>
          </a:p>
          <a:p>
            <a:pPr algn="ctr"/>
            <a:r>
              <a:rPr lang="es-ES" dirty="0"/>
              <a:t>&amp;&amp;</a:t>
            </a:r>
          </a:p>
        </p:txBody>
      </p:sp>
      <p:sp>
        <p:nvSpPr>
          <p:cNvPr id="8" name="7 Abrir llave"/>
          <p:cNvSpPr/>
          <p:nvPr/>
        </p:nvSpPr>
        <p:spPr>
          <a:xfrm rot="16200000">
            <a:off x="5760190" y="428894"/>
            <a:ext cx="576064" cy="585619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9" name="8 CuadroTexto"/>
          <p:cNvSpPr txBox="1"/>
          <p:nvPr/>
        </p:nvSpPr>
        <p:spPr>
          <a:xfrm>
            <a:off x="2931290" y="3604954"/>
            <a:ext cx="6189047" cy="400110"/>
          </a:xfrm>
          <a:prstGeom prst="rect">
            <a:avLst/>
          </a:prstGeom>
          <a:noFill/>
        </p:spPr>
        <p:txBody>
          <a:bodyPr wrap="square" rtlCol="0">
            <a:spAutoFit/>
          </a:bodyPr>
          <a:lstStyle/>
          <a:p>
            <a:pPr algn="ctr"/>
            <a:r>
              <a:rPr lang="es-ES" sz="2000" dirty="0"/>
              <a:t>Es verdadero si ambas condiciones son verdaderas</a:t>
            </a:r>
          </a:p>
        </p:txBody>
      </p:sp>
      <p:pic>
        <p:nvPicPr>
          <p:cNvPr id="10" name="9 Imagen"/>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676799" y="4162425"/>
            <a:ext cx="3267075" cy="1466850"/>
          </a:xfrm>
          <a:prstGeom prst="rect">
            <a:avLst/>
          </a:prstGeom>
        </p:spPr>
      </p:pic>
      <p:pic>
        <p:nvPicPr>
          <p:cNvPr id="11" name="10 Imagen"/>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33182" y="4191001"/>
            <a:ext cx="3267075" cy="1438275"/>
          </a:xfrm>
          <a:prstGeom prst="rect">
            <a:avLst/>
          </a:prstGeom>
        </p:spPr>
      </p:pic>
      <p:cxnSp>
        <p:nvCxnSpPr>
          <p:cNvPr id="13" name="12 Conector recto de flecha"/>
          <p:cNvCxnSpPr/>
          <p:nvPr/>
        </p:nvCxnSpPr>
        <p:spPr>
          <a:xfrm flipH="1">
            <a:off x="6312024" y="4725144"/>
            <a:ext cx="208823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13 CuadroTexto"/>
          <p:cNvSpPr txBox="1"/>
          <p:nvPr/>
        </p:nvSpPr>
        <p:spPr>
          <a:xfrm>
            <a:off x="8472264" y="4417948"/>
            <a:ext cx="1152128" cy="523220"/>
          </a:xfrm>
          <a:prstGeom prst="rect">
            <a:avLst/>
          </a:prstGeom>
          <a:noFill/>
        </p:spPr>
        <p:txBody>
          <a:bodyPr wrap="square" rtlCol="0">
            <a:spAutoFit/>
          </a:bodyPr>
          <a:lstStyle/>
          <a:p>
            <a:r>
              <a:rPr lang="es-ES" sz="1400" dirty="0"/>
              <a:t>No cumple la condición</a:t>
            </a:r>
          </a:p>
        </p:txBody>
      </p:sp>
    </p:spTree>
    <p:extLst>
      <p:ext uri="{BB962C8B-B14F-4D97-AF65-F5344CB8AC3E}">
        <p14:creationId xmlns:p14="http://schemas.microsoft.com/office/powerpoint/2010/main" val="466841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13 CuadroTexto"/>
          <p:cNvSpPr txBox="1"/>
          <p:nvPr/>
        </p:nvSpPr>
        <p:spPr>
          <a:xfrm>
            <a:off x="8760296" y="4131915"/>
            <a:ext cx="1152128" cy="738664"/>
          </a:xfrm>
          <a:prstGeom prst="rect">
            <a:avLst/>
          </a:prstGeom>
          <a:noFill/>
        </p:spPr>
        <p:txBody>
          <a:bodyPr wrap="square" rtlCol="0">
            <a:spAutoFit/>
          </a:bodyPr>
          <a:lstStyle/>
          <a:p>
            <a:r>
              <a:rPr lang="es-ES" sz="1400" dirty="0"/>
              <a:t>No cumple ambas condiciones</a:t>
            </a:r>
          </a:p>
        </p:txBody>
      </p:sp>
      <p:pic>
        <p:nvPicPr>
          <p:cNvPr id="12" name="11 Imagen"/>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703512" y="4112866"/>
            <a:ext cx="3352800" cy="1476375"/>
          </a:xfrm>
          <a:prstGeom prst="rect">
            <a:avLst/>
          </a:prstGeom>
        </p:spPr>
      </p:pic>
      <p:pic>
        <p:nvPicPr>
          <p:cNvPr id="15" name="14 Imagen"/>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159896" y="4131916"/>
            <a:ext cx="3352800" cy="1457325"/>
          </a:xfrm>
          <a:prstGeom prst="rect">
            <a:avLst/>
          </a:prstGeom>
        </p:spPr>
      </p:pic>
      <p:cxnSp>
        <p:nvCxnSpPr>
          <p:cNvPr id="17" name="16 Conector recto de flecha"/>
          <p:cNvCxnSpPr>
            <a:stCxn id="14" idx="1"/>
          </p:cNvCxnSpPr>
          <p:nvPr/>
        </p:nvCxnSpPr>
        <p:spPr>
          <a:xfrm flipH="1">
            <a:off x="6456040" y="4501247"/>
            <a:ext cx="2304256" cy="3693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9" name="18 Conector recto de flecha"/>
          <p:cNvCxnSpPr>
            <a:stCxn id="14" idx="1"/>
          </p:cNvCxnSpPr>
          <p:nvPr/>
        </p:nvCxnSpPr>
        <p:spPr>
          <a:xfrm flipH="1">
            <a:off x="7607426" y="4501247"/>
            <a:ext cx="1152871" cy="3693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15 Decisión"/>
          <p:cNvSpPr/>
          <p:nvPr/>
        </p:nvSpPr>
        <p:spPr>
          <a:xfrm>
            <a:off x="1524000" y="1980828"/>
            <a:ext cx="9036496" cy="1448173"/>
          </a:xfrm>
          <a:prstGeom prst="flowChartDecision">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s-ES" dirty="0"/>
          </a:p>
        </p:txBody>
      </p:sp>
      <p:sp>
        <p:nvSpPr>
          <p:cNvPr id="18" name="17 Rectángulo"/>
          <p:cNvSpPr/>
          <p:nvPr/>
        </p:nvSpPr>
        <p:spPr>
          <a:xfrm>
            <a:off x="3079808" y="2492896"/>
            <a:ext cx="2584144" cy="36004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dirty="0"/>
              <a:t>Condición 1</a:t>
            </a:r>
          </a:p>
        </p:txBody>
      </p:sp>
      <p:sp>
        <p:nvSpPr>
          <p:cNvPr id="20" name="19 Rectángulo"/>
          <p:cNvSpPr/>
          <p:nvPr/>
        </p:nvSpPr>
        <p:spPr>
          <a:xfrm>
            <a:off x="6392176" y="2492896"/>
            <a:ext cx="2584144" cy="3600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ES" dirty="0"/>
              <a:t>Condición 2</a:t>
            </a:r>
          </a:p>
        </p:txBody>
      </p:sp>
      <p:sp>
        <p:nvSpPr>
          <p:cNvPr id="21" name="20 Cerrar llave"/>
          <p:cNvSpPr/>
          <p:nvPr/>
        </p:nvSpPr>
        <p:spPr>
          <a:xfrm rot="16200000">
            <a:off x="5691766" y="-943687"/>
            <a:ext cx="720080" cy="5849029"/>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22" name="21 CuadroTexto"/>
          <p:cNvSpPr txBox="1"/>
          <p:nvPr/>
        </p:nvSpPr>
        <p:spPr>
          <a:xfrm>
            <a:off x="3767247" y="1124745"/>
            <a:ext cx="4488250" cy="461665"/>
          </a:xfrm>
          <a:prstGeom prst="rect">
            <a:avLst/>
          </a:prstGeom>
          <a:noFill/>
        </p:spPr>
        <p:txBody>
          <a:bodyPr wrap="square" rtlCol="0">
            <a:spAutoFit/>
          </a:bodyPr>
          <a:lstStyle/>
          <a:p>
            <a:pPr algn="ctr"/>
            <a:r>
              <a:rPr lang="es-ES" sz="2400" dirty="0"/>
              <a:t>Expresión Lógica</a:t>
            </a:r>
          </a:p>
        </p:txBody>
      </p:sp>
      <p:sp>
        <p:nvSpPr>
          <p:cNvPr id="23" name="22 CuadroTexto"/>
          <p:cNvSpPr txBox="1"/>
          <p:nvPr/>
        </p:nvSpPr>
        <p:spPr>
          <a:xfrm>
            <a:off x="5835998" y="2217638"/>
            <a:ext cx="476027" cy="923330"/>
          </a:xfrm>
          <a:prstGeom prst="rect">
            <a:avLst/>
          </a:prstGeom>
          <a:noFill/>
        </p:spPr>
        <p:txBody>
          <a:bodyPr wrap="square" rtlCol="0">
            <a:spAutoFit/>
          </a:bodyPr>
          <a:lstStyle/>
          <a:p>
            <a:pPr algn="ctr"/>
            <a:r>
              <a:rPr lang="es-ES" dirty="0"/>
              <a:t>O</a:t>
            </a:r>
          </a:p>
          <a:p>
            <a:pPr algn="ctr"/>
            <a:r>
              <a:rPr lang="es-ES" dirty="0"/>
              <a:t>|</a:t>
            </a:r>
          </a:p>
          <a:p>
            <a:pPr algn="ctr"/>
            <a:r>
              <a:rPr lang="es-ES" dirty="0"/>
              <a:t>||</a:t>
            </a:r>
          </a:p>
        </p:txBody>
      </p:sp>
      <p:sp>
        <p:nvSpPr>
          <p:cNvPr id="24" name="23 Abrir llave"/>
          <p:cNvSpPr/>
          <p:nvPr/>
        </p:nvSpPr>
        <p:spPr>
          <a:xfrm rot="16200000">
            <a:off x="5760190" y="428894"/>
            <a:ext cx="576064" cy="585619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25" name="24 CuadroTexto"/>
          <p:cNvSpPr txBox="1"/>
          <p:nvPr/>
        </p:nvSpPr>
        <p:spPr>
          <a:xfrm>
            <a:off x="2931290" y="3604954"/>
            <a:ext cx="6189047" cy="400110"/>
          </a:xfrm>
          <a:prstGeom prst="rect">
            <a:avLst/>
          </a:prstGeom>
          <a:noFill/>
        </p:spPr>
        <p:txBody>
          <a:bodyPr wrap="square" rtlCol="0">
            <a:spAutoFit/>
          </a:bodyPr>
          <a:lstStyle/>
          <a:p>
            <a:pPr algn="ctr"/>
            <a:r>
              <a:rPr lang="es-ES" sz="2000" dirty="0"/>
              <a:t>Es verdadero si al menos una condición es verdadera</a:t>
            </a:r>
          </a:p>
        </p:txBody>
      </p:sp>
    </p:spTree>
    <p:extLst>
      <p:ext uri="{BB962C8B-B14F-4D97-AF65-F5344CB8AC3E}">
        <p14:creationId xmlns:p14="http://schemas.microsoft.com/office/powerpoint/2010/main" val="1737950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Decisión"/>
          <p:cNvSpPr/>
          <p:nvPr/>
        </p:nvSpPr>
        <p:spPr>
          <a:xfrm>
            <a:off x="4511824" y="1196752"/>
            <a:ext cx="2736304" cy="1008112"/>
          </a:xfrm>
          <a:prstGeom prst="flowChartDecisi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a:t>Expresión Lógica</a:t>
            </a:r>
          </a:p>
        </p:txBody>
      </p:sp>
      <p:sp>
        <p:nvSpPr>
          <p:cNvPr id="5" name="4 Decisión"/>
          <p:cNvSpPr/>
          <p:nvPr/>
        </p:nvSpPr>
        <p:spPr>
          <a:xfrm>
            <a:off x="2063552" y="2564904"/>
            <a:ext cx="2736304" cy="1008112"/>
          </a:xfrm>
          <a:prstGeom prst="flowChartDecisi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sz="1600" dirty="0"/>
              <a:t>Subexpresión Lógica 1</a:t>
            </a:r>
          </a:p>
        </p:txBody>
      </p:sp>
      <p:sp>
        <p:nvSpPr>
          <p:cNvPr id="6" name="5 Decisión"/>
          <p:cNvSpPr/>
          <p:nvPr/>
        </p:nvSpPr>
        <p:spPr>
          <a:xfrm>
            <a:off x="6960096" y="2564904"/>
            <a:ext cx="2736304" cy="1008112"/>
          </a:xfrm>
          <a:prstGeom prst="flowChartDecision">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s-ES" sz="1600" dirty="0"/>
              <a:t>Subexpresión Lógica 2</a:t>
            </a:r>
          </a:p>
        </p:txBody>
      </p:sp>
      <p:sp>
        <p:nvSpPr>
          <p:cNvPr id="11" name="10 Rectángulo"/>
          <p:cNvSpPr/>
          <p:nvPr/>
        </p:nvSpPr>
        <p:spPr>
          <a:xfrm>
            <a:off x="1775520" y="3861048"/>
            <a:ext cx="1512168" cy="396044"/>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dirty="0"/>
              <a:t>Instrucciones</a:t>
            </a:r>
          </a:p>
        </p:txBody>
      </p:sp>
      <p:sp>
        <p:nvSpPr>
          <p:cNvPr id="12" name="11 Rectángulo"/>
          <p:cNvSpPr/>
          <p:nvPr/>
        </p:nvSpPr>
        <p:spPr>
          <a:xfrm>
            <a:off x="3575720" y="3861048"/>
            <a:ext cx="1512168" cy="396044"/>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s-ES" dirty="0"/>
              <a:t>Instrucciones</a:t>
            </a:r>
          </a:p>
        </p:txBody>
      </p:sp>
      <p:sp>
        <p:nvSpPr>
          <p:cNvPr id="13" name="12 Rectángulo"/>
          <p:cNvSpPr/>
          <p:nvPr/>
        </p:nvSpPr>
        <p:spPr>
          <a:xfrm>
            <a:off x="2495600" y="1916832"/>
            <a:ext cx="1872208" cy="360040"/>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ES" dirty="0"/>
              <a:t>Instrucciones</a:t>
            </a:r>
          </a:p>
        </p:txBody>
      </p:sp>
      <p:sp>
        <p:nvSpPr>
          <p:cNvPr id="14" name="13 Rectángulo"/>
          <p:cNvSpPr/>
          <p:nvPr/>
        </p:nvSpPr>
        <p:spPr>
          <a:xfrm>
            <a:off x="7392144" y="1916832"/>
            <a:ext cx="1872208" cy="3600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ES" dirty="0"/>
              <a:t>Instrucciones</a:t>
            </a:r>
          </a:p>
        </p:txBody>
      </p:sp>
      <p:sp>
        <p:nvSpPr>
          <p:cNvPr id="15" name="14 Rectángulo"/>
          <p:cNvSpPr/>
          <p:nvPr/>
        </p:nvSpPr>
        <p:spPr>
          <a:xfrm>
            <a:off x="6672064" y="3933056"/>
            <a:ext cx="1512168" cy="39604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s-ES" dirty="0"/>
              <a:t>Instrucciones</a:t>
            </a:r>
          </a:p>
        </p:txBody>
      </p:sp>
      <p:sp>
        <p:nvSpPr>
          <p:cNvPr id="16" name="15 Rectángulo"/>
          <p:cNvSpPr/>
          <p:nvPr/>
        </p:nvSpPr>
        <p:spPr>
          <a:xfrm>
            <a:off x="8472264" y="3933056"/>
            <a:ext cx="1512168" cy="396044"/>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s-ES" dirty="0"/>
              <a:t>Instrucciones</a:t>
            </a:r>
          </a:p>
        </p:txBody>
      </p:sp>
      <p:cxnSp>
        <p:nvCxnSpPr>
          <p:cNvPr id="18" name="17 Conector angular"/>
          <p:cNvCxnSpPr>
            <a:stCxn id="4" idx="1"/>
            <a:endCxn id="13" idx="0"/>
          </p:cNvCxnSpPr>
          <p:nvPr/>
        </p:nvCxnSpPr>
        <p:spPr>
          <a:xfrm rot="10800000" flipV="1">
            <a:off x="3431704" y="1700808"/>
            <a:ext cx="1080120" cy="216024"/>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19 Conector angular"/>
          <p:cNvCxnSpPr>
            <a:stCxn id="4" idx="3"/>
            <a:endCxn id="14" idx="0"/>
          </p:cNvCxnSpPr>
          <p:nvPr/>
        </p:nvCxnSpPr>
        <p:spPr>
          <a:xfrm>
            <a:off x="7248128" y="1700808"/>
            <a:ext cx="1080120" cy="216024"/>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21 Conector recto de flecha"/>
          <p:cNvCxnSpPr>
            <a:stCxn id="13" idx="2"/>
            <a:endCxn id="5" idx="0"/>
          </p:cNvCxnSpPr>
          <p:nvPr/>
        </p:nvCxnSpPr>
        <p:spPr>
          <a:xfrm>
            <a:off x="3431704" y="2276872"/>
            <a:ext cx="0" cy="2880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23 Conector recto de flecha"/>
          <p:cNvCxnSpPr>
            <a:stCxn id="14" idx="2"/>
            <a:endCxn id="6" idx="0"/>
          </p:cNvCxnSpPr>
          <p:nvPr/>
        </p:nvCxnSpPr>
        <p:spPr>
          <a:xfrm>
            <a:off x="8328248" y="2276872"/>
            <a:ext cx="0" cy="2880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6" name="25 Conector angular"/>
          <p:cNvCxnSpPr>
            <a:stCxn id="5" idx="1"/>
            <a:endCxn id="11" idx="0"/>
          </p:cNvCxnSpPr>
          <p:nvPr/>
        </p:nvCxnSpPr>
        <p:spPr>
          <a:xfrm rot="10800000" flipH="1" flipV="1">
            <a:off x="2063552" y="3068960"/>
            <a:ext cx="468052" cy="792088"/>
          </a:xfrm>
          <a:prstGeom prst="bentConnector4">
            <a:avLst>
              <a:gd name="adj1" fmla="val -48841"/>
              <a:gd name="adj2" fmla="val 81818"/>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27 Conector angular"/>
          <p:cNvCxnSpPr>
            <a:stCxn id="5" idx="3"/>
            <a:endCxn id="12" idx="0"/>
          </p:cNvCxnSpPr>
          <p:nvPr/>
        </p:nvCxnSpPr>
        <p:spPr>
          <a:xfrm flipH="1">
            <a:off x="4331804" y="3068960"/>
            <a:ext cx="468052" cy="792088"/>
          </a:xfrm>
          <a:prstGeom prst="bentConnector4">
            <a:avLst>
              <a:gd name="adj1" fmla="val -48841"/>
              <a:gd name="adj2" fmla="val 81818"/>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0" name="29 Conector angular"/>
          <p:cNvCxnSpPr>
            <a:stCxn id="6" idx="1"/>
            <a:endCxn id="15" idx="0"/>
          </p:cNvCxnSpPr>
          <p:nvPr/>
        </p:nvCxnSpPr>
        <p:spPr>
          <a:xfrm rot="10800000" flipH="1" flipV="1">
            <a:off x="6960096" y="3068960"/>
            <a:ext cx="468052" cy="864096"/>
          </a:xfrm>
          <a:prstGeom prst="bentConnector4">
            <a:avLst>
              <a:gd name="adj1" fmla="val -48841"/>
              <a:gd name="adj2" fmla="val 79167"/>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2" name="31 Conector angular"/>
          <p:cNvCxnSpPr>
            <a:stCxn id="6" idx="3"/>
            <a:endCxn id="16" idx="0"/>
          </p:cNvCxnSpPr>
          <p:nvPr/>
        </p:nvCxnSpPr>
        <p:spPr>
          <a:xfrm flipH="1">
            <a:off x="9228348" y="3068960"/>
            <a:ext cx="468052" cy="864096"/>
          </a:xfrm>
          <a:prstGeom prst="bentConnector4">
            <a:avLst>
              <a:gd name="adj1" fmla="val -48841"/>
              <a:gd name="adj2" fmla="val 79167"/>
            </a:avLst>
          </a:prstGeom>
          <a:ln>
            <a:tailEnd type="arrow"/>
          </a:ln>
        </p:spPr>
        <p:style>
          <a:lnRef idx="2">
            <a:schemeClr val="accent1"/>
          </a:lnRef>
          <a:fillRef idx="0">
            <a:schemeClr val="accent1"/>
          </a:fillRef>
          <a:effectRef idx="1">
            <a:schemeClr val="accent1"/>
          </a:effectRef>
          <a:fontRef idx="minor">
            <a:schemeClr val="tx1"/>
          </a:fontRef>
        </p:style>
      </p:cxnSp>
      <p:sp>
        <p:nvSpPr>
          <p:cNvPr id="33" name="32 Rectángulo"/>
          <p:cNvSpPr/>
          <p:nvPr/>
        </p:nvSpPr>
        <p:spPr>
          <a:xfrm>
            <a:off x="2495600" y="4725144"/>
            <a:ext cx="1872208" cy="36004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 dirty="0"/>
              <a:t>Instrucciones</a:t>
            </a:r>
          </a:p>
        </p:txBody>
      </p:sp>
      <p:sp>
        <p:nvSpPr>
          <p:cNvPr id="34" name="33 Rectángulo"/>
          <p:cNvSpPr/>
          <p:nvPr/>
        </p:nvSpPr>
        <p:spPr>
          <a:xfrm>
            <a:off x="7392144" y="4797152"/>
            <a:ext cx="1872208" cy="360040"/>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s-ES" dirty="0"/>
              <a:t>Instrucciones</a:t>
            </a:r>
          </a:p>
        </p:txBody>
      </p:sp>
      <p:cxnSp>
        <p:nvCxnSpPr>
          <p:cNvPr id="36" name="35 Conector angular"/>
          <p:cNvCxnSpPr>
            <a:stCxn id="11" idx="2"/>
            <a:endCxn id="33" idx="0"/>
          </p:cNvCxnSpPr>
          <p:nvPr/>
        </p:nvCxnSpPr>
        <p:spPr>
          <a:xfrm rot="16200000" flipH="1">
            <a:off x="2747628" y="4041068"/>
            <a:ext cx="468052" cy="900100"/>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38" name="37 Conector angular"/>
          <p:cNvCxnSpPr>
            <a:stCxn id="12" idx="2"/>
            <a:endCxn id="33" idx="0"/>
          </p:cNvCxnSpPr>
          <p:nvPr/>
        </p:nvCxnSpPr>
        <p:spPr>
          <a:xfrm rot="5400000">
            <a:off x="3647728" y="4041068"/>
            <a:ext cx="468052" cy="900100"/>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0" name="39 Conector angular"/>
          <p:cNvCxnSpPr>
            <a:stCxn id="15" idx="2"/>
            <a:endCxn id="34" idx="0"/>
          </p:cNvCxnSpPr>
          <p:nvPr/>
        </p:nvCxnSpPr>
        <p:spPr>
          <a:xfrm rot="16200000" flipH="1">
            <a:off x="7644172" y="4113076"/>
            <a:ext cx="468052" cy="900100"/>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2" name="41 Conector angular"/>
          <p:cNvCxnSpPr>
            <a:stCxn id="16" idx="2"/>
            <a:endCxn id="34" idx="0"/>
          </p:cNvCxnSpPr>
          <p:nvPr/>
        </p:nvCxnSpPr>
        <p:spPr>
          <a:xfrm rot="5400000">
            <a:off x="8544272" y="4113076"/>
            <a:ext cx="468052" cy="900100"/>
          </a:xfrm>
          <a:prstGeom prst="bentConnector3">
            <a:avLst/>
          </a:prstGeom>
          <a:ln>
            <a:tailEnd type="arrow"/>
          </a:ln>
        </p:spPr>
        <p:style>
          <a:lnRef idx="2">
            <a:schemeClr val="accent1"/>
          </a:lnRef>
          <a:fillRef idx="0">
            <a:schemeClr val="accent1"/>
          </a:fillRef>
          <a:effectRef idx="1">
            <a:schemeClr val="accent1"/>
          </a:effectRef>
          <a:fontRef idx="minor">
            <a:schemeClr val="tx1"/>
          </a:fontRef>
        </p:style>
      </p:cxnSp>
      <p:sp>
        <p:nvSpPr>
          <p:cNvPr id="45" name="44 CuadroTexto"/>
          <p:cNvSpPr txBox="1"/>
          <p:nvPr/>
        </p:nvSpPr>
        <p:spPr>
          <a:xfrm>
            <a:off x="3287688" y="1331476"/>
            <a:ext cx="432048" cy="369332"/>
          </a:xfrm>
          <a:prstGeom prst="rect">
            <a:avLst/>
          </a:prstGeom>
          <a:noFill/>
        </p:spPr>
        <p:txBody>
          <a:bodyPr wrap="square" rtlCol="0">
            <a:spAutoFit/>
          </a:bodyPr>
          <a:lstStyle/>
          <a:p>
            <a:r>
              <a:rPr lang="es-ES" b="1" dirty="0">
                <a:solidFill>
                  <a:srgbClr val="FF0000"/>
                </a:solidFill>
              </a:rPr>
              <a:t>F</a:t>
            </a:r>
          </a:p>
        </p:txBody>
      </p:sp>
      <p:sp>
        <p:nvSpPr>
          <p:cNvPr id="46" name="45 CuadroTexto"/>
          <p:cNvSpPr txBox="1"/>
          <p:nvPr/>
        </p:nvSpPr>
        <p:spPr>
          <a:xfrm>
            <a:off x="2423592" y="3347700"/>
            <a:ext cx="432048" cy="369332"/>
          </a:xfrm>
          <a:prstGeom prst="rect">
            <a:avLst/>
          </a:prstGeom>
          <a:noFill/>
        </p:spPr>
        <p:txBody>
          <a:bodyPr wrap="square" rtlCol="0">
            <a:spAutoFit/>
          </a:bodyPr>
          <a:lstStyle/>
          <a:p>
            <a:r>
              <a:rPr lang="es-ES" b="1" dirty="0">
                <a:solidFill>
                  <a:srgbClr val="FF0000"/>
                </a:solidFill>
              </a:rPr>
              <a:t>F</a:t>
            </a:r>
          </a:p>
        </p:txBody>
      </p:sp>
      <p:sp>
        <p:nvSpPr>
          <p:cNvPr id="47" name="46 CuadroTexto"/>
          <p:cNvSpPr txBox="1"/>
          <p:nvPr/>
        </p:nvSpPr>
        <p:spPr>
          <a:xfrm>
            <a:off x="7320136" y="3419708"/>
            <a:ext cx="432048" cy="369332"/>
          </a:xfrm>
          <a:prstGeom prst="rect">
            <a:avLst/>
          </a:prstGeom>
          <a:noFill/>
        </p:spPr>
        <p:txBody>
          <a:bodyPr wrap="square" rtlCol="0">
            <a:spAutoFit/>
          </a:bodyPr>
          <a:lstStyle/>
          <a:p>
            <a:r>
              <a:rPr lang="es-ES" b="1" dirty="0">
                <a:solidFill>
                  <a:srgbClr val="FF0000"/>
                </a:solidFill>
              </a:rPr>
              <a:t>F</a:t>
            </a:r>
          </a:p>
        </p:txBody>
      </p:sp>
      <p:sp>
        <p:nvSpPr>
          <p:cNvPr id="48" name="47 CuadroTexto"/>
          <p:cNvSpPr txBox="1"/>
          <p:nvPr/>
        </p:nvSpPr>
        <p:spPr>
          <a:xfrm>
            <a:off x="8184232" y="1340768"/>
            <a:ext cx="432048" cy="369332"/>
          </a:xfrm>
          <a:prstGeom prst="rect">
            <a:avLst/>
          </a:prstGeom>
          <a:noFill/>
        </p:spPr>
        <p:txBody>
          <a:bodyPr wrap="square" rtlCol="0">
            <a:spAutoFit/>
          </a:bodyPr>
          <a:lstStyle/>
          <a:p>
            <a:r>
              <a:rPr lang="es-ES" b="1" dirty="0">
                <a:solidFill>
                  <a:srgbClr val="0070C0"/>
                </a:solidFill>
              </a:rPr>
              <a:t>V</a:t>
            </a:r>
          </a:p>
        </p:txBody>
      </p:sp>
      <p:sp>
        <p:nvSpPr>
          <p:cNvPr id="49" name="48 CuadroTexto"/>
          <p:cNvSpPr txBox="1"/>
          <p:nvPr/>
        </p:nvSpPr>
        <p:spPr>
          <a:xfrm>
            <a:off x="4151784" y="3347700"/>
            <a:ext cx="432048" cy="369332"/>
          </a:xfrm>
          <a:prstGeom prst="rect">
            <a:avLst/>
          </a:prstGeom>
          <a:noFill/>
        </p:spPr>
        <p:txBody>
          <a:bodyPr wrap="square" rtlCol="0">
            <a:spAutoFit/>
          </a:bodyPr>
          <a:lstStyle/>
          <a:p>
            <a:r>
              <a:rPr lang="es-ES" b="1" dirty="0">
                <a:solidFill>
                  <a:srgbClr val="0070C0"/>
                </a:solidFill>
              </a:rPr>
              <a:t>V</a:t>
            </a:r>
          </a:p>
        </p:txBody>
      </p:sp>
      <p:sp>
        <p:nvSpPr>
          <p:cNvPr id="50" name="49 CuadroTexto"/>
          <p:cNvSpPr txBox="1"/>
          <p:nvPr/>
        </p:nvSpPr>
        <p:spPr>
          <a:xfrm>
            <a:off x="9048328" y="3419708"/>
            <a:ext cx="432048" cy="369332"/>
          </a:xfrm>
          <a:prstGeom prst="rect">
            <a:avLst/>
          </a:prstGeom>
          <a:noFill/>
        </p:spPr>
        <p:txBody>
          <a:bodyPr wrap="square" rtlCol="0">
            <a:spAutoFit/>
          </a:bodyPr>
          <a:lstStyle/>
          <a:p>
            <a:r>
              <a:rPr lang="es-ES" b="1" dirty="0">
                <a:solidFill>
                  <a:srgbClr val="0070C0"/>
                </a:solidFill>
              </a:rPr>
              <a:t>V</a:t>
            </a:r>
          </a:p>
        </p:txBody>
      </p:sp>
    </p:spTree>
    <p:extLst>
      <p:ext uri="{BB962C8B-B14F-4D97-AF65-F5344CB8AC3E}">
        <p14:creationId xmlns:p14="http://schemas.microsoft.com/office/powerpoint/2010/main" val="28519607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7 Título"/>
          <p:cNvSpPr>
            <a:spLocks noGrp="1"/>
          </p:cNvSpPr>
          <p:nvPr>
            <p:ph type="title"/>
          </p:nvPr>
        </p:nvSpPr>
        <p:spPr>
          <a:xfrm>
            <a:off x="1981200" y="274638"/>
            <a:ext cx="8229600" cy="1143000"/>
          </a:xfrm>
        </p:spPr>
        <p:txBody>
          <a:bodyPr/>
          <a:lstStyle/>
          <a:p>
            <a:r>
              <a:rPr lang="es-CL" sz="2800" dirty="0">
                <a:latin typeface="+mn-lt"/>
                <a:cs typeface="+mn-cs"/>
              </a:rPr>
              <a:t>Diagrama de Flujo</a:t>
            </a:r>
          </a:p>
        </p:txBody>
      </p:sp>
      <p:sp>
        <p:nvSpPr>
          <p:cNvPr id="4" name="3 Rectángulo"/>
          <p:cNvSpPr/>
          <p:nvPr/>
        </p:nvSpPr>
        <p:spPr>
          <a:xfrm>
            <a:off x="2063552" y="1844825"/>
            <a:ext cx="8136904" cy="830997"/>
          </a:xfrm>
          <a:prstGeom prst="rect">
            <a:avLst/>
          </a:prstGeom>
        </p:spPr>
        <p:txBody>
          <a:bodyPr wrap="square">
            <a:spAutoFit/>
          </a:bodyPr>
          <a:lstStyle/>
          <a:p>
            <a:pPr algn="just"/>
            <a:r>
              <a:rPr lang="es-CL" sz="2400" dirty="0">
                <a:solidFill>
                  <a:schemeClr val="dk1"/>
                </a:solidFill>
              </a:rPr>
              <a:t>Para generar un diagrama de flujo en PSeint se debe presionar el botón:</a:t>
            </a:r>
            <a:endParaRPr lang="es-ES" sz="2400" dirty="0">
              <a:solidFill>
                <a:schemeClr val="dk1"/>
              </a:solidFill>
            </a:endParaRPr>
          </a:p>
        </p:txBody>
      </p:sp>
      <p:pic>
        <p:nvPicPr>
          <p:cNvPr id="5" name="Picture 5" descr="C:\Users\Snake\Desktop\8.png"/>
          <p:cNvPicPr>
            <a:picLocks noChangeAspect="1" noChangeArrowheads="1"/>
          </p:cNvPicPr>
          <p:nvPr/>
        </p:nvPicPr>
        <p:blipFill>
          <a:blip r:embed="rId2" cstate="print"/>
          <a:srcRect/>
          <a:stretch>
            <a:fillRect/>
          </a:stretch>
        </p:blipFill>
        <p:spPr bwMode="auto">
          <a:xfrm>
            <a:off x="2207569" y="3861049"/>
            <a:ext cx="714375" cy="644525"/>
          </a:xfrm>
          <a:prstGeom prst="rect">
            <a:avLst/>
          </a:prstGeom>
          <a:noFill/>
          <a:ln w="9525">
            <a:noFill/>
            <a:miter lim="800000"/>
            <a:headEnd/>
            <a:tailEnd/>
          </a:ln>
        </p:spPr>
      </p:pic>
      <p:pic>
        <p:nvPicPr>
          <p:cNvPr id="11266"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727848" y="2708920"/>
            <a:ext cx="5472608" cy="3891238"/>
          </a:xfrm>
          <a:prstGeom prst="rect">
            <a:avLst/>
          </a:prstGeom>
          <a:noFill/>
          <a:ln w="9525">
            <a:noFill/>
            <a:miter lim="800000"/>
            <a:headEnd/>
            <a:tailEnd/>
          </a:ln>
        </p:spPr>
      </p:pic>
      <p:sp>
        <p:nvSpPr>
          <p:cNvPr id="7" name="6 Flecha derecha"/>
          <p:cNvSpPr/>
          <p:nvPr/>
        </p:nvSpPr>
        <p:spPr>
          <a:xfrm>
            <a:off x="3503712" y="4005064"/>
            <a:ext cx="720080" cy="36004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1 Título"/>
          <p:cNvSpPr>
            <a:spLocks noGrp="1"/>
          </p:cNvSpPr>
          <p:nvPr>
            <p:ph type="title"/>
          </p:nvPr>
        </p:nvSpPr>
        <p:spPr>
          <a:xfrm>
            <a:off x="2019300" y="538956"/>
            <a:ext cx="8985250" cy="1118394"/>
          </a:xfrm>
        </p:spPr>
        <p:txBody>
          <a:bodyPr vert="horz" lIns="91440" tIns="45720" rIns="91440" bIns="45720" rtlCol="0" anchor="t">
            <a:normAutofit/>
          </a:bodyPr>
          <a:lstStyle/>
          <a:p>
            <a:r>
              <a:rPr lang="en-US" sz="4000" b="1" kern="1200">
                <a:solidFill>
                  <a:schemeClr val="tx1"/>
                </a:solidFill>
                <a:effectLst>
                  <a:outerShdw blurRad="38100" dist="38100" dir="2700000" algn="tl">
                    <a:srgbClr val="000000">
                      <a:alpha val="43137"/>
                    </a:srgbClr>
                  </a:outerShdw>
                </a:effectLst>
                <a:latin typeface="+mj-lt"/>
                <a:ea typeface="+mj-ea"/>
                <a:cs typeface="+mj-cs"/>
              </a:rPr>
              <a:t>Resumen - Conceptos aprendidos</a:t>
            </a:r>
          </a:p>
        </p:txBody>
      </p:sp>
      <p:pic>
        <p:nvPicPr>
          <p:cNvPr id="4" name="Picture 1"/>
          <p:cNvPicPr>
            <a:picLocks noChangeAspect="1" noChangeArrowheads="1"/>
          </p:cNvPicPr>
          <p:nvPr/>
        </p:nvPicPr>
        <p:blipFill>
          <a:blip r:embed="rId3" cstate="print"/>
          <a:stretch>
            <a:fillRect/>
          </a:stretch>
        </p:blipFill>
        <p:spPr bwMode="auto">
          <a:xfrm>
            <a:off x="1204072" y="538956"/>
            <a:ext cx="550956" cy="749300"/>
          </a:xfrm>
          <a:prstGeom prst="rect">
            <a:avLst/>
          </a:prstGeom>
          <a:noFill/>
        </p:spPr>
      </p:pic>
      <p:sp>
        <p:nvSpPr>
          <p:cNvPr id="6" name="5 Rectángulo redondeado"/>
          <p:cNvSpPr/>
          <p:nvPr/>
        </p:nvSpPr>
        <p:spPr>
          <a:xfrm>
            <a:off x="1009650" y="1847849"/>
            <a:ext cx="9994900" cy="4254501"/>
          </a:xfrm>
          <a:prstGeom prst="roundRect">
            <a:avLst>
              <a:gd name="adj" fmla="val 6000"/>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0">
            <a:normAutofit/>
          </a:bodyPr>
          <a:lstStyle/>
          <a:p>
            <a:pPr indent="-228600">
              <a:lnSpc>
                <a:spcPct val="90000"/>
              </a:lnSpc>
              <a:spcAft>
                <a:spcPts val="600"/>
              </a:spcAft>
              <a:buFont typeface="Arial" panose="020B0604020202020204" pitchFamily="34" charset="0"/>
              <a:buChar char="•"/>
            </a:pPr>
            <a:r>
              <a:rPr lang="en-US" sz="2000">
                <a:solidFill>
                  <a:schemeClr val="tx1"/>
                </a:solidFill>
              </a:rPr>
              <a:t> Se describió Tipos de Datos</a:t>
            </a:r>
          </a:p>
          <a:p>
            <a:pPr indent="-228600">
              <a:lnSpc>
                <a:spcPct val="90000"/>
              </a:lnSpc>
              <a:spcAft>
                <a:spcPts val="600"/>
              </a:spcAft>
              <a:buFont typeface="Arial" panose="020B0604020202020204" pitchFamily="34" charset="0"/>
              <a:buChar char="•"/>
            </a:pPr>
            <a:endParaRPr lang="en-US" sz="2000">
              <a:solidFill>
                <a:schemeClr val="tx1"/>
              </a:solidFill>
            </a:endParaRPr>
          </a:p>
          <a:p>
            <a:pPr indent="-228600">
              <a:lnSpc>
                <a:spcPct val="90000"/>
              </a:lnSpc>
              <a:spcAft>
                <a:spcPts val="600"/>
              </a:spcAft>
              <a:buFont typeface="Arial" panose="020B0604020202020204" pitchFamily="34" charset="0"/>
              <a:buChar char="•"/>
            </a:pPr>
            <a:r>
              <a:rPr lang="en-US" sz="2000">
                <a:solidFill>
                  <a:schemeClr val="tx1"/>
                </a:solidFill>
              </a:rPr>
              <a:t> Se describió Operaciones Aritméticas</a:t>
            </a:r>
          </a:p>
          <a:p>
            <a:pPr indent="-228600">
              <a:lnSpc>
                <a:spcPct val="90000"/>
              </a:lnSpc>
              <a:spcAft>
                <a:spcPts val="600"/>
              </a:spcAft>
              <a:buFont typeface="Arial" panose="020B0604020202020204" pitchFamily="34" charset="0"/>
              <a:buChar char="•"/>
            </a:pPr>
            <a:endParaRPr lang="en-US" sz="2000">
              <a:solidFill>
                <a:schemeClr val="tx1"/>
              </a:solidFill>
            </a:endParaRPr>
          </a:p>
          <a:p>
            <a:pPr indent="-228600">
              <a:lnSpc>
                <a:spcPct val="90000"/>
              </a:lnSpc>
              <a:spcAft>
                <a:spcPts val="600"/>
              </a:spcAft>
              <a:buFont typeface="Arial" panose="020B0604020202020204" pitchFamily="34" charset="0"/>
              <a:buChar char="•"/>
            </a:pPr>
            <a:r>
              <a:rPr lang="en-US" sz="2000">
                <a:solidFill>
                  <a:schemeClr val="tx1"/>
                </a:solidFill>
              </a:rPr>
              <a:t> Se describió Operadores Relacionales y Lógicos</a:t>
            </a:r>
          </a:p>
          <a:p>
            <a:pPr indent="-228600">
              <a:lnSpc>
                <a:spcPct val="90000"/>
              </a:lnSpc>
              <a:spcAft>
                <a:spcPts val="600"/>
              </a:spcAft>
              <a:buFont typeface="Arial" panose="020B0604020202020204" pitchFamily="34" charset="0"/>
              <a:buChar char="•"/>
            </a:pPr>
            <a:endParaRPr lang="en-US" sz="2000">
              <a:solidFill>
                <a:schemeClr val="tx1"/>
              </a:solidFill>
            </a:endParaRPr>
          </a:p>
          <a:p>
            <a:pPr indent="-228600">
              <a:lnSpc>
                <a:spcPct val="90000"/>
              </a:lnSpc>
              <a:spcAft>
                <a:spcPts val="600"/>
              </a:spcAft>
              <a:buFont typeface="Arial" panose="020B0604020202020204" pitchFamily="34" charset="0"/>
              <a:buChar char="•"/>
            </a:pPr>
            <a:r>
              <a:rPr lang="en-US" sz="2000">
                <a:solidFill>
                  <a:schemeClr val="tx1"/>
                </a:solidFill>
              </a:rPr>
              <a:t> Se describió Sentencias Condicionales</a:t>
            </a:r>
          </a:p>
          <a:p>
            <a:pPr indent="-228600">
              <a:lnSpc>
                <a:spcPct val="90000"/>
              </a:lnSpc>
              <a:spcAft>
                <a:spcPts val="600"/>
              </a:spcAft>
              <a:buFont typeface="Arial" panose="020B0604020202020204" pitchFamily="34" charset="0"/>
              <a:buChar char="•"/>
            </a:pPr>
            <a:r>
              <a:rPr lang="en-US" sz="2000">
                <a:solidFill>
                  <a:schemeClr val="tx1"/>
                </a:solidFill>
              </a:rPr>
              <a:t> </a:t>
            </a:r>
          </a:p>
          <a:p>
            <a:pPr indent="-228600">
              <a:lnSpc>
                <a:spcPct val="90000"/>
              </a:lnSpc>
              <a:spcAft>
                <a:spcPts val="600"/>
              </a:spcAft>
              <a:buFont typeface="Arial" panose="020B0604020202020204" pitchFamily="34" charset="0"/>
              <a:buChar char="•"/>
            </a:pPr>
            <a:r>
              <a:rPr lang="en-US" sz="2000">
                <a:solidFill>
                  <a:schemeClr val="tx1"/>
                </a:solidFill>
              </a:rPr>
              <a:t> Se aplicó Expresiones Lógicas</a:t>
            </a:r>
          </a:p>
          <a:p>
            <a:pPr indent="-228600">
              <a:lnSpc>
                <a:spcPct val="90000"/>
              </a:lnSpc>
              <a:spcAft>
                <a:spcPts val="600"/>
              </a:spcAft>
              <a:buFont typeface="Arial" panose="020B0604020202020204" pitchFamily="34" charset="0"/>
              <a:buChar char="•"/>
            </a:pPr>
            <a:endParaRPr lang="en-US" sz="2000">
              <a:solidFill>
                <a:schemeClr val="tx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SLIDE_ID" val="{C207CC56-1D23-46B4-9388-ED9755EAAD26}"/>
  <p:tag name="GENSWF_ADVANCE_TIME" val="5"/>
  <p:tag name="TIMING" val="|5"/>
  <p:tag name="ISPRING_CUSTOM_TIMING_USED" val="1"/>
</p:tagLst>
</file>

<file path=ppt/tags/tag2.xml><?xml version="1.0" encoding="utf-8"?>
<p:tagLst xmlns:a="http://schemas.openxmlformats.org/drawingml/2006/main" xmlns:r="http://schemas.openxmlformats.org/officeDocument/2006/relationships" xmlns:p="http://schemas.openxmlformats.org/presentationml/2006/main">
  <p:tag name="ISPRING_SLIDE_ID" val="{C207CC56-1D23-46B4-9388-ED9755EAAD26}"/>
  <p:tag name="GENSWF_ADVANCE_TIME" val="5"/>
  <p:tag name="TIMING" val="|5"/>
  <p:tag name="ISPRING_CUSTOM_TIMING_USED" val="1"/>
</p:tagLst>
</file>

<file path=ppt/tags/tag3.xml><?xml version="1.0" encoding="utf-8"?>
<p:tagLst xmlns:a="http://schemas.openxmlformats.org/drawingml/2006/main" xmlns:r="http://schemas.openxmlformats.org/officeDocument/2006/relationships" xmlns:p="http://schemas.openxmlformats.org/presentationml/2006/main">
  <p:tag name="ISPRING_SLIDE_ID" val="{C207CC56-1D23-46B4-9388-ED9755EAAD26}"/>
  <p:tag name="GENSWF_ADVANCE_TIME" val="5"/>
  <p:tag name="TIMING" val="|5"/>
  <p:tag name="ISPRING_CUSTOM_TIMING_USED" val="1"/>
</p:tagLst>
</file>

<file path=ppt/tags/tag4.xml><?xml version="1.0" encoding="utf-8"?>
<p:tagLst xmlns:a="http://schemas.openxmlformats.org/drawingml/2006/main" xmlns:r="http://schemas.openxmlformats.org/officeDocument/2006/relationships" xmlns:p="http://schemas.openxmlformats.org/presentationml/2006/main">
  <p:tag name="ISPRING_SLIDE_ID" val="{C207CC56-1D23-46B4-9388-ED9755EAAD26}"/>
  <p:tag name="GENSWF_ADVANCE_TIME" val="5"/>
  <p:tag name="TIMING" val="|5"/>
  <p:tag name="ISPRING_CUSTOM_TIMING_USED" val="1"/>
</p:tagLst>
</file>

<file path=ppt/tags/tag5.xml><?xml version="1.0" encoding="utf-8"?>
<p:tagLst xmlns:a="http://schemas.openxmlformats.org/drawingml/2006/main" xmlns:r="http://schemas.openxmlformats.org/officeDocument/2006/relationships" xmlns:p="http://schemas.openxmlformats.org/presentationml/2006/main">
  <p:tag name="ISPRING_SLIDE_ID" val="{C207CC56-1D23-46B4-9388-ED9755EAAD26}"/>
  <p:tag name="GENSWF_ADVANCE_TIME" val="5"/>
  <p:tag name="TIMING" val="|5"/>
  <p:tag name="ISPRING_CUSTOM_TIMING_USED" val="1"/>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1361</Words>
  <Application>Microsoft Office PowerPoint</Application>
  <PresentationFormat>Panorámica</PresentationFormat>
  <Paragraphs>211</Paragraphs>
  <Slides>28</Slides>
  <Notes>21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28</vt:i4>
      </vt:variant>
    </vt:vector>
  </HeadingPairs>
  <TitlesOfParts>
    <vt:vector size="36" baseType="lpstr">
      <vt:lpstr>Aptos</vt:lpstr>
      <vt:lpstr>Aptos Display</vt:lpstr>
      <vt:lpstr>Arial</vt:lpstr>
      <vt:lpstr>Calibri</vt:lpstr>
      <vt:lpstr>Candara</vt:lpstr>
      <vt:lpstr>Courier New</vt:lpstr>
      <vt:lpstr>Verdana</vt:lpstr>
      <vt:lpstr>Tema de Office</vt:lpstr>
      <vt:lpstr>Presentación de PowerPoint</vt:lpstr>
      <vt:lpstr>Objetivos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Expresiones Lógicas</vt:lpstr>
      <vt:lpstr>Operadores Relacionales</vt:lpstr>
      <vt:lpstr>Operadores Lógicos</vt:lpstr>
      <vt:lpstr>Presentación de PowerPoint</vt:lpstr>
      <vt:lpstr>Presentación de PowerPoint</vt:lpstr>
      <vt:lpstr>Presentación de PowerPoint</vt:lpstr>
      <vt:lpstr>Operadores General</vt:lpstr>
      <vt:lpstr>Presentación de PowerPoint</vt:lpstr>
      <vt:lpstr>Ejemplo</vt:lpstr>
      <vt:lpstr>Expresiones Lógicas</vt:lpstr>
      <vt:lpstr>Presentación de PowerPoint</vt:lpstr>
      <vt:lpstr>Presentación de PowerPoint</vt:lpstr>
      <vt:lpstr>Presentación de PowerPoint</vt:lpstr>
      <vt:lpstr>Diagrama de Flujo</vt:lpstr>
      <vt:lpstr>Resumen - Conceptos aprendidos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Office</dc:creator>
  <cp:lastModifiedBy>Audiovisual</cp:lastModifiedBy>
  <cp:revision>6</cp:revision>
  <dcterms:created xsi:type="dcterms:W3CDTF">2025-03-03T02:56:02Z</dcterms:created>
  <dcterms:modified xsi:type="dcterms:W3CDTF">2025-03-11T11:31:35Z</dcterms:modified>
</cp:coreProperties>
</file>