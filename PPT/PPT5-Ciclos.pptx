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63" r:id="rId4"/>
    <p:sldId id="284" r:id="rId5"/>
    <p:sldId id="314" r:id="rId6"/>
    <p:sldId id="299" r:id="rId7"/>
    <p:sldId id="316" r:id="rId8"/>
    <p:sldId id="300" r:id="rId9"/>
    <p:sldId id="301" r:id="rId10"/>
    <p:sldId id="302" r:id="rId11"/>
    <p:sldId id="303" r:id="rId12"/>
    <p:sldId id="304" r:id="rId13"/>
    <p:sldId id="305" r:id="rId14"/>
    <p:sldId id="309" r:id="rId15"/>
    <p:sldId id="310" r:id="rId16"/>
    <p:sldId id="311" r:id="rId17"/>
    <p:sldId id="315" r:id="rId18"/>
    <p:sldId id="295" r:id="rId1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73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A46CA7-24BC-425C-86DE-C767ED23F64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2AF29C-3B9B-48D1-9E91-15561C89A318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Las instrucciones en un ciclo son las mismas. Los datos sobre los que se opera varían.</a:t>
          </a:r>
          <a:endParaRPr lang="en-US"/>
        </a:p>
      </dgm:t>
    </dgm:pt>
    <dgm:pt modelId="{92878F36-6023-475D-913E-22C3AA2E8F72}" type="parTrans" cxnId="{A6C53A11-7D4D-4FD0-887C-63DFC5585124}">
      <dgm:prSet/>
      <dgm:spPr/>
      <dgm:t>
        <a:bodyPr/>
        <a:lstStyle/>
        <a:p>
          <a:endParaRPr lang="en-US"/>
        </a:p>
      </dgm:t>
    </dgm:pt>
    <dgm:pt modelId="{CA31B0BE-A873-438C-B2B2-F729D9D94DC8}" type="sibTrans" cxnId="{A6C53A11-7D4D-4FD0-887C-63DFC5585124}">
      <dgm:prSet/>
      <dgm:spPr/>
      <dgm:t>
        <a:bodyPr/>
        <a:lstStyle/>
        <a:p>
          <a:endParaRPr lang="en-US"/>
        </a:p>
      </dgm:t>
    </dgm:pt>
    <dgm:pt modelId="{8DA4DF27-8704-49CB-846B-8CD4D666C1CC}">
      <dgm:prSet/>
      <dgm:spPr/>
      <dgm:t>
        <a:bodyPr/>
        <a:lstStyle/>
        <a:p>
          <a:pPr>
            <a:lnSpc>
              <a:spcPct val="100000"/>
            </a:lnSpc>
          </a:pPr>
          <a:r>
            <a:rPr lang="es-CL"/>
            <a:t>Es necesario en cada iteración del ciclo, evaluar las condiciones para decidir si se sigue ejecutando el ciclo o se detiene. En todo ciclo, siempre debe existir una condición de fin de ciclo.</a:t>
          </a:r>
          <a:endParaRPr lang="en-US"/>
        </a:p>
      </dgm:t>
    </dgm:pt>
    <dgm:pt modelId="{479A29E8-BBC9-4191-B8CE-846DD2B1AD32}" type="parTrans" cxnId="{E01DAA4F-18DB-43D6-9E29-8A1E3DE4A192}">
      <dgm:prSet/>
      <dgm:spPr/>
      <dgm:t>
        <a:bodyPr/>
        <a:lstStyle/>
        <a:p>
          <a:endParaRPr lang="en-US"/>
        </a:p>
      </dgm:t>
    </dgm:pt>
    <dgm:pt modelId="{4F4BB9F8-88ED-4819-AEBB-8946B5670A17}" type="sibTrans" cxnId="{E01DAA4F-18DB-43D6-9E29-8A1E3DE4A192}">
      <dgm:prSet/>
      <dgm:spPr/>
      <dgm:t>
        <a:bodyPr/>
        <a:lstStyle/>
        <a:p>
          <a:endParaRPr lang="en-US"/>
        </a:p>
      </dgm:t>
    </dgm:pt>
    <dgm:pt modelId="{AEC2D453-77C3-43EF-AC39-D8F995B59262}" type="pres">
      <dgm:prSet presAssocID="{A1A46CA7-24BC-425C-86DE-C767ED23F64A}" presName="root" presStyleCnt="0">
        <dgm:presLayoutVars>
          <dgm:dir/>
          <dgm:resizeHandles val="exact"/>
        </dgm:presLayoutVars>
      </dgm:prSet>
      <dgm:spPr/>
    </dgm:pt>
    <dgm:pt modelId="{A9BA6817-7CB9-4D6E-AAFB-1DC7208D1555}" type="pres">
      <dgm:prSet presAssocID="{0B2AF29C-3B9B-48D1-9E91-15561C89A318}" presName="compNode" presStyleCnt="0"/>
      <dgm:spPr/>
    </dgm:pt>
    <dgm:pt modelId="{0C263825-BBA7-46C0-AF69-DC40EE4B34D8}" type="pres">
      <dgm:prSet presAssocID="{0B2AF29C-3B9B-48D1-9E91-15561C89A318}" presName="bgRect" presStyleLbl="bgShp" presStyleIdx="0" presStyleCnt="2"/>
      <dgm:spPr/>
    </dgm:pt>
    <dgm:pt modelId="{13BA7C4F-E001-49AF-9B7E-3CB67861ED12}" type="pres">
      <dgm:prSet presAssocID="{0B2AF29C-3B9B-48D1-9E91-15561C89A31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23A19632-AEBC-44BA-AD81-C8D8FB926FC3}" type="pres">
      <dgm:prSet presAssocID="{0B2AF29C-3B9B-48D1-9E91-15561C89A318}" presName="spaceRect" presStyleCnt="0"/>
      <dgm:spPr/>
    </dgm:pt>
    <dgm:pt modelId="{7BC8195E-AADB-45BD-9555-725A3413A172}" type="pres">
      <dgm:prSet presAssocID="{0B2AF29C-3B9B-48D1-9E91-15561C89A318}" presName="parTx" presStyleLbl="revTx" presStyleIdx="0" presStyleCnt="2">
        <dgm:presLayoutVars>
          <dgm:chMax val="0"/>
          <dgm:chPref val="0"/>
        </dgm:presLayoutVars>
      </dgm:prSet>
      <dgm:spPr/>
    </dgm:pt>
    <dgm:pt modelId="{118C65BD-8D23-4BD9-81D0-4199274A1913}" type="pres">
      <dgm:prSet presAssocID="{CA31B0BE-A873-438C-B2B2-F729D9D94DC8}" presName="sibTrans" presStyleCnt="0"/>
      <dgm:spPr/>
    </dgm:pt>
    <dgm:pt modelId="{27FF395F-A5B2-4E1D-966B-BE1F2CB3C75C}" type="pres">
      <dgm:prSet presAssocID="{8DA4DF27-8704-49CB-846B-8CD4D666C1CC}" presName="compNode" presStyleCnt="0"/>
      <dgm:spPr/>
    </dgm:pt>
    <dgm:pt modelId="{61EE5C63-D8BF-41E5-889A-1373D836289D}" type="pres">
      <dgm:prSet presAssocID="{8DA4DF27-8704-49CB-846B-8CD4D666C1CC}" presName="bgRect" presStyleLbl="bgShp" presStyleIdx="1" presStyleCnt="2"/>
      <dgm:spPr/>
    </dgm:pt>
    <dgm:pt modelId="{65F7E6FC-BC22-4DC7-AE7F-95A1FF4FF1E3}" type="pres">
      <dgm:prSet presAssocID="{8DA4DF27-8704-49CB-846B-8CD4D666C1C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E151E88-ADB5-4A3C-BC86-C3D26DE5AC96}" type="pres">
      <dgm:prSet presAssocID="{8DA4DF27-8704-49CB-846B-8CD4D666C1CC}" presName="spaceRect" presStyleCnt="0"/>
      <dgm:spPr/>
    </dgm:pt>
    <dgm:pt modelId="{CDAC36A7-A365-4578-8258-F24CD201E9FB}" type="pres">
      <dgm:prSet presAssocID="{8DA4DF27-8704-49CB-846B-8CD4D666C1C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6C53A11-7D4D-4FD0-887C-63DFC5585124}" srcId="{A1A46CA7-24BC-425C-86DE-C767ED23F64A}" destId="{0B2AF29C-3B9B-48D1-9E91-15561C89A318}" srcOrd="0" destOrd="0" parTransId="{92878F36-6023-475D-913E-22C3AA2E8F72}" sibTransId="{CA31B0BE-A873-438C-B2B2-F729D9D94DC8}"/>
    <dgm:cxn modelId="{AE184319-2F92-44C6-A0D4-0A55D36A743E}" type="presOf" srcId="{8DA4DF27-8704-49CB-846B-8CD4D666C1CC}" destId="{CDAC36A7-A365-4578-8258-F24CD201E9FB}" srcOrd="0" destOrd="0" presId="urn:microsoft.com/office/officeart/2018/2/layout/IconVerticalSolidList"/>
    <dgm:cxn modelId="{E01DAA4F-18DB-43D6-9E29-8A1E3DE4A192}" srcId="{A1A46CA7-24BC-425C-86DE-C767ED23F64A}" destId="{8DA4DF27-8704-49CB-846B-8CD4D666C1CC}" srcOrd="1" destOrd="0" parTransId="{479A29E8-BBC9-4191-B8CE-846DD2B1AD32}" sibTransId="{4F4BB9F8-88ED-4819-AEBB-8946B5670A17}"/>
    <dgm:cxn modelId="{F2887C8A-68C5-4883-AC67-C6758F31A349}" type="presOf" srcId="{A1A46CA7-24BC-425C-86DE-C767ED23F64A}" destId="{AEC2D453-77C3-43EF-AC39-D8F995B59262}" srcOrd="0" destOrd="0" presId="urn:microsoft.com/office/officeart/2018/2/layout/IconVerticalSolidList"/>
    <dgm:cxn modelId="{D3019EFE-E2C2-4242-B33C-9FB96FBE58AE}" type="presOf" srcId="{0B2AF29C-3B9B-48D1-9E91-15561C89A318}" destId="{7BC8195E-AADB-45BD-9555-725A3413A172}" srcOrd="0" destOrd="0" presId="urn:microsoft.com/office/officeart/2018/2/layout/IconVerticalSolidList"/>
    <dgm:cxn modelId="{4D3CDE33-4506-4C73-A713-324596F32E8D}" type="presParOf" srcId="{AEC2D453-77C3-43EF-AC39-D8F995B59262}" destId="{A9BA6817-7CB9-4D6E-AAFB-1DC7208D1555}" srcOrd="0" destOrd="0" presId="urn:microsoft.com/office/officeart/2018/2/layout/IconVerticalSolidList"/>
    <dgm:cxn modelId="{BA6F51CE-6610-4FC5-A5B4-460BE848B881}" type="presParOf" srcId="{A9BA6817-7CB9-4D6E-AAFB-1DC7208D1555}" destId="{0C263825-BBA7-46C0-AF69-DC40EE4B34D8}" srcOrd="0" destOrd="0" presId="urn:microsoft.com/office/officeart/2018/2/layout/IconVerticalSolidList"/>
    <dgm:cxn modelId="{0FC8C907-CEC2-4FB8-B05F-EEF897F41833}" type="presParOf" srcId="{A9BA6817-7CB9-4D6E-AAFB-1DC7208D1555}" destId="{13BA7C4F-E001-49AF-9B7E-3CB67861ED12}" srcOrd="1" destOrd="0" presId="urn:microsoft.com/office/officeart/2018/2/layout/IconVerticalSolidList"/>
    <dgm:cxn modelId="{D53457B7-EDED-491B-A98E-A51C8E41C4B8}" type="presParOf" srcId="{A9BA6817-7CB9-4D6E-AAFB-1DC7208D1555}" destId="{23A19632-AEBC-44BA-AD81-C8D8FB926FC3}" srcOrd="2" destOrd="0" presId="urn:microsoft.com/office/officeart/2018/2/layout/IconVerticalSolidList"/>
    <dgm:cxn modelId="{37D57286-19BB-41F0-B5BF-2B20CD8BBBA1}" type="presParOf" srcId="{A9BA6817-7CB9-4D6E-AAFB-1DC7208D1555}" destId="{7BC8195E-AADB-45BD-9555-725A3413A172}" srcOrd="3" destOrd="0" presId="urn:microsoft.com/office/officeart/2018/2/layout/IconVerticalSolidList"/>
    <dgm:cxn modelId="{CD8921D7-63FD-4585-99FB-86B965B1A8EF}" type="presParOf" srcId="{AEC2D453-77C3-43EF-AC39-D8F995B59262}" destId="{118C65BD-8D23-4BD9-81D0-4199274A1913}" srcOrd="1" destOrd="0" presId="urn:microsoft.com/office/officeart/2018/2/layout/IconVerticalSolidList"/>
    <dgm:cxn modelId="{10ACBBA5-B625-4A9B-AFD3-21E0F70970BC}" type="presParOf" srcId="{AEC2D453-77C3-43EF-AC39-D8F995B59262}" destId="{27FF395F-A5B2-4E1D-966B-BE1F2CB3C75C}" srcOrd="2" destOrd="0" presId="urn:microsoft.com/office/officeart/2018/2/layout/IconVerticalSolidList"/>
    <dgm:cxn modelId="{C25446BB-B60D-49BF-8813-52258F7649CF}" type="presParOf" srcId="{27FF395F-A5B2-4E1D-966B-BE1F2CB3C75C}" destId="{61EE5C63-D8BF-41E5-889A-1373D836289D}" srcOrd="0" destOrd="0" presId="urn:microsoft.com/office/officeart/2018/2/layout/IconVerticalSolidList"/>
    <dgm:cxn modelId="{79F00A2A-3DBF-40FE-86D5-98EDAF6FF16F}" type="presParOf" srcId="{27FF395F-A5B2-4E1D-966B-BE1F2CB3C75C}" destId="{65F7E6FC-BC22-4DC7-AE7F-95A1FF4FF1E3}" srcOrd="1" destOrd="0" presId="urn:microsoft.com/office/officeart/2018/2/layout/IconVerticalSolidList"/>
    <dgm:cxn modelId="{8B7C81E9-B0EC-488B-BAA7-D43A63112576}" type="presParOf" srcId="{27FF395F-A5B2-4E1D-966B-BE1F2CB3C75C}" destId="{7E151E88-ADB5-4A3C-BC86-C3D26DE5AC96}" srcOrd="2" destOrd="0" presId="urn:microsoft.com/office/officeart/2018/2/layout/IconVerticalSolidList"/>
    <dgm:cxn modelId="{628D613B-79AF-4C28-89D5-201D82292353}" type="presParOf" srcId="{27FF395F-A5B2-4E1D-966B-BE1F2CB3C75C}" destId="{CDAC36A7-A365-4578-8258-F24CD201E9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63825-BBA7-46C0-AF69-DC40EE4B34D8}">
      <dsp:nvSpPr>
        <dsp:cNvPr id="0" name=""/>
        <dsp:cNvSpPr/>
      </dsp:nvSpPr>
      <dsp:spPr>
        <a:xfrm>
          <a:off x="0" y="468051"/>
          <a:ext cx="8280920" cy="8640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A7C4F-E001-49AF-9B7E-3CB67861ED12}">
      <dsp:nvSpPr>
        <dsp:cNvPr id="0" name=""/>
        <dsp:cNvSpPr/>
      </dsp:nvSpPr>
      <dsp:spPr>
        <a:xfrm>
          <a:off x="261389" y="662473"/>
          <a:ext cx="475252" cy="475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8195E-AADB-45BD-9555-725A3413A172}">
      <dsp:nvSpPr>
        <dsp:cNvPr id="0" name=""/>
        <dsp:cNvSpPr/>
      </dsp:nvSpPr>
      <dsp:spPr>
        <a:xfrm>
          <a:off x="998030" y="468051"/>
          <a:ext cx="7282889" cy="864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50" tIns="91450" rIns="91450" bIns="9145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/>
            <a:t>Las instrucciones en un ciclo son las mismas. Los datos sobre los que se opera varían.</a:t>
          </a:r>
          <a:endParaRPr lang="en-US" sz="1400" kern="1200"/>
        </a:p>
      </dsp:txBody>
      <dsp:txXfrm>
        <a:off x="998030" y="468051"/>
        <a:ext cx="7282889" cy="864096"/>
      </dsp:txXfrm>
    </dsp:sp>
    <dsp:sp modelId="{61EE5C63-D8BF-41E5-889A-1373D836289D}">
      <dsp:nvSpPr>
        <dsp:cNvPr id="0" name=""/>
        <dsp:cNvSpPr/>
      </dsp:nvSpPr>
      <dsp:spPr>
        <a:xfrm>
          <a:off x="0" y="1548172"/>
          <a:ext cx="8280920" cy="8640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7E6FC-BC22-4DC7-AE7F-95A1FF4FF1E3}">
      <dsp:nvSpPr>
        <dsp:cNvPr id="0" name=""/>
        <dsp:cNvSpPr/>
      </dsp:nvSpPr>
      <dsp:spPr>
        <a:xfrm>
          <a:off x="261389" y="1742593"/>
          <a:ext cx="475252" cy="475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C36A7-A365-4578-8258-F24CD201E9FB}">
      <dsp:nvSpPr>
        <dsp:cNvPr id="0" name=""/>
        <dsp:cNvSpPr/>
      </dsp:nvSpPr>
      <dsp:spPr>
        <a:xfrm>
          <a:off x="998030" y="1548172"/>
          <a:ext cx="7282889" cy="864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50" tIns="91450" rIns="91450" bIns="9145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kern="1200"/>
            <a:t>Es necesario en cada iteración del ciclo, evaluar las condiciones para decidir si se sigue ejecutando el ciclo o se detiene. En todo ciclo, siempre debe existir una condición de fin de ciclo.</a:t>
          </a:r>
          <a:endParaRPr lang="en-US" sz="1400" kern="1200"/>
        </a:p>
      </dsp:txBody>
      <dsp:txXfrm>
        <a:off x="998030" y="1548172"/>
        <a:ext cx="7282889" cy="864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E295C87-E7C9-2F5D-CB80-976FEF10A2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310F09-9BDA-DD4D-0A77-D0E0CC131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D27C1-A5AD-4BE3-B0DA-5A8DFA6308C5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3EAFF0-3767-49FE-1B80-5F428747D0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00602E-5F59-F1F5-D0E0-9DB2D48B5E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68B2A-3DF5-4307-B323-BD16FCB3CDF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95177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E8A10-D727-4178-9F85-369A660D8665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BD47C-42A0-4864-8123-7994490E49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488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3</a:t>
            </a:fld>
            <a:endParaRPr lang="es-E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4</a:t>
            </a:fld>
            <a:endParaRPr lang="es-E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Arial" charset="0"/>
              <a:buNone/>
            </a:pPr>
            <a:r>
              <a:rPr lang="es-CL" sz="8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Mientras, es la estructura algorítmica repetitiva que se ejecuta mientras la condición evaluada sea verdadera.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La idea es que mientras la condición sea verdadera ejecute constantemente las instrucciones que están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dentro de su estructura Mientras-Hacer-FinMientras.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Cuando la condición no se cumple entonces se ejecutan las demás instrucciones.</a:t>
            </a:r>
          </a:p>
          <a:p>
            <a:pPr algn="just" eaLnBrk="1" hangingPunct="1">
              <a:buNone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Mientras, es la estructura algorítmica adecuada para utilizar en un ciclo cuando no sabemos el números de veces que éste se ha de repetir.</a:t>
            </a:r>
          </a:p>
          <a:p>
            <a:pPr algn="just" eaLnBrk="1" hangingPunct="1">
              <a:buNone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Ejemplo:</a:t>
            </a:r>
          </a:p>
          <a:p>
            <a:pPr lvl="1" algn="just">
              <a:buFont typeface="Arial" pitchFamily="34" charset="0"/>
              <a:buChar char="•"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Cuando necesitamos obtener el total de una serie de gastos pero no sabemos exactamente cuántos son.</a:t>
            </a:r>
          </a:p>
          <a:p>
            <a:pPr algn="just" eaLnBrk="1" hangingPunct="1">
              <a:buNone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 número de repeticiones depende de las proposiciones dentro del ciclo.</a:t>
            </a:r>
          </a:p>
          <a:p>
            <a:pPr algn="just" eaLnBrk="1" hangingPunct="1">
              <a:buNone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Debe existir un enunciado dentro del ciclo que afecte la condición, para evitar que el ciclo se ejecute indefinidamente.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6</a:t>
            </a:fld>
            <a:endParaRPr lang="es-E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ejemplificar más este tipo nueva de estructura veremos el siguiente caso:</a:t>
            </a:r>
          </a:p>
          <a:p>
            <a:r>
              <a:rPr lang="es-ES" dirty="0"/>
              <a:t>Primero Definimos el proceso Contar.</a:t>
            </a:r>
          </a:p>
          <a:p>
            <a:r>
              <a:rPr lang="es-ES" dirty="0"/>
              <a:t>Segundo Definimos una variable llamada cuenta de tipo Entero.</a:t>
            </a:r>
          </a:p>
          <a:p>
            <a:r>
              <a:rPr lang="es-ES" dirty="0"/>
              <a:t>Tercero asignamos el valor 1 a la variable cuenta.</a:t>
            </a:r>
          </a:p>
          <a:p>
            <a:r>
              <a:rPr lang="es-ES" dirty="0"/>
              <a:t>Cuarto Iterar</a:t>
            </a:r>
            <a:r>
              <a:rPr lang="es-ES" baseline="0" dirty="0"/>
              <a:t> mientras cuenta sea menor que 3.</a:t>
            </a:r>
            <a:endParaRPr lang="es-ES" dirty="0"/>
          </a:p>
          <a:p>
            <a:r>
              <a:rPr lang="es-ES" dirty="0"/>
              <a:t>Quinto escribimos el mensaje “Contando</a:t>
            </a:r>
            <a:r>
              <a:rPr lang="es-ES" baseline="0" dirty="0"/>
              <a:t> : </a:t>
            </a:r>
            <a:r>
              <a:rPr lang="es-ES" dirty="0"/>
              <a:t>“, cuenta concatenando</a:t>
            </a:r>
            <a:r>
              <a:rPr lang="es-ES" baseline="0" dirty="0"/>
              <a:t> el mensaje.</a:t>
            </a:r>
            <a:endParaRPr lang="es-ES" dirty="0"/>
          </a:p>
          <a:p>
            <a:r>
              <a:rPr lang="es-ES" dirty="0"/>
              <a:t>Sexto incrementamos la variable cuenta en 1.</a:t>
            </a:r>
          </a:p>
          <a:p>
            <a:r>
              <a:rPr lang="es-ES" dirty="0"/>
              <a:t>Séptimo Cerramos el ciclo mientras.</a:t>
            </a:r>
          </a:p>
          <a:p>
            <a:r>
              <a:rPr lang="es-ES" dirty="0"/>
              <a:t>Por último, terminamos el proceso.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0219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Arial" charset="0"/>
              <a:buNone/>
            </a:pPr>
            <a:r>
              <a:rPr lang="es-ES_tradnl" sz="8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Repetir, </a:t>
            </a:r>
            <a:r>
              <a:rPr lang="es-CL" sz="8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es la estructura algorítmica repetitiva que se ejecuta hasta que la </a:t>
            </a:r>
            <a:r>
              <a:rPr lang="es-ES_tradnl" sz="8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s-CL" sz="8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condición evaluada sea falsa.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La idea es que mientras la condición sea falsa ejecute constantemente las instrucciones que están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dentro de su estructura Repetir-Hasta Que.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Cuando la condición se cumple entonces se ejecutan las demás instrucciones.</a:t>
            </a:r>
          </a:p>
          <a:p>
            <a:pPr algn="just">
              <a:buFont typeface="Arial" charset="0"/>
              <a:buNone/>
            </a:pPr>
            <a:r>
              <a:rPr lang="es-CL" sz="8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Dado que la condición se evalúa al final, las instrucciones serán ejecutadas al menos una vez.</a:t>
            </a:r>
            <a:endParaRPr lang="es-ES" sz="800" b="0" i="0" u="none" baseline="0" dirty="0">
              <a:latin typeface="Arial" pitchFamily="34" charset="0"/>
              <a:ea typeface="Verdana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9</a:t>
            </a:fld>
            <a:endParaRPr lang="es-E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ejemplificar más este tipo nueva</a:t>
            </a:r>
            <a:r>
              <a:rPr lang="es-ES" baseline="0" dirty="0"/>
              <a:t> </a:t>
            </a:r>
            <a:r>
              <a:rPr lang="es-ES" dirty="0"/>
              <a:t>de estructura veremos el siguiente caso:</a:t>
            </a:r>
          </a:p>
          <a:p>
            <a:r>
              <a:rPr lang="es-ES" dirty="0"/>
              <a:t>Primero Iniciamos el proceso. </a:t>
            </a:r>
          </a:p>
          <a:p>
            <a:r>
              <a:rPr lang="es-ES" dirty="0"/>
              <a:t>Segundo Definimos una variable llamada cuenta.</a:t>
            </a:r>
          </a:p>
          <a:p>
            <a:r>
              <a:rPr lang="es-ES" dirty="0"/>
              <a:t>Tercero Iniciamos el ciclo Repetir.</a:t>
            </a:r>
          </a:p>
          <a:p>
            <a:r>
              <a:rPr lang="es-ES" dirty="0"/>
              <a:t>Cuarto Repite las instrucciones </a:t>
            </a:r>
            <a:r>
              <a:rPr lang="es-ES" baseline="0" dirty="0"/>
              <a:t> hasta que la variable cuenta sea igual a  5.</a:t>
            </a:r>
            <a:endParaRPr lang="es-ES" dirty="0"/>
          </a:p>
          <a:p>
            <a:r>
              <a:rPr lang="es-ES" dirty="0"/>
              <a:t>Quinto escribimos el mensaje “Cuenta</a:t>
            </a:r>
            <a:r>
              <a:rPr lang="es-ES" baseline="0" dirty="0"/>
              <a:t> “, junto al número que tiene la variable cuenta.</a:t>
            </a:r>
            <a:endParaRPr lang="es-ES" dirty="0"/>
          </a:p>
          <a:p>
            <a:r>
              <a:rPr lang="es-ES" dirty="0"/>
              <a:t>Sexto incrementamos la variable cuenta en 1.</a:t>
            </a:r>
          </a:p>
          <a:p>
            <a:r>
              <a:rPr lang="es-ES" dirty="0"/>
              <a:t>Séptimo validamos si cuenta cumple la condición dada.</a:t>
            </a:r>
          </a:p>
          <a:p>
            <a:r>
              <a:rPr lang="es-ES" dirty="0"/>
              <a:t>Por último, terminamos el proceso.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0219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charset="0"/>
              <a:buNone/>
            </a:pPr>
            <a:r>
              <a:rPr lang="es-CL" sz="8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Para, es la estructura algorítmica repetitiva que se ejecuta un número definido de veces.</a:t>
            </a:r>
          </a:p>
          <a:p>
            <a:pPr algn="just">
              <a:buFont typeface="Arial" charset="0"/>
              <a:buNone/>
            </a:pPr>
            <a:r>
              <a:rPr lang="es-CL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Opcionalmente uno puede ingresar el incremento que utilizará la variable, por defecto es 1.</a:t>
            </a:r>
          </a:p>
          <a:p>
            <a:pPr algn="just">
              <a:buFont typeface="Arial" charset="0"/>
              <a:buNone/>
            </a:pPr>
            <a:r>
              <a:rPr lang="es-CL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 vez que la variable alcanza</a:t>
            </a:r>
            <a:r>
              <a:rPr lang="es-CL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el valor definido “hasta”, termina el ciclo para.</a:t>
            </a:r>
            <a:endParaRPr lang="es-CL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 eaLnBrk="1" hangingPunct="1">
              <a:buNone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Ejemplo:</a:t>
            </a:r>
          </a:p>
          <a:p>
            <a:pPr lvl="1" algn="just">
              <a:buFont typeface="Arial" pitchFamily="34" charset="0"/>
              <a:buChar char="•"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Cuando necesitamos obtener el promedio de un curso.</a:t>
            </a:r>
          </a:p>
          <a:p>
            <a:pPr marL="0" lvl="0" indent="0" algn="just">
              <a:buNone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Sabemos de antemano, cuántas veces tenemos que repetir una determinada operación.		</a:t>
            </a:r>
          </a:p>
          <a:p>
            <a:pPr algn="just" eaLnBrk="1" hangingPunct="1">
              <a:buNone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 número de repeticiones no depende de las proposiciones dentro del ciclo.</a:t>
            </a:r>
          </a:p>
          <a:p>
            <a:pPr algn="just" eaLnBrk="1" hangingPunct="1">
              <a:buNone/>
            </a:pPr>
            <a:r>
              <a:rPr lang="es-CL" sz="2000" b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El número de veces se obtiene del planteamiento del problema.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11</a:t>
            </a:fld>
            <a:endParaRPr lang="es-E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ejemplificar más este tipo nueva de estructura veremos el siguiente caso:</a:t>
            </a:r>
          </a:p>
          <a:p>
            <a:r>
              <a:rPr lang="es-ES" dirty="0"/>
              <a:t>Primero Iniciamos el proceso. </a:t>
            </a:r>
          </a:p>
          <a:p>
            <a:r>
              <a:rPr lang="es-ES" dirty="0"/>
              <a:t>Segundo Definimos una variable llamada nro</a:t>
            </a:r>
            <a:r>
              <a:rPr lang="es-ES" baseline="0" dirty="0"/>
              <a:t> y otra new_nro. </a:t>
            </a:r>
            <a:endParaRPr lang="es-ES" dirty="0"/>
          </a:p>
          <a:p>
            <a:r>
              <a:rPr lang="es-ES" dirty="0"/>
              <a:t>Tercero  Iniciamos el ciclo Para, asignándole un valor “uno” (1) a la variable</a:t>
            </a:r>
            <a:r>
              <a:rPr lang="es-ES" baseline="0" dirty="0"/>
              <a:t> nro, hasta que llegue al valor “tres” (3), incrementándose la variable en “uno” (1).</a:t>
            </a:r>
          </a:p>
          <a:p>
            <a:r>
              <a:rPr lang="es-ES" baseline="0" dirty="0"/>
              <a:t>Cuarto Cada vez que se repita el ciclo, la variable new_nro asumirá el valor del nro multiplicado por 2.</a:t>
            </a:r>
            <a:endParaRPr lang="es-ES" dirty="0"/>
          </a:p>
          <a:p>
            <a:r>
              <a:rPr lang="es-ES" dirty="0"/>
              <a:t>Quinto Escribimos el mensaje “Número</a:t>
            </a:r>
            <a:r>
              <a:rPr lang="es-ES" baseline="0" dirty="0"/>
              <a:t>  Obtenido“, junto al número que tiene la variable new_nro.</a:t>
            </a:r>
            <a:endParaRPr lang="es-ES" dirty="0"/>
          </a:p>
          <a:p>
            <a:r>
              <a:rPr lang="es-ES" dirty="0"/>
              <a:t>Por último, terminamos el proceso.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0219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Todo proceso que entra al ciclo «mientras», ejecutará todas las instrucciones que están entre «mientras» y «fin mientras».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Existen ocasiones en las que una o varias instrucciones que se encuentran dentro del ciclo actúan como otro ciclo.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Cuando tenemos este caso primero deberá ejecutar todas las instrucciones del ciclo anidado interno,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para poder seguir con la siguiente iteraciones del ciclo anidado externo.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13</a:t>
            </a:fld>
            <a:endParaRPr lang="es-E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Nos damos cuenta que para crear la tabla de multiplicar eligiendo</a:t>
            </a:r>
            <a:r>
              <a:rPr lang="es-ES" baseline="0" dirty="0"/>
              <a:t> un cierto número,</a:t>
            </a:r>
          </a:p>
          <a:p>
            <a:r>
              <a:rPr lang="es-ES" baseline="0" dirty="0"/>
              <a:t>Primero debemos preguntar que número desean crear todas las tablas,</a:t>
            </a:r>
          </a:p>
          <a:p>
            <a:r>
              <a:rPr lang="es-ES" baseline="0" dirty="0"/>
              <a:t>para luego crear un ciclo «Para» con un índice entre 1 a 10,</a:t>
            </a:r>
          </a:p>
          <a:p>
            <a:r>
              <a:rPr lang="es-ES" baseline="0" dirty="0"/>
              <a:t>que permita multiplicar el número ingresado por todas las tablas.</a:t>
            </a:r>
          </a:p>
          <a:p>
            <a:r>
              <a:rPr lang="es-ES" baseline="0" dirty="0"/>
              <a:t>Por último, preguntar si quiere crear otra tabla de multiplicar.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0219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Para esto se debe tener en cuenta las opciones que determinarán las opciones.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Para poder tener un menú de opciones se declara la variable de opción.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Luego, se colocan los mensajes para las diferentes opciones.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A continuación, se identifican las diferentes opciones para analizar, evaluando respectivamente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Hasta que el usuario ingrese la opción de “Salida”.</a:t>
            </a:r>
          </a:p>
          <a:p>
            <a:pPr algn="just">
              <a:buFont typeface="Arial" charset="0"/>
              <a:buNone/>
            </a:pPr>
            <a:r>
              <a:rPr lang="es-ES" sz="800" b="0" i="0" u="none" baseline="0" dirty="0">
                <a:latin typeface="Arial" pitchFamily="34" charset="0"/>
                <a:ea typeface="Verdana" pitchFamily="34" charset="0"/>
                <a:cs typeface="Arial" pitchFamily="34" charset="0"/>
              </a:rPr>
              <a:t>Finalmente termina el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15</a:t>
            </a:fld>
            <a:endParaRPr lang="es-E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Analizamos siguiente caso:</a:t>
            </a:r>
          </a:p>
          <a:p>
            <a:r>
              <a:rPr lang="es-ES" dirty="0"/>
              <a:t>Primero Definimos</a:t>
            </a:r>
            <a:r>
              <a:rPr lang="es-ES" baseline="0" dirty="0"/>
              <a:t> la variable opc que nos servirá para analizar las opciones del Menú.</a:t>
            </a:r>
            <a:endParaRPr lang="es-ES" dirty="0"/>
          </a:p>
          <a:p>
            <a:r>
              <a:rPr lang="es-ES" dirty="0"/>
              <a:t>Segundo Escribimos los mensajes de opciones al usuario.</a:t>
            </a:r>
          </a:p>
          <a:p>
            <a:r>
              <a:rPr lang="es-ES" dirty="0"/>
              <a:t>Tercero Solicitamos el ingreso de una opción. </a:t>
            </a:r>
          </a:p>
          <a:p>
            <a:r>
              <a:rPr lang="es-ES" dirty="0"/>
              <a:t>Cuarto  se ejecuta la opción,</a:t>
            </a:r>
            <a:r>
              <a:rPr lang="es-ES" baseline="0" dirty="0"/>
              <a:t> de acuerdo a lo seleccionado por el usuario.</a:t>
            </a:r>
          </a:p>
          <a:p>
            <a:r>
              <a:rPr lang="es-ES" baseline="0" dirty="0">
                <a:solidFill>
                  <a:srgbClr val="FF0000"/>
                </a:solidFill>
              </a:rPr>
              <a:t>Quinto Si la opción seleccionada es 5, enviamos mensaje “Salida del Menú”.</a:t>
            </a:r>
          </a:p>
          <a:p>
            <a:r>
              <a:rPr lang="es-ES" baseline="0" dirty="0">
                <a:solidFill>
                  <a:srgbClr val="FF0000"/>
                </a:solidFill>
              </a:rPr>
              <a:t>Sexto Caso contrario ejecutamos las indicaciones  de la opción.</a:t>
            </a:r>
          </a:p>
          <a:p>
            <a:r>
              <a:rPr lang="es-ES" dirty="0">
                <a:solidFill>
                  <a:srgbClr val="FF0000"/>
                </a:solidFill>
              </a:rPr>
              <a:t>Por último, terminamos el proceso.</a:t>
            </a:r>
          </a:p>
          <a:p>
            <a:r>
              <a:rPr lang="es-ES" dirty="0"/>
              <a:t> </a:t>
            </a:r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0219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baseline="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es-CL" smtClean="0"/>
              <a:pPr/>
              <a:t>18</a:t>
            </a:fld>
            <a:endParaRPr lang="es-CL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34A58-7118-6775-3A4E-5C2D28A0E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B311DE-94C9-F3FA-775A-551658502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E27089-8567-C504-A023-F079AA07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9EB7FB-FF84-A608-0E49-BB2FD114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7778B7-768F-4913-FBBA-BA370AEE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850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C990C-7E58-7A8B-54DF-69ED94E2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0313AB-ADAE-0B6B-8B60-DA4395437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5E0E8-1FE5-2852-EE4F-DE6C3438B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A4A64-2EA9-28E3-2B23-DD5D0CF7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604E8-B245-95AD-5EED-EBB32D25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470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CEC80-021A-AC44-3438-0F21DB96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BA45A6-FF18-B6A2-B5C4-ED2F5BFE9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F8DD4-540D-9018-872B-7E459A91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8D647C-51D9-B4B7-38DA-73015C0B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F5DE53-57AA-5B9B-1EF2-C0BF348E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068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D62E3-26AB-D36B-3A83-8C7E23F5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8362E-7A09-AA55-0254-C69833D34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CE6FE3-3C64-E72A-7F44-08FFE4CC3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6482E6-F35B-8EB9-2ED8-37329AD6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94F689-6794-4E11-00E6-CC22611C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F9F050-B1F8-B3B7-0A1A-0B294243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231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472E4-006C-375E-0B18-45348130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EC51E9-828F-E351-2D6A-1CD4782A7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428A40-14C9-E200-B5BD-233420684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630129-456E-6949-614B-B33169470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5C0D87-ACE0-827D-9D9A-0591C1EF4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8FB0F0-4309-2B03-D7A6-38F03641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27C96AD-A272-BCA0-060F-B378B8AE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388B39-0FC0-A255-E49C-7843AEE3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730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48D1F-FE64-E174-9E5B-272A4F74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3488B8-DFCB-8258-6E38-6ABC00424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EA4386-B372-4842-BBF3-7BCEB934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571E515-2E3E-A213-2193-8F028DB3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10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98B507-22C1-77F3-1BEE-8FBE37B0A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73EA01-DFAF-5118-3AC7-E1A812A9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B360B9-63EF-FD2E-27D2-31BBAFC6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106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2BC58-1B71-52C9-D0C3-1BAA2E1A4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E5219F-2C41-6667-9591-32B836D09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9ADB86-F016-E554-DC92-3CC541A01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2122E2-92AE-5A6A-71E3-9F23A2AC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CD53F3-AC53-7C1D-26BD-E281FC77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0C2D3D-281D-1F9F-C676-1B274385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1273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18E98-60F1-CC38-E130-55CC6A59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A92DB1-C153-DC3A-FE05-EB5A99C72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ECC43C-C01A-2FBF-D75B-ABF12AF06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7678BC-5D02-0338-B53B-C9CD26EE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E75F06-C350-D139-F1FB-E5768ADE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909B2C-2372-EC01-1F04-5747110B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607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A26F2-7677-4DC7-C1CA-96FFAEFD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964FD1-B53D-49EA-56EE-F8CA96472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9158-F381-CF85-DDA1-E26A164D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E2337B-3ACE-28F8-EB59-54A73F6B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5BA52D-BAE6-3DF0-9EA6-A236BFCD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513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A0E977-BB0D-54B7-D1D0-71A2E09FB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743499-DB8A-61E0-0AC6-1326313E4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C7CBE1-0598-5370-E961-DA25B859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0A1D84-1FC2-A0DD-6194-334E1790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55205D-F8EE-6866-F7C7-D99A2A6C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7250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F2EB3-0EDA-4ED9-9536-B32CA2814CB2}" type="datetimeFigureOut">
              <a:rPr lang="es-CL" smtClean="0"/>
              <a:pPr/>
              <a:t>31-03-2025</a:t>
            </a:fld>
            <a:endParaRPr lang="es-CL" dirty="0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B81E1-065B-41FA-A93E-2D40791BFEEB}" type="slidenum">
              <a:rPr lang="es-CL" smtClean="0"/>
              <a:pPr/>
              <a:t>‹Nº›</a:t>
            </a:fld>
            <a:endParaRPr lang="es-CL" dirty="0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3723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9DCA9B-CBAD-8B8B-DF58-ADDAF60B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AE67BF-B24E-3BF3-4867-0017D789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44CFC5-2869-5BBF-D5C6-F45E67185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EDBE3-DC2B-482B-9C40-482EEB08E9A9}" type="datetimeFigureOut">
              <a:rPr lang="es-CL" smtClean="0"/>
              <a:t>31-03-2025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C7A9D6-68D9-94E9-3F79-F3544E200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47B5C2-FE86-C9D8-7D1E-658F73195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6B985-AEBA-44BA-A4E0-F0B7D906236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72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C0CDF87-1BAB-BB67-ED9A-27A1B570C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53856"/>
          </a:xfrm>
        </p:spPr>
        <p:txBody>
          <a:bodyPr>
            <a:normAutofit/>
          </a:bodyPr>
          <a:lstStyle/>
          <a:p>
            <a:r>
              <a:rPr lang="es-CL" sz="3600" b="1" noProof="0" dirty="0">
                <a:latin typeface="Candara"/>
                <a:cs typeface="Candara"/>
              </a:rPr>
              <a:t>TALLER </a:t>
            </a:r>
            <a:r>
              <a:rPr lang="es-CL" sz="3600" b="1" noProof="0">
                <a:latin typeface="Candara"/>
                <a:cs typeface="Candara"/>
              </a:rPr>
              <a:t>DE IA</a:t>
            </a:r>
            <a:endParaRPr lang="es-CL" sz="3600" b="1" noProof="0" dirty="0">
              <a:latin typeface="Candara"/>
              <a:cs typeface="Candara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E751EE-16EE-18E1-6CB1-144C4CBF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87" y="1427162"/>
            <a:ext cx="40862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4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2 Título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Objetivos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 Rectángulo redondeado"/>
          <p:cNvSpPr/>
          <p:nvPr/>
        </p:nvSpPr>
        <p:spPr>
          <a:xfrm>
            <a:off x="630936" y="2660904"/>
            <a:ext cx="4818888" cy="3547872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 Describir ciclo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 Describir sentencia repetitiva Mientras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 Describir sentencia repetitiva Repetir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 Describir sentencia repetitiva Para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 Aplicar sentencias repetitivas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 Crear Menú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</a:endParaRPr>
          </a:p>
        </p:txBody>
      </p:sp>
      <p:pic>
        <p:nvPicPr>
          <p:cNvPr id="4" name="Picture 2" descr="http://miriamrochadiaz.files.wordpress.com/2013/01/trabajo-en-equipo2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099048" y="699516"/>
            <a:ext cx="5458968" cy="54589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BDDF84-68A7-7E3C-2B4D-45990EC89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¿Qué es un Ciclo?</a:t>
            </a:r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ttp://tranquilacion.files.wordpress.com/2011/01/pregunta1.jpg?w=640"/>
          <p:cNvPicPr>
            <a:picLocks noChangeAspect="1" noChangeArrowheads="1"/>
          </p:cNvPicPr>
          <p:nvPr/>
        </p:nvPicPr>
        <p:blipFill>
          <a:blip r:embed="rId3" cstate="print"/>
          <a:srcRect t="302" r="-1" b="-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6 Marcador de contenido">
            <a:extLst>
              <a:ext uri="{FF2B5EF4-FFF2-40B4-BE49-F238E27FC236}">
                <a16:creationId xmlns:a16="http://schemas.microsoft.com/office/drawing/2014/main" id="{9665036E-0447-060A-18BF-FD1AD8CAB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251618"/>
              </p:ext>
            </p:extLst>
          </p:nvPr>
        </p:nvGraphicFramePr>
        <p:xfrm>
          <a:off x="1991544" y="3861048"/>
          <a:ext cx="8280920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63552" y="981224"/>
            <a:ext cx="6350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CuadroTexto"/>
          <p:cNvSpPr txBox="1"/>
          <p:nvPr/>
        </p:nvSpPr>
        <p:spPr>
          <a:xfrm>
            <a:off x="2849371" y="1195539"/>
            <a:ext cx="883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solidFill>
                  <a:schemeClr val="tx2">
                    <a:lumMod val="50000"/>
                  </a:schemeClr>
                </a:solidFill>
              </a:rPr>
              <a:t>Ciclo</a:t>
            </a:r>
          </a:p>
        </p:txBody>
      </p:sp>
      <p:sp>
        <p:nvSpPr>
          <p:cNvPr id="12" name="11 Rectángulo redondeado"/>
          <p:cNvSpPr/>
          <p:nvPr/>
        </p:nvSpPr>
        <p:spPr>
          <a:xfrm>
            <a:off x="2524100" y="1844824"/>
            <a:ext cx="7358114" cy="133981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0"/>
                  <a:alpha val="12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12 CuadroTexto"/>
          <p:cNvSpPr txBox="1"/>
          <p:nvPr/>
        </p:nvSpPr>
        <p:spPr>
          <a:xfrm>
            <a:off x="2881290" y="2416328"/>
            <a:ext cx="6786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dirty="0">
                <a:solidFill>
                  <a:schemeClr val="tx2">
                    <a:lumMod val="50000"/>
                  </a:schemeClr>
                </a:solidFill>
                <a:ea typeface="ＭＳ Ｐゴシック" charset="-128"/>
              </a:rPr>
              <a:t>Conjunto de instrucciones que se ejecuta repetidamente.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Grp="1"/>
          </p:cNvSpPr>
          <p:nvPr>
            <p:ph idx="1"/>
          </p:nvPr>
        </p:nvSpPr>
        <p:spPr bwMode="auto">
          <a:xfrm>
            <a:off x="2423592" y="1180932"/>
            <a:ext cx="8379206" cy="4336301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>
              <a:defRPr/>
            </a:pPr>
            <a:r>
              <a:rPr lang="es-CL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</a:p>
          <a:p>
            <a:pPr>
              <a:buNone/>
              <a:defRPr/>
            </a:pPr>
            <a:r>
              <a:rPr lang="es-CL" sz="2400" dirty="0">
                <a:solidFill>
                  <a:schemeClr val="tx2">
                    <a:lumMod val="50000"/>
                  </a:schemeClr>
                </a:solidFill>
              </a:rPr>
              <a:t>Sentencias Repetitivas</a:t>
            </a:r>
          </a:p>
          <a:p>
            <a:pPr>
              <a:buNone/>
              <a:defRPr/>
            </a:pPr>
            <a:r>
              <a:rPr lang="es-CL" sz="2400" dirty="0">
                <a:solidFill>
                  <a:schemeClr val="tx2">
                    <a:lumMod val="50000"/>
                  </a:schemeClr>
                </a:solidFill>
              </a:rPr>
              <a:t>			</a:t>
            </a:r>
          </a:p>
          <a:p>
            <a:pPr lvl="3">
              <a:buFont typeface="Wingdings" pitchFamily="2" charset="2"/>
              <a:buChar char="Ø"/>
              <a:defRPr/>
            </a:pPr>
            <a:r>
              <a:rPr lang="es-CL" dirty="0">
                <a:solidFill>
                  <a:schemeClr val="tx2">
                    <a:lumMod val="50000"/>
                  </a:schemeClr>
                </a:solidFill>
                <a:ea typeface="+mn-ea"/>
              </a:rPr>
              <a:t>Mientras</a:t>
            </a:r>
          </a:p>
          <a:p>
            <a:pPr lvl="3">
              <a:buFont typeface="Wingdings" pitchFamily="2" charset="2"/>
              <a:buChar char="Ø"/>
              <a:defRPr/>
            </a:pPr>
            <a:endParaRPr lang="es-CL" dirty="0">
              <a:solidFill>
                <a:schemeClr val="tx2">
                  <a:lumMod val="50000"/>
                </a:schemeClr>
              </a:solidFill>
              <a:ea typeface="+mn-ea"/>
            </a:endParaRPr>
          </a:p>
          <a:p>
            <a:pPr lvl="3">
              <a:buFont typeface="Wingdings" pitchFamily="2" charset="2"/>
              <a:buChar char="Ø"/>
              <a:defRPr/>
            </a:pPr>
            <a:r>
              <a:rPr lang="es-CL" dirty="0">
                <a:solidFill>
                  <a:schemeClr val="tx2">
                    <a:lumMod val="50000"/>
                  </a:schemeClr>
                </a:solidFill>
                <a:ea typeface="+mn-ea"/>
              </a:rPr>
              <a:t>Repetir</a:t>
            </a:r>
          </a:p>
          <a:p>
            <a:pPr lvl="3">
              <a:buFont typeface="Wingdings" pitchFamily="2" charset="2"/>
              <a:buChar char="Ø"/>
              <a:defRPr/>
            </a:pPr>
            <a:endParaRPr lang="es-CL" dirty="0">
              <a:solidFill>
                <a:schemeClr val="tx2">
                  <a:lumMod val="50000"/>
                </a:schemeClr>
              </a:solidFill>
              <a:ea typeface="+mn-ea"/>
            </a:endParaRPr>
          </a:p>
          <a:p>
            <a:pPr lvl="3">
              <a:buFont typeface="Wingdings" pitchFamily="2" charset="2"/>
              <a:buChar char="Ø"/>
              <a:defRPr/>
            </a:pPr>
            <a:r>
              <a:rPr lang="es-CL" dirty="0">
                <a:solidFill>
                  <a:schemeClr val="tx2">
                    <a:lumMod val="50000"/>
                  </a:schemeClr>
                </a:solidFill>
                <a:ea typeface="+mn-ea"/>
              </a:rPr>
              <a:t>Para</a:t>
            </a:r>
          </a:p>
          <a:p>
            <a:pPr>
              <a:buNone/>
              <a:defRPr/>
            </a:pPr>
            <a:endParaRPr lang="es-CL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  <a:defRPr/>
            </a:pPr>
            <a:endParaRPr lang="es-ES_tradnl" dirty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buNone/>
              <a:defRPr/>
            </a:pPr>
            <a:endParaRPr lang="es-ES_tradnl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None/>
              <a:defRPr/>
            </a:pPr>
            <a:endParaRPr lang="es-ES_tradnl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None/>
              <a:defRPr/>
            </a:pPr>
            <a:endParaRPr lang="es-ES_tradnl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buNone/>
              <a:defRPr/>
            </a:pPr>
            <a:endParaRPr lang="es-ES_tradnl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1746" name="Picture 2" descr="http://t0.gstatic.com/images?q=tbn:ANd9GcTJkjpKaR7SzLJDpPtHtJ71xZ1ljrW0awkJew9Ooy258HdtVdf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44072" y="1772817"/>
            <a:ext cx="3024336" cy="30295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915"/>
          </a:xfrm>
        </p:spPr>
        <p:txBody>
          <a:bodyPr/>
          <a:lstStyle/>
          <a:p>
            <a:r>
              <a:rPr lang="es-CL" sz="2800">
                <a:latin typeface="+mn-lt"/>
                <a:cs typeface="+mn-cs"/>
              </a:rPr>
              <a:t>Mientras</a:t>
            </a:r>
            <a:endParaRPr lang="es-CL" sz="2800" dirty="0">
              <a:latin typeface="+mn-lt"/>
              <a:cs typeface="+mn-cs"/>
            </a:endParaRPr>
          </a:p>
        </p:txBody>
      </p:sp>
      <p:pic>
        <p:nvPicPr>
          <p:cNvPr id="1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1750" y="3189787"/>
            <a:ext cx="6592857" cy="330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1 Imagen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560" y="1904839"/>
            <a:ext cx="5577675" cy="1049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115615" y="2489186"/>
            <a:ext cx="4742993" cy="1873482"/>
          </a:xfrm>
          <a:prstGeom prst="rect">
            <a:avLst/>
          </a:prstGeom>
          <a:noFill/>
        </p:spPr>
      </p:pic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F282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343240" y="2261653"/>
            <a:ext cx="4728015" cy="23285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>
                <a:latin typeface="+mn-lt"/>
                <a:cs typeface="+mn-cs"/>
              </a:rPr>
              <a:t>Ejemplo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74" y="1556792"/>
            <a:ext cx="6032490" cy="2304256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592" y="4310236"/>
            <a:ext cx="4177386" cy="113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3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Repetir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654296" y="955314"/>
            <a:ext cx="7214616" cy="49199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Ejemplo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190521"/>
            <a:ext cx="5614416" cy="2509974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272986"/>
            <a:ext cx="5614416" cy="234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9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2800" dirty="0">
                <a:latin typeface="+mn-lt"/>
                <a:cs typeface="+mn-cs"/>
              </a:rPr>
              <a:t>Para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6445" y="1190622"/>
            <a:ext cx="786765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51268" y="2358501"/>
            <a:ext cx="3912641" cy="370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Ejemplo</a:t>
            </a:r>
          </a:p>
        </p:txBody>
      </p:sp>
      <p:sp>
        <p:nvSpPr>
          <p:cNvPr id="206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20040" y="3392166"/>
            <a:ext cx="5614416" cy="2106684"/>
          </a:xfrm>
          <a:prstGeom prst="rect">
            <a:avLst/>
          </a:prstGeom>
          <a:noFill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6254496" y="3706499"/>
            <a:ext cx="5614416" cy="14780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7716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5519936" y="188640"/>
            <a:ext cx="4690864" cy="741526"/>
          </a:xfrm>
        </p:spPr>
        <p:txBody>
          <a:bodyPr/>
          <a:lstStyle/>
          <a:p>
            <a:r>
              <a:rPr lang="es-CL" sz="2800" dirty="0">
                <a:latin typeface="+mn-lt"/>
                <a:cs typeface="+mn-cs"/>
              </a:rPr>
              <a:t>Iteraciones Anidadas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2253547" y="2708921"/>
            <a:ext cx="2214578" cy="1785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Instrucciones </a:t>
            </a:r>
          </a:p>
        </p:txBody>
      </p:sp>
      <p:sp>
        <p:nvSpPr>
          <p:cNvPr id="17" name="16 Decisión"/>
          <p:cNvSpPr/>
          <p:nvPr/>
        </p:nvSpPr>
        <p:spPr>
          <a:xfrm>
            <a:off x="2110671" y="1127960"/>
            <a:ext cx="2500330" cy="1357322"/>
          </a:xfrm>
          <a:prstGeom prst="flowChartDecisi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CONDICION</a:t>
            </a:r>
          </a:p>
        </p:txBody>
      </p:sp>
      <p:sp>
        <p:nvSpPr>
          <p:cNvPr id="18" name="17 Decisión"/>
          <p:cNvSpPr/>
          <p:nvPr/>
        </p:nvSpPr>
        <p:spPr>
          <a:xfrm>
            <a:off x="2110671" y="3329981"/>
            <a:ext cx="2500330" cy="1357322"/>
          </a:xfrm>
          <a:prstGeom prst="flowChartDecisi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CONDICION</a:t>
            </a:r>
          </a:p>
        </p:txBody>
      </p:sp>
      <p:sp>
        <p:nvSpPr>
          <p:cNvPr id="43" name="42 Rectángulo"/>
          <p:cNvSpPr/>
          <p:nvPr/>
        </p:nvSpPr>
        <p:spPr>
          <a:xfrm>
            <a:off x="2253547" y="4928673"/>
            <a:ext cx="2214578" cy="1785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Instrucciones </a:t>
            </a:r>
          </a:p>
        </p:txBody>
      </p:sp>
      <p:cxnSp>
        <p:nvCxnSpPr>
          <p:cNvPr id="3" name="2 Conector recto de flecha"/>
          <p:cNvCxnSpPr>
            <a:stCxn id="51" idx="2"/>
            <a:endCxn id="17" idx="0"/>
          </p:cNvCxnSpPr>
          <p:nvPr/>
        </p:nvCxnSpPr>
        <p:spPr>
          <a:xfrm>
            <a:off x="3359696" y="762672"/>
            <a:ext cx="1140" cy="3652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>
            <a:stCxn id="17" idx="2"/>
            <a:endCxn id="12" idx="0"/>
          </p:cNvCxnSpPr>
          <p:nvPr/>
        </p:nvCxnSpPr>
        <p:spPr>
          <a:xfrm>
            <a:off x="3360836" y="2485282"/>
            <a:ext cx="0" cy="2236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>
            <a:stCxn id="12" idx="2"/>
            <a:endCxn id="18" idx="0"/>
          </p:cNvCxnSpPr>
          <p:nvPr/>
        </p:nvCxnSpPr>
        <p:spPr>
          <a:xfrm>
            <a:off x="3360836" y="2887515"/>
            <a:ext cx="0" cy="4424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26 Rectángulo redondeado"/>
          <p:cNvSpPr/>
          <p:nvPr/>
        </p:nvSpPr>
        <p:spPr>
          <a:xfrm>
            <a:off x="2253547" y="5733256"/>
            <a:ext cx="2214578" cy="36004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Fin Proceso</a:t>
            </a:r>
          </a:p>
        </p:txBody>
      </p:sp>
      <p:cxnSp>
        <p:nvCxnSpPr>
          <p:cNvPr id="32" name="31 Conector recto de flecha"/>
          <p:cNvCxnSpPr>
            <a:stCxn id="18" idx="2"/>
            <a:endCxn id="43" idx="0"/>
          </p:cNvCxnSpPr>
          <p:nvPr/>
        </p:nvCxnSpPr>
        <p:spPr>
          <a:xfrm>
            <a:off x="3360836" y="4687304"/>
            <a:ext cx="0" cy="2413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50 Rectángulo redondeado"/>
          <p:cNvSpPr/>
          <p:nvPr/>
        </p:nvSpPr>
        <p:spPr>
          <a:xfrm>
            <a:off x="1703512" y="402631"/>
            <a:ext cx="3312368" cy="36004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Proceso</a:t>
            </a:r>
          </a:p>
        </p:txBody>
      </p:sp>
      <p:cxnSp>
        <p:nvCxnSpPr>
          <p:cNvPr id="53" name="52 Conector angular"/>
          <p:cNvCxnSpPr>
            <a:stCxn id="17" idx="3"/>
            <a:endCxn id="27" idx="3"/>
          </p:cNvCxnSpPr>
          <p:nvPr/>
        </p:nvCxnSpPr>
        <p:spPr>
          <a:xfrm flipH="1">
            <a:off x="4468125" y="1806622"/>
            <a:ext cx="142876" cy="4106655"/>
          </a:xfrm>
          <a:prstGeom prst="bentConnector3">
            <a:avLst>
              <a:gd name="adj1" fmla="val -45792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angular"/>
          <p:cNvCxnSpPr>
            <a:stCxn id="43" idx="2"/>
            <a:endCxn id="18" idx="0"/>
          </p:cNvCxnSpPr>
          <p:nvPr/>
        </p:nvCxnSpPr>
        <p:spPr>
          <a:xfrm rot="5400000" flipH="1">
            <a:off x="2472193" y="4218624"/>
            <a:ext cx="1777286" cy="12700"/>
          </a:xfrm>
          <a:prstGeom prst="bentConnector5">
            <a:avLst>
              <a:gd name="adj1" fmla="val -12862"/>
              <a:gd name="adj2" fmla="val 11643819"/>
              <a:gd name="adj3" fmla="val 112862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angular"/>
          <p:cNvCxnSpPr>
            <a:endCxn id="17" idx="0"/>
          </p:cNvCxnSpPr>
          <p:nvPr/>
        </p:nvCxnSpPr>
        <p:spPr>
          <a:xfrm rot="16200000" flipV="1">
            <a:off x="2545578" y="1943219"/>
            <a:ext cx="2880682" cy="1250165"/>
          </a:xfrm>
          <a:prstGeom prst="bentConnector5">
            <a:avLst>
              <a:gd name="adj1" fmla="val -57294"/>
              <a:gd name="adj2" fmla="val 234680"/>
              <a:gd name="adj3" fmla="val 10793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81 CuadroTexto"/>
          <p:cNvSpPr txBox="1"/>
          <p:nvPr/>
        </p:nvSpPr>
        <p:spPr>
          <a:xfrm>
            <a:off x="4539564" y="1340769"/>
            <a:ext cx="764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Falso</a:t>
            </a:r>
          </a:p>
        </p:txBody>
      </p:sp>
      <p:sp>
        <p:nvSpPr>
          <p:cNvPr id="88" name="87 CuadroTexto"/>
          <p:cNvSpPr txBox="1"/>
          <p:nvPr/>
        </p:nvSpPr>
        <p:spPr>
          <a:xfrm>
            <a:off x="4539564" y="3573017"/>
            <a:ext cx="764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Falso</a:t>
            </a:r>
          </a:p>
        </p:txBody>
      </p:sp>
      <p:sp>
        <p:nvSpPr>
          <p:cNvPr id="89" name="88 CuadroTexto"/>
          <p:cNvSpPr txBox="1"/>
          <p:nvPr/>
        </p:nvSpPr>
        <p:spPr>
          <a:xfrm>
            <a:off x="3575720" y="2348881"/>
            <a:ext cx="1143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Verdadero</a:t>
            </a:r>
          </a:p>
        </p:txBody>
      </p:sp>
      <p:sp>
        <p:nvSpPr>
          <p:cNvPr id="90" name="89 CuadroTexto"/>
          <p:cNvSpPr txBox="1"/>
          <p:nvPr/>
        </p:nvSpPr>
        <p:spPr>
          <a:xfrm>
            <a:off x="3510694" y="4635731"/>
            <a:ext cx="1143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Verdadero</a:t>
            </a:r>
          </a:p>
        </p:txBody>
      </p:sp>
      <p:pic>
        <p:nvPicPr>
          <p:cNvPr id="85" name="84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984" y="4774230"/>
            <a:ext cx="3600400" cy="1860757"/>
          </a:xfrm>
          <a:prstGeom prst="rect">
            <a:avLst/>
          </a:prstGeom>
        </p:spPr>
      </p:pic>
      <p:pic>
        <p:nvPicPr>
          <p:cNvPr id="86" name="85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5" y="1077405"/>
            <a:ext cx="2192065" cy="36857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Ejemplo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Crear un algoritmo que señale las tablas de multiplicar de un cierto número, en donde pueda elegir si continua revisando otra tabla de multiplicar.</a:t>
            </a:r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518" y="2569464"/>
            <a:ext cx="3577764" cy="3678936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264106"/>
            <a:ext cx="5468112" cy="22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19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2800" dirty="0">
                <a:latin typeface="+mn-lt"/>
                <a:cs typeface="+mn-cs"/>
              </a:rPr>
              <a:t>Creación de Menú</a:t>
            </a:r>
          </a:p>
        </p:txBody>
      </p:sp>
      <p:cxnSp>
        <p:nvCxnSpPr>
          <p:cNvPr id="3" name="2 Conector recto de flecha"/>
          <p:cNvCxnSpPr/>
          <p:nvPr/>
        </p:nvCxnSpPr>
        <p:spPr>
          <a:xfrm rot="5400000">
            <a:off x="3203555" y="1698521"/>
            <a:ext cx="785024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4 Rectángulo"/>
          <p:cNvSpPr/>
          <p:nvPr/>
        </p:nvSpPr>
        <p:spPr>
          <a:xfrm>
            <a:off x="2524100" y="2306538"/>
            <a:ext cx="2214578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Opción 1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524100" y="2949480"/>
            <a:ext cx="2214578" cy="35719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Opción N</a:t>
            </a:r>
          </a:p>
        </p:txBody>
      </p:sp>
      <p:cxnSp>
        <p:nvCxnSpPr>
          <p:cNvPr id="9" name="8 Conector recto"/>
          <p:cNvCxnSpPr>
            <a:stCxn id="5" idx="2"/>
            <a:endCxn id="6" idx="0"/>
          </p:cNvCxnSpPr>
          <p:nvPr/>
        </p:nvCxnSpPr>
        <p:spPr>
          <a:xfrm rot="5400000">
            <a:off x="3488513" y="2806604"/>
            <a:ext cx="285752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9 Decisión"/>
          <p:cNvSpPr/>
          <p:nvPr/>
        </p:nvSpPr>
        <p:spPr>
          <a:xfrm>
            <a:off x="2738415" y="4306802"/>
            <a:ext cx="1749437" cy="693834"/>
          </a:xfrm>
          <a:prstGeom prst="flowChartDecisi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EVALUA</a:t>
            </a:r>
          </a:p>
        </p:txBody>
      </p:sp>
      <p:cxnSp>
        <p:nvCxnSpPr>
          <p:cNvPr id="11" name="10 Conector recto de flecha"/>
          <p:cNvCxnSpPr/>
          <p:nvPr/>
        </p:nvCxnSpPr>
        <p:spPr>
          <a:xfrm rot="5400000">
            <a:off x="3203555" y="3770223"/>
            <a:ext cx="785024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4629" y="1714488"/>
            <a:ext cx="3400425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>
                <a:latin typeface="+mn-lt"/>
                <a:cs typeface="+mn-cs"/>
              </a:rPr>
              <a:t>Ejemplo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1752" y="3571876"/>
            <a:ext cx="4158184" cy="1843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1159" y="1071546"/>
            <a:ext cx="425767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78807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Otras acciones secuenciales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3 Rectángulo"/>
          <p:cNvSpPr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	Borrar Pantalla: Esta instrucción permite limpiar la pantalla y colocar el cursor en la esquina superior izquierda.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	Esperar tecla: Detiene el algoritmo hasta que el usuario presione una tecla cualquiera de su teclado.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099048" y="812851"/>
            <a:ext cx="5458968" cy="52322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019300" y="538956"/>
            <a:ext cx="8985250" cy="11183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Resumen - Conceptos aprendidos</a:t>
            </a: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204072" y="538956"/>
            <a:ext cx="550956" cy="749300"/>
          </a:xfrm>
          <a:prstGeom prst="rect">
            <a:avLst/>
          </a:prstGeom>
          <a:noFill/>
        </p:spPr>
      </p:pic>
      <p:sp>
        <p:nvSpPr>
          <p:cNvPr id="5" name="4 Rectángulo redondeado"/>
          <p:cNvSpPr/>
          <p:nvPr/>
        </p:nvSpPr>
        <p:spPr>
          <a:xfrm>
            <a:off x="1009650" y="1847849"/>
            <a:ext cx="9994900" cy="4254501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Se describió ciclo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Se describió sentencia repetitiva Mientras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Se describió sentencia repetitiva Repetir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Se describió sentencia repetitiva Para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Se aplicó sentencias repetitivas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 Se creó Menú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1129</Words>
  <Application>Microsoft Office PowerPoint</Application>
  <PresentationFormat>Panorámica</PresentationFormat>
  <Paragraphs>154</Paragraphs>
  <Slides>18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ＭＳ Ｐゴシック</vt:lpstr>
      <vt:lpstr>Aptos</vt:lpstr>
      <vt:lpstr>Aptos Display</vt:lpstr>
      <vt:lpstr>Arial</vt:lpstr>
      <vt:lpstr>Candara</vt:lpstr>
      <vt:lpstr>Verdana</vt:lpstr>
      <vt:lpstr>Wingdings</vt:lpstr>
      <vt:lpstr>Tema de Office</vt:lpstr>
      <vt:lpstr>Presentación de PowerPoint</vt:lpstr>
      <vt:lpstr>Objetivos</vt:lpstr>
      <vt:lpstr>¿Qué es un Ciclo?</vt:lpstr>
      <vt:lpstr>Presentación de PowerPoint</vt:lpstr>
      <vt:lpstr>Presentación de PowerPoint</vt:lpstr>
      <vt:lpstr>Mientras</vt:lpstr>
      <vt:lpstr>Presentación de PowerPoint</vt:lpstr>
      <vt:lpstr>Ejemplo</vt:lpstr>
      <vt:lpstr>Repetir</vt:lpstr>
      <vt:lpstr>Ejemplo</vt:lpstr>
      <vt:lpstr>Para</vt:lpstr>
      <vt:lpstr>Ejemplo</vt:lpstr>
      <vt:lpstr>Iteraciones Anidadas</vt:lpstr>
      <vt:lpstr>Ejemplo</vt:lpstr>
      <vt:lpstr>Creación de Menú</vt:lpstr>
      <vt:lpstr>Ejemplo</vt:lpstr>
      <vt:lpstr>Otras acciones secuenciales</vt:lpstr>
      <vt:lpstr>Resumen - Conceptos aprendidos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7</cp:revision>
  <dcterms:created xsi:type="dcterms:W3CDTF">2025-03-03T02:56:02Z</dcterms:created>
  <dcterms:modified xsi:type="dcterms:W3CDTF">2025-04-01T01:25:46Z</dcterms:modified>
</cp:coreProperties>
</file>