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9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36" r:id="rId14"/>
    <p:sldId id="337" r:id="rId15"/>
    <p:sldId id="338" r:id="rId16"/>
    <p:sldId id="327" r:id="rId17"/>
    <p:sldId id="328" r:id="rId18"/>
    <p:sldId id="329" r:id="rId19"/>
    <p:sldId id="333" r:id="rId20"/>
    <p:sldId id="335" r:id="rId21"/>
    <p:sldId id="334" r:id="rId22"/>
    <p:sldId id="339" r:id="rId2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73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76B46D-B06D-44D0-9AC9-60911C2B554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B6AE33-070D-4B5F-8436-B9ECA4BBEF11}">
      <dgm:prSet/>
      <dgm:spPr/>
      <dgm:t>
        <a:bodyPr/>
        <a:lstStyle/>
        <a:p>
          <a:r>
            <a:rPr lang="es-ES_tradnl"/>
            <a:t>Esta solución no resulta práctica y eficiente. Es necesario un nuevo tipo de datos  que permita tratar estos problemas de una manera más adecuada.</a:t>
          </a:r>
          <a:endParaRPr lang="en-US"/>
        </a:p>
      </dgm:t>
    </dgm:pt>
    <dgm:pt modelId="{04753C27-25C3-44FE-9019-B59721D523B9}" type="parTrans" cxnId="{7ABC2453-121D-474A-89A5-856DA1BCEE5E}">
      <dgm:prSet/>
      <dgm:spPr/>
      <dgm:t>
        <a:bodyPr/>
        <a:lstStyle/>
        <a:p>
          <a:endParaRPr lang="en-US"/>
        </a:p>
      </dgm:t>
    </dgm:pt>
    <dgm:pt modelId="{9D4B3F0E-6FE0-4056-8BAA-E1D675DD9D59}" type="sibTrans" cxnId="{7ABC2453-121D-474A-89A5-856DA1BCEE5E}">
      <dgm:prSet/>
      <dgm:spPr/>
      <dgm:t>
        <a:bodyPr/>
        <a:lstStyle/>
        <a:p>
          <a:endParaRPr lang="en-US"/>
        </a:p>
      </dgm:t>
    </dgm:pt>
    <dgm:pt modelId="{1FB47226-0EC3-4202-A162-26774803BCCC}">
      <dgm:prSet/>
      <dgm:spPr/>
      <dgm:t>
        <a:bodyPr/>
        <a:lstStyle/>
        <a:p>
          <a:r>
            <a:rPr lang="es-ES_tradnl"/>
            <a:t>Los tipos de datos estructurados que ayudan a resolver problemas como éste son los ARREGLOS.</a:t>
          </a:r>
          <a:endParaRPr lang="en-US"/>
        </a:p>
      </dgm:t>
    </dgm:pt>
    <dgm:pt modelId="{D8980EFA-15E6-48A3-A1AF-F589129AA4B9}" type="parTrans" cxnId="{34033A55-DCDD-4D9E-8275-D7E13BFF600C}">
      <dgm:prSet/>
      <dgm:spPr/>
      <dgm:t>
        <a:bodyPr/>
        <a:lstStyle/>
        <a:p>
          <a:endParaRPr lang="en-US"/>
        </a:p>
      </dgm:t>
    </dgm:pt>
    <dgm:pt modelId="{4C177814-A659-4C1D-B725-8B30EF6710F6}" type="sibTrans" cxnId="{34033A55-DCDD-4D9E-8275-D7E13BFF600C}">
      <dgm:prSet/>
      <dgm:spPr/>
      <dgm:t>
        <a:bodyPr/>
        <a:lstStyle/>
        <a:p>
          <a:endParaRPr lang="en-US"/>
        </a:p>
      </dgm:t>
    </dgm:pt>
    <dgm:pt modelId="{5DA2C885-7CAB-4597-89FA-813FFBD9B1C9}" type="pres">
      <dgm:prSet presAssocID="{8B76B46D-B06D-44D0-9AC9-60911C2B55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F16B3A-EF71-46AE-B2C5-8AB83C9F9352}" type="pres">
      <dgm:prSet presAssocID="{63B6AE33-070D-4B5F-8436-B9ECA4BBEF11}" presName="hierRoot1" presStyleCnt="0"/>
      <dgm:spPr/>
    </dgm:pt>
    <dgm:pt modelId="{B9E3CFF7-BBBA-437E-9176-430E67B72013}" type="pres">
      <dgm:prSet presAssocID="{63B6AE33-070D-4B5F-8436-B9ECA4BBEF11}" presName="composite" presStyleCnt="0"/>
      <dgm:spPr/>
    </dgm:pt>
    <dgm:pt modelId="{DBF5DDEF-F906-4483-BFFC-3D4974BCD4D1}" type="pres">
      <dgm:prSet presAssocID="{63B6AE33-070D-4B5F-8436-B9ECA4BBEF11}" presName="background" presStyleLbl="node0" presStyleIdx="0" presStyleCnt="2"/>
      <dgm:spPr/>
    </dgm:pt>
    <dgm:pt modelId="{4176093E-7C40-48F3-BA3A-C909CFFD6085}" type="pres">
      <dgm:prSet presAssocID="{63B6AE33-070D-4B5F-8436-B9ECA4BBEF11}" presName="text" presStyleLbl="fgAcc0" presStyleIdx="0" presStyleCnt="2">
        <dgm:presLayoutVars>
          <dgm:chPref val="3"/>
        </dgm:presLayoutVars>
      </dgm:prSet>
      <dgm:spPr/>
    </dgm:pt>
    <dgm:pt modelId="{44ACF60B-C60C-486F-9191-A0177376E7BC}" type="pres">
      <dgm:prSet presAssocID="{63B6AE33-070D-4B5F-8436-B9ECA4BBEF11}" presName="hierChild2" presStyleCnt="0"/>
      <dgm:spPr/>
    </dgm:pt>
    <dgm:pt modelId="{11BCF54D-8E97-4D89-86E0-9ABF9C469486}" type="pres">
      <dgm:prSet presAssocID="{1FB47226-0EC3-4202-A162-26774803BCCC}" presName="hierRoot1" presStyleCnt="0"/>
      <dgm:spPr/>
    </dgm:pt>
    <dgm:pt modelId="{2B443C56-4803-4533-B5D6-A648728FBDBF}" type="pres">
      <dgm:prSet presAssocID="{1FB47226-0EC3-4202-A162-26774803BCCC}" presName="composite" presStyleCnt="0"/>
      <dgm:spPr/>
    </dgm:pt>
    <dgm:pt modelId="{2F67F4DD-4E4F-4B23-8E48-EB215CF4B059}" type="pres">
      <dgm:prSet presAssocID="{1FB47226-0EC3-4202-A162-26774803BCCC}" presName="background" presStyleLbl="node0" presStyleIdx="1" presStyleCnt="2"/>
      <dgm:spPr/>
    </dgm:pt>
    <dgm:pt modelId="{787036BA-CFD6-49C2-BA52-B7C239FF498D}" type="pres">
      <dgm:prSet presAssocID="{1FB47226-0EC3-4202-A162-26774803BCCC}" presName="text" presStyleLbl="fgAcc0" presStyleIdx="1" presStyleCnt="2">
        <dgm:presLayoutVars>
          <dgm:chPref val="3"/>
        </dgm:presLayoutVars>
      </dgm:prSet>
      <dgm:spPr/>
    </dgm:pt>
    <dgm:pt modelId="{843347D4-74BF-4C63-B8A4-C55AB3D6944B}" type="pres">
      <dgm:prSet presAssocID="{1FB47226-0EC3-4202-A162-26774803BCCC}" presName="hierChild2" presStyleCnt="0"/>
      <dgm:spPr/>
    </dgm:pt>
  </dgm:ptLst>
  <dgm:cxnLst>
    <dgm:cxn modelId="{7ABC2453-121D-474A-89A5-856DA1BCEE5E}" srcId="{8B76B46D-B06D-44D0-9AC9-60911C2B5549}" destId="{63B6AE33-070D-4B5F-8436-B9ECA4BBEF11}" srcOrd="0" destOrd="0" parTransId="{04753C27-25C3-44FE-9019-B59721D523B9}" sibTransId="{9D4B3F0E-6FE0-4056-8BAA-E1D675DD9D59}"/>
    <dgm:cxn modelId="{64406F74-B053-4409-8815-923D2C1C4797}" type="presOf" srcId="{1FB47226-0EC3-4202-A162-26774803BCCC}" destId="{787036BA-CFD6-49C2-BA52-B7C239FF498D}" srcOrd="0" destOrd="0" presId="urn:microsoft.com/office/officeart/2005/8/layout/hierarchy1"/>
    <dgm:cxn modelId="{34033A55-DCDD-4D9E-8275-D7E13BFF600C}" srcId="{8B76B46D-B06D-44D0-9AC9-60911C2B5549}" destId="{1FB47226-0EC3-4202-A162-26774803BCCC}" srcOrd="1" destOrd="0" parTransId="{D8980EFA-15E6-48A3-A1AF-F589129AA4B9}" sibTransId="{4C177814-A659-4C1D-B725-8B30EF6710F6}"/>
    <dgm:cxn modelId="{2BC4CA76-EC79-4751-A334-D91AFDBFAE9F}" type="presOf" srcId="{8B76B46D-B06D-44D0-9AC9-60911C2B5549}" destId="{5DA2C885-7CAB-4597-89FA-813FFBD9B1C9}" srcOrd="0" destOrd="0" presId="urn:microsoft.com/office/officeart/2005/8/layout/hierarchy1"/>
    <dgm:cxn modelId="{E6F23AD4-01AE-4953-B8D8-C4430D894C1D}" type="presOf" srcId="{63B6AE33-070D-4B5F-8436-B9ECA4BBEF11}" destId="{4176093E-7C40-48F3-BA3A-C909CFFD6085}" srcOrd="0" destOrd="0" presId="urn:microsoft.com/office/officeart/2005/8/layout/hierarchy1"/>
    <dgm:cxn modelId="{4007418C-486E-46BF-B1F9-A85803A4D040}" type="presParOf" srcId="{5DA2C885-7CAB-4597-89FA-813FFBD9B1C9}" destId="{8FF16B3A-EF71-46AE-B2C5-8AB83C9F9352}" srcOrd="0" destOrd="0" presId="urn:microsoft.com/office/officeart/2005/8/layout/hierarchy1"/>
    <dgm:cxn modelId="{E5FF600D-F7C4-4D7A-B210-DF98BAF4B2D1}" type="presParOf" srcId="{8FF16B3A-EF71-46AE-B2C5-8AB83C9F9352}" destId="{B9E3CFF7-BBBA-437E-9176-430E67B72013}" srcOrd="0" destOrd="0" presId="urn:microsoft.com/office/officeart/2005/8/layout/hierarchy1"/>
    <dgm:cxn modelId="{037A29F1-BE55-4889-BEAB-B418865F46E6}" type="presParOf" srcId="{B9E3CFF7-BBBA-437E-9176-430E67B72013}" destId="{DBF5DDEF-F906-4483-BFFC-3D4974BCD4D1}" srcOrd="0" destOrd="0" presId="urn:microsoft.com/office/officeart/2005/8/layout/hierarchy1"/>
    <dgm:cxn modelId="{FF18BAD7-A0B0-4C57-8DF4-02E400E116D3}" type="presParOf" srcId="{B9E3CFF7-BBBA-437E-9176-430E67B72013}" destId="{4176093E-7C40-48F3-BA3A-C909CFFD6085}" srcOrd="1" destOrd="0" presId="urn:microsoft.com/office/officeart/2005/8/layout/hierarchy1"/>
    <dgm:cxn modelId="{72BAE6C5-5C56-49CB-8A4E-160B923F3E04}" type="presParOf" srcId="{8FF16B3A-EF71-46AE-B2C5-8AB83C9F9352}" destId="{44ACF60B-C60C-486F-9191-A0177376E7BC}" srcOrd="1" destOrd="0" presId="urn:microsoft.com/office/officeart/2005/8/layout/hierarchy1"/>
    <dgm:cxn modelId="{36A6C2CD-1714-472A-B9C4-8FEF998EBA4F}" type="presParOf" srcId="{5DA2C885-7CAB-4597-89FA-813FFBD9B1C9}" destId="{11BCF54D-8E97-4D89-86E0-9ABF9C469486}" srcOrd="1" destOrd="0" presId="urn:microsoft.com/office/officeart/2005/8/layout/hierarchy1"/>
    <dgm:cxn modelId="{74C60737-C164-4199-B56B-522F1766A4D0}" type="presParOf" srcId="{11BCF54D-8E97-4D89-86E0-9ABF9C469486}" destId="{2B443C56-4803-4533-B5D6-A648728FBDBF}" srcOrd="0" destOrd="0" presId="urn:microsoft.com/office/officeart/2005/8/layout/hierarchy1"/>
    <dgm:cxn modelId="{9FD00C4E-6C18-4632-9038-392203A8E5FE}" type="presParOf" srcId="{2B443C56-4803-4533-B5D6-A648728FBDBF}" destId="{2F67F4DD-4E4F-4B23-8E48-EB215CF4B059}" srcOrd="0" destOrd="0" presId="urn:microsoft.com/office/officeart/2005/8/layout/hierarchy1"/>
    <dgm:cxn modelId="{A2CA2918-2728-4670-975C-FD02C30596DB}" type="presParOf" srcId="{2B443C56-4803-4533-B5D6-A648728FBDBF}" destId="{787036BA-CFD6-49C2-BA52-B7C239FF498D}" srcOrd="1" destOrd="0" presId="urn:microsoft.com/office/officeart/2005/8/layout/hierarchy1"/>
    <dgm:cxn modelId="{D63DC708-BD2E-4165-B94B-AF4E4AC7DD36}" type="presParOf" srcId="{11BCF54D-8E97-4D89-86E0-9ABF9C469486}" destId="{843347D4-74BF-4C63-B8A4-C55AB3D694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5DDEF-F906-4483-BFFC-3D4974BCD4D1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6093E-7C40-48F3-BA3A-C909CFFD608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900" kern="1200"/>
            <a:t>Esta solución no resulta práctica y eficiente. Es necesario un nuevo tipo de datos  que permita tratar estos problemas de una manera más adecuada.</a:t>
          </a:r>
          <a:endParaRPr lang="en-US" sz="2900" kern="1200"/>
        </a:p>
      </dsp:txBody>
      <dsp:txXfrm>
        <a:off x="608661" y="692298"/>
        <a:ext cx="4508047" cy="2799040"/>
      </dsp:txXfrm>
    </dsp:sp>
    <dsp:sp modelId="{2F67F4DD-4E4F-4B23-8E48-EB215CF4B059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036BA-CFD6-49C2-BA52-B7C239FF498D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900" kern="1200"/>
            <a:t>Los tipos de datos estructurados que ayudan a resolver problemas como éste son los ARREGLOS.</a:t>
          </a:r>
          <a:endParaRPr lang="en-US" sz="2900" kern="1200"/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E295C87-E7C9-2F5D-CB80-976FEF10A2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310F09-9BDA-DD4D-0A77-D0E0CC131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D27C1-A5AD-4BE3-B0DA-5A8DFA6308C5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3EAFF0-3767-49FE-1B80-5F428747D0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00602E-5F59-F1F5-D0E0-9DB2D48B5E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68B2A-3DF5-4307-B323-BD16FCB3CDF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5177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E8A10-D727-4178-9F85-369A660D8665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BD47C-42A0-4864-8123-7994490E49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48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7</a:t>
            </a:fld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baseline="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CL" smtClean="0"/>
              <a:pPr/>
              <a:t>22</a:t>
            </a:fld>
            <a:endParaRPr lang="es-CL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34A58-7118-6775-3A4E-5C2D28A0E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B311DE-94C9-F3FA-775A-551658502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E27089-8567-C504-A023-F079AA07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9EB7FB-FF84-A608-0E49-BB2FD114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778B7-768F-4913-FBBA-BA370AE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850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C990C-7E58-7A8B-54DF-69ED94E2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0313AB-ADAE-0B6B-8B60-DA4395437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5E0E8-1FE5-2852-EE4F-DE6C3438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A4A64-2EA9-28E3-2B23-DD5D0CF7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604E8-B245-95AD-5EED-EBB32D25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470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CEC80-021A-AC44-3438-0F21DB96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BA45A6-FF18-B6A2-B5C4-ED2F5BFE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F8DD4-540D-9018-872B-7E459A91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8D647C-51D9-B4B7-38DA-73015C0B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F5DE53-57AA-5B9B-1EF2-C0BF348E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068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D62E3-26AB-D36B-3A83-8C7E23F5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8362E-7A09-AA55-0254-C69833D34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CE6FE3-3C64-E72A-7F44-08FFE4CC3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6482E6-F35B-8EB9-2ED8-37329AD6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94F689-6794-4E11-00E6-CC22611C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F9F050-B1F8-B3B7-0A1A-0B294243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231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472E4-006C-375E-0B18-45348130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EC51E9-828F-E351-2D6A-1CD4782A7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28A40-14C9-E200-B5BD-233420684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630129-456E-6949-614B-B33169470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5C0D87-ACE0-827D-9D9A-0591C1EF4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8FB0F0-4309-2B03-D7A6-38F03641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27C96AD-A272-BCA0-060F-B378B8AE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388B39-0FC0-A255-E49C-7843AEE3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730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48D1F-FE64-E174-9E5B-272A4F74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3488B8-DFCB-8258-6E38-6ABC0042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EA4386-B372-4842-BBF3-7BCEB934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71E515-2E3E-A213-2193-8F028DB3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10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98B507-22C1-77F3-1BEE-8FBE37B0A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73EA01-DFAF-5118-3AC7-E1A812A9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B360B9-63EF-FD2E-27D2-31BBAFC6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106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2BC58-1B71-52C9-D0C3-1BAA2E1A4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E5219F-2C41-6667-9591-32B836D0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9ADB86-F016-E554-DC92-3CC541A01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2122E2-92AE-5A6A-71E3-9F23A2AC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CD53F3-AC53-7C1D-26BD-E281FC77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0C2D3D-281D-1F9F-C676-1B274385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127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18E98-60F1-CC38-E130-55CC6A59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A92DB1-C153-DC3A-FE05-EB5A99C72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ECC43C-C01A-2FBF-D75B-ABF12AF06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7678BC-5D02-0338-B53B-C9CD26EE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E75F06-C350-D139-F1FB-E5768ADE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909B2C-2372-EC01-1F04-5747110B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07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A26F2-7677-4DC7-C1CA-96FFAEFD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964FD1-B53D-49EA-56EE-F8CA96472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9158-F381-CF85-DDA1-E26A164D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E2337B-3ACE-28F8-EB59-54A73F6B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5BA52D-BAE6-3DF0-9EA6-A236BFCD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51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A0E977-BB0D-54B7-D1D0-71A2E09FB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743499-DB8A-61E0-0AC6-1326313E4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C7CBE1-0598-5370-E961-DA25B859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0A1D84-1FC2-A0DD-6194-334E1790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55205D-F8EE-6866-F7C7-D99A2A6C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7250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2EB3-0EDA-4ED9-9536-B32CA2814CB2}" type="datetimeFigureOut">
              <a:rPr lang="es-CL" smtClean="0"/>
              <a:pPr/>
              <a:t>31-03-2025</a:t>
            </a:fld>
            <a:endParaRPr lang="es-CL" dirty="0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81E1-065B-41FA-A93E-2D40791BFEEB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3723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9DCA9B-CBAD-8B8B-DF58-ADDAF60B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AE67BF-B24E-3BF3-4867-0017D789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44CFC5-2869-5BBF-D5C6-F45E67185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C7A9D6-68D9-94E9-3F79-F3544E200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47B5C2-FE86-C9D8-7D1E-658F73195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72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C0CDF87-1BAB-BB67-ED9A-27A1B570C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53856"/>
          </a:xfrm>
        </p:spPr>
        <p:txBody>
          <a:bodyPr>
            <a:normAutofit/>
          </a:bodyPr>
          <a:lstStyle/>
          <a:p>
            <a:r>
              <a:rPr lang="es-CL" sz="3600" b="1" noProof="0" dirty="0">
                <a:latin typeface="Candara"/>
                <a:cs typeface="Candara"/>
              </a:rPr>
              <a:t>TALLER DE 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E751EE-16EE-18E1-6CB1-144C4CBF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87" y="1427162"/>
            <a:ext cx="40862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4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1912615" y="1236865"/>
            <a:ext cx="6705251" cy="26887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endParaRPr lang="en-US" sz="40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de </a:t>
            </a:r>
            <a:r>
              <a:rPr lang="en-US" sz="4000" b="1" kern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Aprendizaje</a:t>
            </a:r>
            <a:r>
              <a:rPr lang="en-US" sz="4000" b="1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sz="4000" kern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Arreglos</a:t>
            </a:r>
            <a:endParaRPr lang="en-US" sz="40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40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40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6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2 Título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 Rectángulo redondeado"/>
          <p:cNvSpPr/>
          <p:nvPr/>
        </p:nvSpPr>
        <p:spPr>
          <a:xfrm>
            <a:off x="640080" y="2872899"/>
            <a:ext cx="4243589" cy="3320668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 Describir arreglos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 Aplicar arreglos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olidFill>
                <a:schemeClr val="tx1"/>
              </a:solidFill>
            </a:endParaRPr>
          </a:p>
        </p:txBody>
      </p:sp>
      <p:pic>
        <p:nvPicPr>
          <p:cNvPr id="4" name="Picture 2" descr="http://miriamrochadiaz.files.wordpress.com/2013/01/trabajo-en-equipo2.jpg"/>
          <p:cNvPicPr>
            <a:picLocks noChangeAspect="1" noChangeArrowheads="1"/>
          </p:cNvPicPr>
          <p:nvPr/>
        </p:nvPicPr>
        <p:blipFill>
          <a:blip r:embed="rId2" cstate="print"/>
          <a:srcRect t="167" b="135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1843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 descr="http://t2.gstatic.com/images?q=tbn:ANd9GcSLkwPXq2CxBZisePukNP3UoppS1RtjVsP-ALvsljgpOo3u5SIG"/>
          <p:cNvPicPr>
            <a:picLocks noChangeAspect="1" noChangeArrowheads="1"/>
          </p:cNvPicPr>
          <p:nvPr/>
        </p:nvPicPr>
        <p:blipFill>
          <a:blip r:embed="rId2" cstate="print"/>
          <a:srcRect l="16469" r="14895" b="-1"/>
          <a:stretch/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</p:spPr>
      </p:pic>
      <p:grpSp>
        <p:nvGrpSpPr>
          <p:cNvPr id="18442" name="Group 1844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8443" name="Freeform: Shape 1844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444" name="Freeform: Shape 1844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CL" sz="2000">
                <a:solidFill>
                  <a:schemeClr val="bg1"/>
                </a:solidFill>
              </a:rPr>
              <a:t>	</a:t>
            </a:r>
            <a:r>
              <a:rPr lang="es-ES_tradnl" sz="2000">
                <a:solidFill>
                  <a:schemeClr val="bg1"/>
                </a:solidFill>
              </a:rPr>
              <a:t>Con frecuencia nos podemos enfrentar a problemas cuya solución es muy difícil de implementar, si utilizamos tipos simples de datos.</a:t>
            </a:r>
          </a:p>
          <a:p>
            <a:pPr marL="457200" indent="-457200">
              <a:buNone/>
            </a:pPr>
            <a:r>
              <a:rPr lang="es-ES_tradnl" sz="2000">
                <a:solidFill>
                  <a:schemeClr val="bg1"/>
                </a:solidFill>
              </a:rPr>
              <a:t>	Por otra parte, podemos encontrar una buena solución al problema utilizando tipos estructurados de datos.</a:t>
            </a:r>
          </a:p>
          <a:p>
            <a:pPr marL="457200" indent="-457200">
              <a:buNone/>
            </a:pPr>
            <a:r>
              <a:rPr lang="es-ES_tradnl" sz="2000">
                <a:solidFill>
                  <a:schemeClr val="bg1"/>
                </a:solidFill>
              </a:rPr>
              <a:t>	Ejemplo:</a:t>
            </a:r>
          </a:p>
          <a:p>
            <a:pPr marL="457200" indent="-457200">
              <a:buNone/>
            </a:pPr>
            <a:r>
              <a:rPr lang="es-ES_tradnl" sz="2000">
                <a:solidFill>
                  <a:schemeClr val="bg1"/>
                </a:solidFill>
              </a:rPr>
              <a:t>	Se tienen los sueldos de un grupo de 70 empleados de una empresa, y necesitamos saber cuántos de estos empleados tienen un sueldo superior al promedio del grupo.</a:t>
            </a:r>
            <a:endParaRPr lang="es-ES" sz="2000">
              <a:solidFill>
                <a:schemeClr val="bg1"/>
              </a:solidFill>
            </a:endParaRPr>
          </a:p>
        </p:txBody>
      </p:sp>
      <p:grpSp>
        <p:nvGrpSpPr>
          <p:cNvPr id="1844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8447" name="Freeform: Shape 1844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48" name="Freeform: Shape 1844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49" name="Freeform: Shape 1844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50" name="Freeform: Shape 1844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51" name="Freeform: Shape 1845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984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45" name="Rectangle 2253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4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CL" sz="22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endParaRPr lang="es-ES" sz="22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 r="19833" b="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958942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1" name="Rectangle 184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3" name="Rectangle 184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5" name="Rectangle 184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7" name="Rectangle 184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8437" name="2 Marcador de contenido">
            <a:extLst>
              <a:ext uri="{FF2B5EF4-FFF2-40B4-BE49-F238E27FC236}">
                <a16:creationId xmlns:a16="http://schemas.microsoft.com/office/drawing/2014/main" id="{F991998C-1B02-35DB-75BB-AF6A8361A8D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9390759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56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Grp="1"/>
          </p:cNvSpPr>
          <p:nvPr>
            <p:ph idx="1"/>
          </p:nvPr>
        </p:nvSpPr>
        <p:spPr bwMode="auto">
          <a:xfrm>
            <a:off x="1616299" y="683750"/>
            <a:ext cx="4104456" cy="1023933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>
              <a:defRPr/>
            </a:pPr>
            <a:r>
              <a:rPr lang="es-CL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pPr>
              <a:buNone/>
              <a:defRPr/>
            </a:pPr>
            <a:r>
              <a:rPr lang="es-CL" dirty="0">
                <a:solidFill>
                  <a:schemeClr val="tx2">
                    <a:lumMod val="50000"/>
                  </a:schemeClr>
                </a:solidFill>
              </a:rPr>
              <a:t>¿Qué es un Arreglo?</a:t>
            </a:r>
            <a:endParaRPr lang="es-ES_tradnl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buNone/>
              <a:defRPr/>
            </a:pPr>
            <a:endParaRPr lang="es-ES_tradnl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None/>
              <a:defRPr/>
            </a:pPr>
            <a:endParaRPr lang="es-ES_tradnl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None/>
              <a:defRPr/>
            </a:pPr>
            <a:endParaRPr lang="es-ES_tradnl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None/>
              <a:defRPr/>
            </a:pPr>
            <a:endParaRPr lang="es-ES_tradnl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9" name="Picture 2" descr="http://tranquilacion.files.wordpress.com/2011/01/pregunta1.jpg?w=64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078" y="2069794"/>
            <a:ext cx="4104456" cy="41044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93" name="Rectangle 2458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594" name="Arc 2458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95" name="Freeform: Shape 2458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4578" name="Picture 2" descr="http://t0.gstatic.com/images?q=tbn:ANd9GcQgelVcv8iyQFVKSOEI9uIEmyApF8nYn-V_dXWF3K1YPma1kP0y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703182" y="1760322"/>
            <a:ext cx="4777381" cy="316761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</p:spPr>
      </p:pic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CL" sz="18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1800"/>
              <a:t>Un arreglo se define como una colección finita, homogénea  y ordenada de elementos.</a:t>
            </a:r>
          </a:p>
          <a:p>
            <a:pPr marL="457200" indent="-457200">
              <a:buNone/>
            </a:pPr>
            <a:r>
              <a:rPr lang="es-ES_tradnl" sz="1800"/>
              <a:t>	Finita: todo arreglo tiene un límite, es decir, se debe determinar cuál será el número máximo de elementos que podrán formar parte del arreglo.</a:t>
            </a:r>
          </a:p>
          <a:p>
            <a:pPr marL="457200" indent="-457200">
              <a:buNone/>
            </a:pPr>
            <a:r>
              <a:rPr lang="es-ES_tradnl" sz="1800"/>
              <a:t>	Homogénea: todos los elementos de arreglo son del mismo tipo, ejemplo: arreglo de enteros, arreglo de booleanos, etc., pero nunca una combinación de distintos tipo.</a:t>
            </a:r>
          </a:p>
          <a:p>
            <a:pPr marL="457200" indent="-457200">
              <a:buNone/>
            </a:pPr>
            <a:r>
              <a:rPr lang="es-ES_tradnl" sz="1800"/>
              <a:t>	Ordenada: se puede determinar cuál es el primer elemento, el segundo elemento, …,  el n-ésimo elemento.</a:t>
            </a:r>
          </a:p>
          <a:p>
            <a:pPr marL="457200" indent="-457200">
              <a:buNone/>
            </a:pPr>
            <a:endParaRPr lang="es-ES" sz="18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18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67" name="Rectangle 2355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554" name="Picture 2" descr="http://t3.gstatic.com/images?q=tbn:ANd9GcTkmByR33zVwpjq7sm0rnsEGkEBknk1GP-flFaqu__sXCIeddEI4A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835024" y="2382967"/>
            <a:ext cx="5260976" cy="2672241"/>
          </a:xfrm>
          <a:prstGeom prst="rect">
            <a:avLst/>
          </a:prstGeom>
          <a:noFill/>
        </p:spPr>
      </p:pic>
      <p:sp>
        <p:nvSpPr>
          <p:cNvPr id="10" name="2 Marcador de contenido"/>
          <p:cNvSpPr>
            <a:spLocks noGrp="1"/>
          </p:cNvSpPr>
          <p:nvPr>
            <p:ph sz="quarter" idx="1"/>
          </p:nvPr>
        </p:nvSpPr>
        <p:spPr>
          <a:xfrm>
            <a:off x="6981824" y="3146400"/>
            <a:ext cx="4391025" cy="2454300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CL" sz="2400" b="1">
                <a:solidFill>
                  <a:schemeClr val="bg1">
                    <a:alpha val="8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2400">
                <a:solidFill>
                  <a:schemeClr val="bg1">
                    <a:alpha val="80000"/>
                  </a:schemeClr>
                </a:solidFill>
              </a:rPr>
              <a:t>Un arreglo tiene la característica que puede almacenar a N elementos del mismo tipo y además permite el acceso a cada uno de estos elementos.</a:t>
            </a:r>
            <a:endParaRPr lang="es-ES" sz="24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89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41" name="Rectangle 2663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4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457200" indent="-457200">
              <a:buNone/>
            </a:pPr>
            <a:r>
              <a:rPr lang="es-CL" sz="20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2000"/>
              <a:t>Los arreglos tienen dos partes:</a:t>
            </a:r>
          </a:p>
          <a:p>
            <a:pPr marL="457200" indent="-457200">
              <a:buNone/>
            </a:pPr>
            <a:endParaRPr lang="es-ES_tradnl" sz="2000"/>
          </a:p>
          <a:p>
            <a:pPr marL="1257300" lvl="2" indent="-457200">
              <a:buFont typeface="Wingdings" pitchFamily="2" charset="2"/>
              <a:buChar char="§"/>
            </a:pPr>
            <a:r>
              <a:rPr lang="es-ES_tradnl"/>
              <a:t>Los componentes </a:t>
            </a:r>
          </a:p>
          <a:p>
            <a:pPr marL="1257300" lvl="2" indent="-457200">
              <a:buFont typeface="Wingdings" pitchFamily="2" charset="2"/>
              <a:buChar char="§"/>
            </a:pPr>
            <a:r>
              <a:rPr lang="es-ES_tradnl"/>
              <a:t>Los índices	</a:t>
            </a:r>
            <a:r>
              <a:rPr lang="es-ES_tradnl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endParaRPr lang="es-ES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30936" y="3015050"/>
            <a:ext cx="10917936" cy="25111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102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0" name="Rectangle 1843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2" name="Rectangle 1844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4" name="Rectangle 1844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6" name="Rectangle 1844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8" name="Rectangle 1844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457200" indent="-457200">
              <a:buNone/>
            </a:pPr>
            <a:r>
              <a:rPr lang="es-CL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endParaRPr lang="es-ES_tradnl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257300" lvl="2" indent="-457200">
              <a:buFont typeface="Wingdings" pitchFamily="2" charset="2"/>
              <a:buChar char="§"/>
            </a:pPr>
            <a:r>
              <a:rPr lang="es-ES_tradnl"/>
              <a:t>Los componentes:  son los elementos que conforman el arreglo, es decir, los valores que se almacenan en cada uno de las casillas del mismo.</a:t>
            </a:r>
          </a:p>
          <a:p>
            <a:pPr marL="1257300" lvl="2" indent="-457200">
              <a:buNone/>
            </a:pPr>
            <a:r>
              <a:rPr lang="es-ES_tradnl"/>
              <a:t>	Ejemplo: cada uno de los 70 sueldos será un componente de un arreglo “sueldos”.</a:t>
            </a:r>
          </a:p>
          <a:p>
            <a:pPr marL="1257300" lvl="2" indent="-457200">
              <a:buNone/>
            </a:pPr>
            <a:endParaRPr lang="es-ES_tradnl"/>
          </a:p>
          <a:p>
            <a:pPr marL="1257300" lvl="2" indent="-457200">
              <a:buFont typeface="Wingdings" pitchFamily="2" charset="2"/>
              <a:buChar char="§"/>
            </a:pPr>
            <a:r>
              <a:rPr lang="es-ES_tradnl"/>
              <a:t>Los índices: especifican cuántos elementos tendrá el arreglo y además, de que modo podrán accesarse esos componentes. Permiten hacer referencia a los componentes del arreglo en forma individual.	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7268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55" name="Rectangle 27654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7" name="Freeform: Shape 27656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6968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659" name="Freeform: Shape 27658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5753" y="6027658"/>
            <a:ext cx="7906247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650" name="Picture 2" descr="http://t3.gstatic.com/images?q=tbn:ANd9GcTRbErQyqmQhooxdP3o-oy78oAgZApPsJyEl-voX1L-gduaANb_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430989" y="1180530"/>
            <a:ext cx="2614895" cy="4922157"/>
          </a:xfrm>
          <a:prstGeom prst="rect">
            <a:avLst/>
          </a:prstGeom>
          <a:noFill/>
        </p:spPr>
      </p:pic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5381625" y="2194101"/>
            <a:ext cx="5816362" cy="3908587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CL" sz="2000"/>
              <a:t>	</a:t>
            </a:r>
            <a:r>
              <a:rPr lang="es-ES_tradnl" sz="2000"/>
              <a:t>Para hacer referencia a un elemento de un arreglo se utiliza:</a:t>
            </a:r>
          </a:p>
          <a:p>
            <a:pPr marL="3086100" lvl="6" indent="-457200">
              <a:buFont typeface="Wingdings" pitchFamily="2" charset="2"/>
              <a:buChar char="ü"/>
            </a:pPr>
            <a:r>
              <a:rPr lang="es-ES_tradnl" sz="2000">
                <a:ea typeface="ＭＳ Ｐゴシック" charset="-128"/>
              </a:rPr>
              <a:t>El nombre del arreglo</a:t>
            </a:r>
          </a:p>
          <a:p>
            <a:pPr marL="3086100" lvl="6" indent="-457200">
              <a:buFont typeface="Wingdings" pitchFamily="2" charset="2"/>
              <a:buChar char="ü"/>
            </a:pPr>
            <a:r>
              <a:rPr lang="es-ES_tradnl" sz="2000">
                <a:ea typeface="ＭＳ Ｐゴシック" charset="-128"/>
              </a:rPr>
              <a:t>El índice del elemento</a:t>
            </a:r>
            <a:r>
              <a:rPr lang="es-ES_tradnl" sz="2000" b="1"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20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endParaRPr lang="es-ES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03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6968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5753" y="6027658"/>
            <a:ext cx="7906247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723899" y="2276760"/>
            <a:ext cx="4029075" cy="2729697"/>
          </a:xfrm>
          <a:prstGeom prst="rect">
            <a:avLst/>
          </a:prstGeom>
          <a:noFill/>
        </p:spPr>
      </p:pic>
      <p:sp>
        <p:nvSpPr>
          <p:cNvPr id="5" name="4 Llamada ovalada"/>
          <p:cNvSpPr/>
          <p:nvPr/>
        </p:nvSpPr>
        <p:spPr>
          <a:xfrm>
            <a:off x="5381625" y="2194101"/>
            <a:ext cx="5816362" cy="3908587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schemeClr val="tx1"/>
                </a:solidFill>
              </a:rPr>
              <a:t>¿cómo se declara un arreglo?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703" name="Rectangle 2970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05" name="Freeform: Shape 2970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CL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2000"/>
              <a:t>Definición</a:t>
            </a:r>
          </a:p>
          <a:p>
            <a:pPr marL="457200" indent="-457200">
              <a:buNone/>
            </a:pPr>
            <a:r>
              <a:rPr lang="es-ES_tradnl" sz="2000"/>
              <a:t>	Para poder utilizar arreglos, es obligatorio su dimensionamiento, es decir, declarar los rangos de sus sub-índices, lo cuál determina cuántos elementos se almacenarán y como se accederán  a los mismos.</a:t>
            </a:r>
          </a:p>
          <a:p>
            <a:pPr marL="457200" indent="-457200">
              <a:buNone/>
            </a:pPr>
            <a:r>
              <a:rPr lang="es-ES_tradnl" sz="2000"/>
              <a:t>	La instrucción Dimensión, permite declarar un arreglo, indicando sus dimensiones:</a:t>
            </a:r>
            <a:endParaRPr lang="es-ES" sz="2000"/>
          </a:p>
        </p:txBody>
      </p:sp>
      <p:pic>
        <p:nvPicPr>
          <p:cNvPr id="29698" name="Picture 2" descr="Texto&#10;&#10;El contenido generado por IA puede ser incorrecto.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719367" y="2913392"/>
            <a:ext cx="4788505" cy="2298958"/>
          </a:xfrm>
          <a:prstGeom prst="rect">
            <a:avLst/>
          </a:prstGeom>
          <a:noFill/>
        </p:spPr>
      </p:pic>
      <p:sp>
        <p:nvSpPr>
          <p:cNvPr id="29707" name="Freeform: Shape 2970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9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1487488" y="1124745"/>
            <a:ext cx="8784976" cy="4873625"/>
          </a:xfrm>
        </p:spPr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s-CL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dirty="0">
                <a:solidFill>
                  <a:schemeClr val="tx2">
                    <a:lumMod val="50000"/>
                  </a:schemeClr>
                </a:solidFill>
              </a:rPr>
              <a:t>Para N dimensiones:</a:t>
            </a:r>
          </a:p>
          <a:p>
            <a:pPr marL="457200" indent="-457200" algn="just">
              <a:buNone/>
            </a:pPr>
            <a:endParaRPr lang="es-ES_tradnl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 algn="just">
              <a:buNone/>
            </a:pPr>
            <a:endParaRPr lang="es-ES_tradnl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 algn="just">
              <a:buNone/>
            </a:pPr>
            <a:r>
              <a:rPr lang="es-ES_tradnl" dirty="0">
                <a:solidFill>
                  <a:schemeClr val="tx2">
                    <a:lumMod val="50000"/>
                  </a:schemeClr>
                </a:solidFill>
              </a:rPr>
              <a:t>	Se pueden declarar más de un arreglo en una misma instrucción, separados por una coma:</a:t>
            </a:r>
          </a:p>
          <a:p>
            <a:pPr marL="457200" indent="-457200" algn="just">
              <a:buNone/>
            </a:pPr>
            <a:endParaRPr lang="es-ES_tradnl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 algn="just">
              <a:buNone/>
            </a:pPr>
            <a:endParaRPr lang="es-ES_tradnl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 algn="just">
              <a:buNone/>
            </a:pPr>
            <a:r>
              <a:rPr lang="es-ES_tradnl" dirty="0">
                <a:solidFill>
                  <a:schemeClr val="tx2">
                    <a:lumMod val="50000"/>
                  </a:schemeClr>
                </a:solidFill>
              </a:rPr>
              <a:t>	Ejemplo:</a:t>
            </a:r>
          </a:p>
          <a:p>
            <a:pPr marL="457200" indent="-457200" algn="just">
              <a:buNone/>
            </a:pPr>
            <a:endParaRPr lang="es-ES_tradnl" sz="2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algn="just">
              <a:buNone/>
            </a:pPr>
            <a:endParaRPr lang="es-ES_tradnl" sz="2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algn="just">
              <a:buNone/>
            </a:pPr>
            <a:endParaRPr lang="es-ES_tradnl" sz="2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algn="just">
              <a:buNone/>
            </a:pPr>
            <a:endParaRPr lang="es-ES_tradnl" sz="2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algn="just">
              <a:buNone/>
            </a:pPr>
            <a:endParaRPr lang="es-ES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7488" y="1939135"/>
            <a:ext cx="7166914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1504" y="3789040"/>
            <a:ext cx="8929000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68772" y="4865340"/>
            <a:ext cx="6119717" cy="1371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9759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756" name="Rectangle 3175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758" name="Freeform: Shape 3175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755" name="Freeform: Shape 3175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57" name="Rectangle 3175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759" name="Rectangle 3175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457200" indent="-457200">
              <a:buNone/>
            </a:pPr>
            <a:r>
              <a:rPr lang="es-CL" sz="17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1700"/>
              <a:t>Ejemplo:</a:t>
            </a: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r>
              <a:rPr lang="es-ES_tradnl" sz="17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r>
              <a:rPr lang="es-ES_tradnl" sz="17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901184" y="1263035"/>
            <a:ext cx="6922008" cy="44325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35465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5" name="Rectangle 1843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447" name="Freeform: Shape 1844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444" name="Freeform: Shape 1844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46" name="Rectangle 1844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448" name="Rectangle 1844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457200" indent="-457200">
              <a:buNone/>
            </a:pPr>
            <a:r>
              <a:rPr lang="es-CL" sz="14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1400"/>
              <a:t>Ejemplo de los </a:t>
            </a:r>
          </a:p>
          <a:p>
            <a:pPr marL="457200" indent="-457200">
              <a:buNone/>
            </a:pPr>
            <a:r>
              <a:rPr lang="es-ES_tradnl" sz="1400"/>
              <a:t>      sueldos con </a:t>
            </a:r>
          </a:p>
          <a:p>
            <a:pPr marL="457200" indent="-457200">
              <a:buNone/>
            </a:pPr>
            <a:r>
              <a:rPr lang="es-ES_tradnl" sz="1400"/>
              <a:t>      arreglos</a:t>
            </a: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r>
              <a:rPr lang="es-ES_tradnl" sz="14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r>
              <a:rPr lang="es-ES_tradnl" sz="14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_tradnl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endParaRPr lang="es-ES" sz="14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748891" y="841248"/>
            <a:ext cx="5226593" cy="52760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6986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4" name="Rectangle 18439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http://t1.gstatic.com/images?q=tbn:ANd9GcSIEtPDlFxDOO0f3urc8DWvISdEaiIwNypLsg-H4jEwk0ikSWzp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20040" y="430424"/>
            <a:ext cx="4014216" cy="3046687"/>
          </a:xfrm>
          <a:prstGeom prst="rect">
            <a:avLst/>
          </a:prstGeom>
          <a:noFill/>
        </p:spPr>
      </p:pic>
      <p:sp>
        <p:nvSpPr>
          <p:cNvPr id="18445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http://t0.gstatic.com/images?q=tbn:ANd9GcSwcuJzKa_rv2FoY3M8keXPt6iXOzxK9uzoM8_k7ifQCNE812dR9Q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07634" y="4149598"/>
            <a:ext cx="3620740" cy="2098802"/>
          </a:xfrm>
          <a:prstGeom prst="rect">
            <a:avLst/>
          </a:prstGeom>
          <a:noFill/>
        </p:spPr>
      </p:pic>
      <p:sp>
        <p:nvSpPr>
          <p:cNvPr id="18435" name="2 Marcador de contenido"/>
          <p:cNvSpPr>
            <a:spLocks noGrp="1"/>
          </p:cNvSpPr>
          <p:nvPr>
            <p:ph sz="quarter" idx="1"/>
          </p:nvPr>
        </p:nvSpPr>
        <p:spPr>
          <a:xfrm>
            <a:off x="4797494" y="2706624"/>
            <a:ext cx="6755626" cy="3483864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ES_tradnl" sz="17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1700"/>
              <a:t>Arreglos Bidimensionales</a:t>
            </a:r>
          </a:p>
          <a:p>
            <a:pPr marL="457200" indent="-457200">
              <a:buNone/>
            </a:pPr>
            <a:r>
              <a:rPr lang="es-ES_tradnl" sz="1700"/>
              <a:t>	Los arreglos vistos hasta ahora reciben el nombre de arreglos unidimensionales, debido a que cualquier elemento es referenciado por un único índice.</a:t>
            </a:r>
          </a:p>
          <a:p>
            <a:pPr marL="457200" indent="-457200">
              <a:buNone/>
            </a:pPr>
            <a:r>
              <a:rPr lang="es-ES_tradnl" sz="1700"/>
              <a:t>	</a:t>
            </a:r>
          </a:p>
          <a:p>
            <a:pPr marL="457200" indent="-457200">
              <a:buNone/>
            </a:pPr>
            <a:r>
              <a:rPr lang="es-ES_tradnl" sz="1700"/>
              <a:t>	Veamos a continuación el siguiente ejemplo:</a:t>
            </a:r>
          </a:p>
          <a:p>
            <a:pPr marL="457200" indent="-457200">
              <a:buNone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>
              <a:buNone/>
            </a:pPr>
            <a:r>
              <a:rPr lang="es-ES_tradnl" sz="17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pPr marL="1257300" lvl="2" indent="-457200">
              <a:buFont typeface="Courier New" pitchFamily="49" charset="0"/>
              <a:buChar char="o"/>
            </a:pPr>
            <a:endParaRPr lang="es-ES_tradnl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257300" lvl="2" indent="-457200">
              <a:buNone/>
            </a:pPr>
            <a:br>
              <a:rPr lang="es-ES_tradnl" sz="1700" b="1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s-ES_tradnl" sz="17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endParaRPr lang="es-ES" sz="17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277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1" name="Rectangle 215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30936" y="2082168"/>
            <a:ext cx="5458968" cy="2693664"/>
          </a:xfrm>
          <a:prstGeom prst="rect">
            <a:avLst/>
          </a:prstGeom>
          <a:noFill/>
        </p:spPr>
      </p:pic>
      <p:sp>
        <p:nvSpPr>
          <p:cNvPr id="215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457200" indent="-457200">
              <a:buNone/>
            </a:pPr>
            <a:r>
              <a:rPr lang="es-ES_tradnl" sz="19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1900"/>
              <a:t>Un arreglo bidimensional es un conjunto de datos homogéneo, finito y ordenado, donde se hace referencia a cada elemento por medio de dos índices. El primer índice se utiliza para indicar la fila y el segundo la columna.</a:t>
            </a:r>
          </a:p>
          <a:p>
            <a:pPr marL="457200" indent="-457200">
              <a:buNone/>
            </a:pPr>
            <a:r>
              <a:rPr lang="es-ES_tradnl" sz="1900"/>
              <a:t>	Un arreglo A(MxN) tiene M filas y N columnas.</a:t>
            </a:r>
          </a:p>
          <a:p>
            <a:pPr marL="457200" indent="-457200">
              <a:buNone/>
            </a:pPr>
            <a:r>
              <a:rPr lang="es-ES_tradnl" sz="1900"/>
              <a:t>	Ejemplo: sueldos(2x3)</a:t>
            </a:r>
          </a:p>
          <a:p>
            <a:pPr marL="1257300" lvl="2" indent="-457200">
              <a:buNone/>
            </a:pPr>
            <a:br>
              <a:rPr lang="es-ES_tradnl" sz="1900" b="1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s-ES_tradnl" sz="1900" b="1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endParaRPr lang="es-ES" sz="19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542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Ejemplo: Lluvias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443404"/>
              </p:ext>
            </p:extLst>
          </p:nvPr>
        </p:nvGraphicFramePr>
        <p:xfrm>
          <a:off x="1954083" y="2354239"/>
          <a:ext cx="8283836" cy="3948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Meses/Lluvia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Santiago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Viña del Mar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Puerto</a:t>
                      </a:r>
                      <a:r>
                        <a:rPr lang="es-CL" sz="1400" baseline="0"/>
                        <a:t> Montt</a:t>
                      </a:r>
                      <a:endParaRPr lang="es-CL" sz="1400"/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Enero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50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Febrero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60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Marzo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5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6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100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Abril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12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120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Mayo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12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180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Junio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100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110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200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Julio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140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150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220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Agosto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100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110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200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Septiembre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70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80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190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Octubre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50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60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150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Noviembre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5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130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699">
                <a:tc>
                  <a:txBody>
                    <a:bodyPr/>
                    <a:lstStyle/>
                    <a:p>
                      <a:r>
                        <a:rPr lang="es-CL" sz="1400"/>
                        <a:t>Diciembre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0</a:t>
                      </a:r>
                    </a:p>
                  </a:txBody>
                  <a:tcPr marL="69022" marR="69022" marT="34511" marB="34511"/>
                </a:tc>
                <a:tc>
                  <a:txBody>
                    <a:bodyPr/>
                    <a:lstStyle/>
                    <a:p>
                      <a:r>
                        <a:rPr lang="es-CL" sz="1400"/>
                        <a:t>80</a:t>
                      </a:r>
                    </a:p>
                  </a:txBody>
                  <a:tcPr marL="69022" marR="69022" marT="34511" marB="34511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505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s-ES_tradnl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s-ES_tradnl" sz="2000"/>
              <a:t>Declaración de arreglos bidimensionales	</a:t>
            </a:r>
            <a:endParaRPr lang="es-ES" sz="20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880610" y="759260"/>
            <a:ext cx="4737650" cy="53616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5132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Resumen - Conceptos aprendidos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04072" y="538956"/>
            <a:ext cx="550956" cy="749300"/>
          </a:xfrm>
          <a:prstGeom prst="rect">
            <a:avLst/>
          </a:prstGeom>
          <a:noFill/>
        </p:spPr>
      </p:pic>
      <p:sp>
        <p:nvSpPr>
          <p:cNvPr id="5" name="4 Rectángulo redondeado"/>
          <p:cNvSpPr/>
          <p:nvPr/>
        </p:nvSpPr>
        <p:spPr>
          <a:xfrm>
            <a:off x="1009650" y="1847849"/>
            <a:ext cx="9994900" cy="4254501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describió arreglos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aplicó arreglos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668</Words>
  <Application>Microsoft Office PowerPoint</Application>
  <PresentationFormat>Panorámica</PresentationFormat>
  <Paragraphs>144</Paragraphs>
  <Slides>22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2" baseType="lpstr">
      <vt:lpstr>ＭＳ Ｐゴシック</vt:lpstr>
      <vt:lpstr>Aptos</vt:lpstr>
      <vt:lpstr>Aptos Display</vt:lpstr>
      <vt:lpstr>Arial</vt:lpstr>
      <vt:lpstr>Calibri</vt:lpstr>
      <vt:lpstr>Candara</vt:lpstr>
      <vt:lpstr>Courier New</vt:lpstr>
      <vt:lpstr>Verdana</vt:lpstr>
      <vt:lpstr>Wingdings</vt:lpstr>
      <vt:lpstr>Tema de Office</vt:lpstr>
      <vt:lpstr>Presentación de PowerPoint</vt:lpstr>
      <vt:lpstr>Presentación de PowerPoint</vt:lpstr>
      <vt:lpstr>Objetivos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Resumen - Conceptos aprendidos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8</cp:revision>
  <dcterms:created xsi:type="dcterms:W3CDTF">2025-03-03T02:56:02Z</dcterms:created>
  <dcterms:modified xsi:type="dcterms:W3CDTF">2025-04-01T01:25:56Z</dcterms:modified>
</cp:coreProperties>
</file>